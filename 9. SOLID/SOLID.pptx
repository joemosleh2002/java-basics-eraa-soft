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817" r:id="rId1"/>
  </p:sldMasterIdLst>
  <p:notesMasterIdLst>
    <p:notesMasterId r:id="rId83"/>
  </p:notesMasterIdLst>
  <p:sldIdLst>
    <p:sldId id="256" r:id="rId2"/>
    <p:sldId id="257" r:id="rId3"/>
    <p:sldId id="262" r:id="rId4"/>
    <p:sldId id="258" r:id="rId5"/>
    <p:sldId id="259" r:id="rId6"/>
    <p:sldId id="344" r:id="rId7"/>
    <p:sldId id="260" r:id="rId8"/>
    <p:sldId id="263" r:id="rId9"/>
    <p:sldId id="261" r:id="rId10"/>
    <p:sldId id="278" r:id="rId11"/>
    <p:sldId id="279" r:id="rId12"/>
    <p:sldId id="264" r:id="rId13"/>
    <p:sldId id="280" r:id="rId14"/>
    <p:sldId id="286" r:id="rId15"/>
    <p:sldId id="342" r:id="rId16"/>
    <p:sldId id="345" r:id="rId17"/>
    <p:sldId id="265" r:id="rId18"/>
    <p:sldId id="283" r:id="rId19"/>
    <p:sldId id="287" r:id="rId20"/>
    <p:sldId id="281" r:id="rId21"/>
    <p:sldId id="282" r:id="rId22"/>
    <p:sldId id="284" r:id="rId23"/>
    <p:sldId id="266" r:id="rId24"/>
    <p:sldId id="347" r:id="rId25"/>
    <p:sldId id="267" r:id="rId26"/>
    <p:sldId id="268" r:id="rId27"/>
    <p:sldId id="269" r:id="rId28"/>
    <p:sldId id="270" r:id="rId29"/>
    <p:sldId id="346" r:id="rId30"/>
    <p:sldId id="271" r:id="rId31"/>
    <p:sldId id="288" r:id="rId32"/>
    <p:sldId id="289" r:id="rId33"/>
    <p:sldId id="290" r:id="rId34"/>
    <p:sldId id="291" r:id="rId35"/>
    <p:sldId id="298" r:id="rId36"/>
    <p:sldId id="299" r:id="rId37"/>
    <p:sldId id="272" r:id="rId38"/>
    <p:sldId id="273" r:id="rId39"/>
    <p:sldId id="275" r:id="rId40"/>
    <p:sldId id="276" r:id="rId41"/>
    <p:sldId id="277" r:id="rId42"/>
    <p:sldId id="300" r:id="rId43"/>
    <p:sldId id="301" r:id="rId44"/>
    <p:sldId id="302" r:id="rId45"/>
    <p:sldId id="303" r:id="rId46"/>
    <p:sldId id="304" r:id="rId47"/>
    <p:sldId id="307" r:id="rId48"/>
    <p:sldId id="308" r:id="rId49"/>
    <p:sldId id="309" r:id="rId50"/>
    <p:sldId id="310" r:id="rId51"/>
    <p:sldId id="311" r:id="rId52"/>
    <p:sldId id="312" r:id="rId53"/>
    <p:sldId id="313" r:id="rId54"/>
    <p:sldId id="314" r:id="rId55"/>
    <p:sldId id="315" r:id="rId56"/>
    <p:sldId id="316" r:id="rId57"/>
    <p:sldId id="317" r:id="rId58"/>
    <p:sldId id="318" r:id="rId59"/>
    <p:sldId id="319" r:id="rId60"/>
    <p:sldId id="320" r:id="rId61"/>
    <p:sldId id="321" r:id="rId62"/>
    <p:sldId id="327" r:id="rId63"/>
    <p:sldId id="328" r:id="rId64"/>
    <p:sldId id="329" r:id="rId65"/>
    <p:sldId id="330" r:id="rId66"/>
    <p:sldId id="331" r:id="rId67"/>
    <p:sldId id="322" r:id="rId68"/>
    <p:sldId id="334" r:id="rId69"/>
    <p:sldId id="323" r:id="rId70"/>
    <p:sldId id="324" r:id="rId71"/>
    <p:sldId id="332" r:id="rId72"/>
    <p:sldId id="333" r:id="rId73"/>
    <p:sldId id="325" r:id="rId74"/>
    <p:sldId id="343" r:id="rId75"/>
    <p:sldId id="326" r:id="rId76"/>
    <p:sldId id="336" r:id="rId77"/>
    <p:sldId id="337" r:id="rId78"/>
    <p:sldId id="338" r:id="rId79"/>
    <p:sldId id="339" r:id="rId80"/>
    <p:sldId id="340" r:id="rId81"/>
    <p:sldId id="341" r:id="rId82"/>
  </p:sldIdLst>
  <p:sldSz cx="12192000" cy="6858000"/>
  <p:notesSz cx="6858000" cy="9144000"/>
  <p:defaultTextStyle>
    <a:defPPr>
      <a:defRPr lang="ar-EG"/>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1975" autoAdjust="0"/>
    <p:restoredTop sz="94424" autoAdjust="0"/>
  </p:normalViewPr>
  <p:slideViewPr>
    <p:cSldViewPr snapToGrid="0">
      <p:cViewPr varScale="1">
        <p:scale>
          <a:sx n="84" d="100"/>
          <a:sy n="84" d="100"/>
        </p:scale>
        <p:origin x="518"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0.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5.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9.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1.wmf"/></Relationships>
</file>

<file path=ppt/drawings/_rels/vmlDrawing12.vml.rels><?xml version="1.0" encoding="UTF-8" standalone="yes"?>
<Relationships xmlns="http://schemas.openxmlformats.org/package/2006/relationships"><Relationship Id="rId2" Type="http://schemas.openxmlformats.org/officeDocument/2006/relationships/image" Target="../media/image34.wmf"/><Relationship Id="rId1" Type="http://schemas.openxmlformats.org/officeDocument/2006/relationships/image" Target="../media/image33.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37.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39.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41.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43.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45.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47.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49.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51.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53.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55.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57.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59.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61.w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63.w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65.w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67.w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69.w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71.w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73.w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75.w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77.w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79.w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81.wmf"/></Relationships>
</file>

<file path=ppt/drawings/_rels/vmlDrawing36.vml.rels><?xml version="1.0" encoding="UTF-8" standalone="yes"?>
<Relationships xmlns="http://schemas.openxmlformats.org/package/2006/relationships"><Relationship Id="rId1" Type="http://schemas.openxmlformats.org/officeDocument/2006/relationships/image" Target="../media/image83.wmf"/></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85.wmf"/></Relationships>
</file>

<file path=ppt/drawings/_rels/vmlDrawing38.vml.rels><?xml version="1.0" encoding="UTF-8" standalone="yes"?>
<Relationships xmlns="http://schemas.openxmlformats.org/package/2006/relationships"><Relationship Id="rId1" Type="http://schemas.openxmlformats.org/officeDocument/2006/relationships/image" Target="../media/image87.wmf"/></Relationships>
</file>

<file path=ppt/drawings/_rels/vmlDrawing39.vml.rels><?xml version="1.0" encoding="UTF-8" standalone="yes"?>
<Relationships xmlns="http://schemas.openxmlformats.org/package/2006/relationships"><Relationship Id="rId1" Type="http://schemas.openxmlformats.org/officeDocument/2006/relationships/image" Target="../media/image89.wmf"/></Relationships>
</file>

<file path=ppt/drawings/_rels/vmlDrawing40.vml.rels><?xml version="1.0" encoding="UTF-8" standalone="yes"?>
<Relationships xmlns="http://schemas.openxmlformats.org/package/2006/relationships"><Relationship Id="rId1" Type="http://schemas.openxmlformats.org/officeDocument/2006/relationships/image" Target="../media/image91.wmf"/></Relationships>
</file>

<file path=ppt/drawings/_rels/vmlDrawing41.vml.rels><?xml version="1.0" encoding="UTF-8" standalone="yes"?>
<Relationships xmlns="http://schemas.openxmlformats.org/package/2006/relationships"><Relationship Id="rId1" Type="http://schemas.openxmlformats.org/officeDocument/2006/relationships/image" Target="../media/image93.wmf"/></Relationships>
</file>

<file path=ppt/drawings/_rels/vmlDrawing42.vml.rels><?xml version="1.0" encoding="UTF-8" standalone="yes"?>
<Relationships xmlns="http://schemas.openxmlformats.org/package/2006/relationships"><Relationship Id="rId1" Type="http://schemas.openxmlformats.org/officeDocument/2006/relationships/image" Target="../media/image95.wmf"/></Relationships>
</file>

<file path=ppt/drawings/_rels/vmlDrawing43.vml.rels><?xml version="1.0" encoding="UTF-8" standalone="yes"?>
<Relationships xmlns="http://schemas.openxmlformats.org/package/2006/relationships"><Relationship Id="rId1" Type="http://schemas.openxmlformats.org/officeDocument/2006/relationships/image" Target="../media/image97.wmf"/></Relationships>
</file>

<file path=ppt/drawings/_rels/vmlDrawing44.vml.rels><?xml version="1.0" encoding="UTF-8" standalone="yes"?>
<Relationships xmlns="http://schemas.openxmlformats.org/package/2006/relationships"><Relationship Id="rId1" Type="http://schemas.openxmlformats.org/officeDocument/2006/relationships/image" Target="../media/image99.wmf"/></Relationships>
</file>

<file path=ppt/drawings/_rels/vmlDrawing45.vml.rels><?xml version="1.0" encoding="UTF-8" standalone="yes"?>
<Relationships xmlns="http://schemas.openxmlformats.org/package/2006/relationships"><Relationship Id="rId1" Type="http://schemas.openxmlformats.org/officeDocument/2006/relationships/image" Target="../media/image101.wmf"/></Relationships>
</file>

<file path=ppt/drawings/_rels/vmlDrawing46.vml.rels><?xml version="1.0" encoding="UTF-8" standalone="yes"?>
<Relationships xmlns="http://schemas.openxmlformats.org/package/2006/relationships"><Relationship Id="rId1" Type="http://schemas.openxmlformats.org/officeDocument/2006/relationships/image" Target="../media/image103.wmf"/></Relationships>
</file>

<file path=ppt/drawings/_rels/vmlDrawing47.vml.rels><?xml version="1.0" encoding="UTF-8" standalone="yes"?>
<Relationships xmlns="http://schemas.openxmlformats.org/package/2006/relationships"><Relationship Id="rId1" Type="http://schemas.openxmlformats.org/officeDocument/2006/relationships/image" Target="../media/image105.wmf"/></Relationships>
</file>

<file path=ppt/drawings/_rels/vmlDrawing48.vml.rels><?xml version="1.0" encoding="UTF-8" standalone="yes"?>
<Relationships xmlns="http://schemas.openxmlformats.org/package/2006/relationships"><Relationship Id="rId1" Type="http://schemas.openxmlformats.org/officeDocument/2006/relationships/image" Target="../media/image107.wmf"/></Relationships>
</file>

<file path=ppt/drawings/_rels/vmlDrawing49.vml.rels><?xml version="1.0" encoding="UTF-8" standalone="yes"?>
<Relationships xmlns="http://schemas.openxmlformats.org/package/2006/relationships"><Relationship Id="rId1" Type="http://schemas.openxmlformats.org/officeDocument/2006/relationships/image" Target="../media/image109.wmf"/></Relationships>
</file>

<file path=ppt/drawings/_rels/vmlDrawing50.vml.rels><?xml version="1.0" encoding="UTF-8" standalone="yes"?>
<Relationships xmlns="http://schemas.openxmlformats.org/package/2006/relationships"><Relationship Id="rId1" Type="http://schemas.openxmlformats.org/officeDocument/2006/relationships/image" Target="../media/image111.wmf"/></Relationships>
</file>

<file path=ppt/drawings/_rels/vmlDrawing51.vml.rels><?xml version="1.0" encoding="UTF-8" standalone="yes"?>
<Relationships xmlns="http://schemas.openxmlformats.org/package/2006/relationships"><Relationship Id="rId1" Type="http://schemas.openxmlformats.org/officeDocument/2006/relationships/image" Target="../media/image113.wmf"/></Relationships>
</file>

<file path=ppt/drawings/_rels/vmlDrawing52.vml.rels><?xml version="1.0" encoding="UTF-8" standalone="yes"?>
<Relationships xmlns="http://schemas.openxmlformats.org/package/2006/relationships"><Relationship Id="rId1" Type="http://schemas.openxmlformats.org/officeDocument/2006/relationships/image" Target="../media/image115.wmf"/></Relationships>
</file>

<file path=ppt/drawings/_rels/vmlDrawing53.vml.rels><?xml version="1.0" encoding="UTF-8" standalone="yes"?>
<Relationships xmlns="http://schemas.openxmlformats.org/package/2006/relationships"><Relationship Id="rId1" Type="http://schemas.openxmlformats.org/officeDocument/2006/relationships/image" Target="../media/image117.wmf"/></Relationships>
</file>

<file path=ppt/drawings/_rels/vmlDrawing54.vml.rels><?xml version="1.0" encoding="UTF-8" standalone="yes"?>
<Relationships xmlns="http://schemas.openxmlformats.org/package/2006/relationships"><Relationship Id="rId1" Type="http://schemas.openxmlformats.org/officeDocument/2006/relationships/image" Target="../media/image11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3886200" y="0"/>
            <a:ext cx="2971800" cy="458788"/>
          </a:xfrm>
          <a:prstGeom prst="rect">
            <a:avLst/>
          </a:prstGeom>
        </p:spPr>
        <p:txBody>
          <a:bodyPr vert="horz" lIns="91440" tIns="45720" rIns="91440" bIns="45720" rtlCol="1"/>
          <a:lstStyle>
            <a:lvl1pPr algn="r">
              <a:defRPr sz="1200"/>
            </a:lvl1pPr>
          </a:lstStyle>
          <a:p>
            <a:endParaRPr lang="ar-EG"/>
          </a:p>
        </p:txBody>
      </p:sp>
      <p:sp>
        <p:nvSpPr>
          <p:cNvPr id="3" name="Date Placeholder 2"/>
          <p:cNvSpPr>
            <a:spLocks noGrp="1"/>
          </p:cNvSpPr>
          <p:nvPr>
            <p:ph type="dt" idx="1"/>
          </p:nvPr>
        </p:nvSpPr>
        <p:spPr>
          <a:xfrm>
            <a:off x="1588" y="0"/>
            <a:ext cx="2971800" cy="458788"/>
          </a:xfrm>
          <a:prstGeom prst="rect">
            <a:avLst/>
          </a:prstGeom>
        </p:spPr>
        <p:txBody>
          <a:bodyPr vert="horz" lIns="91440" tIns="45720" rIns="91440" bIns="45720" rtlCol="1"/>
          <a:lstStyle>
            <a:lvl1pPr algn="l">
              <a:defRPr sz="1200"/>
            </a:lvl1pPr>
          </a:lstStyle>
          <a:p>
            <a:fld id="{C78FBF8D-AC37-4556-BAB3-CC3BC5A2F028}" type="datetimeFigureOut">
              <a:rPr lang="ar-EG" smtClean="0"/>
              <a:t>07/05/1446</a:t>
            </a:fld>
            <a:endParaRPr lang="ar-E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1" anchor="ctr"/>
          <a:lstStyle/>
          <a:p>
            <a:endParaRPr lang="ar-E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1"/>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ar-EG"/>
          </a:p>
        </p:txBody>
      </p:sp>
      <p:sp>
        <p:nvSpPr>
          <p:cNvPr id="6" name="Footer Placeholder 5"/>
          <p:cNvSpPr>
            <a:spLocks noGrp="1"/>
          </p:cNvSpPr>
          <p:nvPr>
            <p:ph type="ftr" sz="quarter" idx="4"/>
          </p:nvPr>
        </p:nvSpPr>
        <p:spPr>
          <a:xfrm>
            <a:off x="3886200" y="8685213"/>
            <a:ext cx="2971800" cy="458787"/>
          </a:xfrm>
          <a:prstGeom prst="rect">
            <a:avLst/>
          </a:prstGeom>
        </p:spPr>
        <p:txBody>
          <a:bodyPr vert="horz" lIns="91440" tIns="45720" rIns="91440" bIns="45720" rtlCol="1" anchor="b"/>
          <a:lstStyle>
            <a:lvl1pPr algn="r">
              <a:defRPr sz="1200"/>
            </a:lvl1pPr>
          </a:lstStyle>
          <a:p>
            <a:endParaRPr lang="ar-EG"/>
          </a:p>
        </p:txBody>
      </p:sp>
      <p:sp>
        <p:nvSpPr>
          <p:cNvPr id="7" name="Slide Number Placeholder 6"/>
          <p:cNvSpPr>
            <a:spLocks noGrp="1"/>
          </p:cNvSpPr>
          <p:nvPr>
            <p:ph type="sldNum" sz="quarter" idx="5"/>
          </p:nvPr>
        </p:nvSpPr>
        <p:spPr>
          <a:xfrm>
            <a:off x="1588" y="8685213"/>
            <a:ext cx="2971800" cy="458787"/>
          </a:xfrm>
          <a:prstGeom prst="rect">
            <a:avLst/>
          </a:prstGeom>
        </p:spPr>
        <p:txBody>
          <a:bodyPr vert="horz" lIns="91440" tIns="45720" rIns="91440" bIns="45720" rtlCol="1" anchor="b"/>
          <a:lstStyle>
            <a:lvl1pPr algn="l">
              <a:defRPr sz="1200"/>
            </a:lvl1pPr>
          </a:lstStyle>
          <a:p>
            <a:fld id="{02C74FDA-F0EB-43A4-8CAE-64A40A7DEB06}" type="slidenum">
              <a:rPr lang="ar-EG" smtClean="0"/>
              <a:t>‹#›</a:t>
            </a:fld>
            <a:endParaRPr lang="ar-EG"/>
          </a:p>
        </p:txBody>
      </p:sp>
    </p:spTree>
    <p:extLst>
      <p:ext uri="{BB962C8B-B14F-4D97-AF65-F5344CB8AC3E}">
        <p14:creationId xmlns:p14="http://schemas.microsoft.com/office/powerpoint/2010/main" val="1170359591"/>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r-EG" dirty="0"/>
          </a:p>
        </p:txBody>
      </p:sp>
      <p:sp>
        <p:nvSpPr>
          <p:cNvPr id="4" name="Slide Number Placeholder 3"/>
          <p:cNvSpPr>
            <a:spLocks noGrp="1"/>
          </p:cNvSpPr>
          <p:nvPr>
            <p:ph type="sldNum" sz="quarter" idx="10"/>
          </p:nvPr>
        </p:nvSpPr>
        <p:spPr/>
        <p:txBody>
          <a:bodyPr/>
          <a:lstStyle/>
          <a:p>
            <a:fld id="{02C74FDA-F0EB-43A4-8CAE-64A40A7DEB06}" type="slidenum">
              <a:rPr lang="ar-EG" smtClean="0"/>
              <a:t>21</a:t>
            </a:fld>
            <a:endParaRPr lang="ar-EG"/>
          </a:p>
        </p:txBody>
      </p:sp>
    </p:spTree>
    <p:extLst>
      <p:ext uri="{BB962C8B-B14F-4D97-AF65-F5344CB8AC3E}">
        <p14:creationId xmlns:p14="http://schemas.microsoft.com/office/powerpoint/2010/main" val="10676665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r-EG" dirty="0"/>
          </a:p>
        </p:txBody>
      </p:sp>
      <p:sp>
        <p:nvSpPr>
          <p:cNvPr id="4" name="Slide Number Placeholder 3"/>
          <p:cNvSpPr>
            <a:spLocks noGrp="1"/>
          </p:cNvSpPr>
          <p:nvPr>
            <p:ph type="sldNum" sz="quarter" idx="10"/>
          </p:nvPr>
        </p:nvSpPr>
        <p:spPr/>
        <p:txBody>
          <a:bodyPr/>
          <a:lstStyle/>
          <a:p>
            <a:fld id="{02C74FDA-F0EB-43A4-8CAE-64A40A7DEB06}" type="slidenum">
              <a:rPr lang="ar-EG" smtClean="0"/>
              <a:t>37</a:t>
            </a:fld>
            <a:endParaRPr lang="ar-EG"/>
          </a:p>
        </p:txBody>
      </p:sp>
    </p:spTree>
    <p:extLst>
      <p:ext uri="{BB962C8B-B14F-4D97-AF65-F5344CB8AC3E}">
        <p14:creationId xmlns:p14="http://schemas.microsoft.com/office/powerpoint/2010/main" val="5022315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r-EG" dirty="0"/>
          </a:p>
        </p:txBody>
      </p:sp>
      <p:sp>
        <p:nvSpPr>
          <p:cNvPr id="4" name="Slide Number Placeholder 3"/>
          <p:cNvSpPr>
            <a:spLocks noGrp="1"/>
          </p:cNvSpPr>
          <p:nvPr>
            <p:ph type="sldNum" sz="quarter" idx="10"/>
          </p:nvPr>
        </p:nvSpPr>
        <p:spPr/>
        <p:txBody>
          <a:bodyPr/>
          <a:lstStyle/>
          <a:p>
            <a:fld id="{02C74FDA-F0EB-43A4-8CAE-64A40A7DEB06}" type="slidenum">
              <a:rPr lang="ar-EG" smtClean="0"/>
              <a:t>44</a:t>
            </a:fld>
            <a:endParaRPr lang="ar-EG"/>
          </a:p>
        </p:txBody>
      </p:sp>
    </p:spTree>
    <p:extLst>
      <p:ext uri="{BB962C8B-B14F-4D97-AF65-F5344CB8AC3E}">
        <p14:creationId xmlns:p14="http://schemas.microsoft.com/office/powerpoint/2010/main" val="40763324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16CB5186-EAED-4B74-B963-3C8B01C823CA}" type="datetimeFigureOut">
              <a:rPr lang="ar-EG" smtClean="0"/>
              <a:t>07/05/1446</a:t>
            </a:fld>
            <a:endParaRPr lang="ar-EG"/>
          </a:p>
        </p:txBody>
      </p:sp>
      <p:sp>
        <p:nvSpPr>
          <p:cNvPr id="5" name="Footer Placeholder 4"/>
          <p:cNvSpPr>
            <a:spLocks noGrp="1"/>
          </p:cNvSpPr>
          <p:nvPr>
            <p:ph type="ftr" sz="quarter" idx="11"/>
          </p:nvPr>
        </p:nvSpPr>
        <p:spPr/>
        <p:txBody>
          <a:bodyPr/>
          <a:lstStyle/>
          <a:p>
            <a:endParaRPr lang="ar-EG"/>
          </a:p>
        </p:txBody>
      </p:sp>
      <p:sp>
        <p:nvSpPr>
          <p:cNvPr id="6" name="Slide Number Placeholder 5"/>
          <p:cNvSpPr>
            <a:spLocks noGrp="1"/>
          </p:cNvSpPr>
          <p:nvPr>
            <p:ph type="sldNum" sz="quarter" idx="12"/>
          </p:nvPr>
        </p:nvSpPr>
        <p:spPr/>
        <p:txBody>
          <a:bodyPr/>
          <a:lstStyle/>
          <a:p>
            <a:fld id="{0998966E-0395-48B8-8E97-BEC608B23BC9}" type="slidenum">
              <a:rPr lang="ar-EG" smtClean="0"/>
              <a:t>‹#›</a:t>
            </a:fld>
            <a:endParaRPr lang="ar-EG"/>
          </a:p>
        </p:txBody>
      </p:sp>
    </p:spTree>
    <p:extLst>
      <p:ext uri="{BB962C8B-B14F-4D97-AF65-F5344CB8AC3E}">
        <p14:creationId xmlns:p14="http://schemas.microsoft.com/office/powerpoint/2010/main" val="2951713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p>
            <a:fld id="{16CB5186-EAED-4B74-B963-3C8B01C823CA}" type="datetimeFigureOut">
              <a:rPr lang="ar-EG" smtClean="0"/>
              <a:t>07/05/1446</a:t>
            </a:fld>
            <a:endParaRPr lang="ar-EG"/>
          </a:p>
        </p:txBody>
      </p:sp>
      <p:sp>
        <p:nvSpPr>
          <p:cNvPr id="5" name="Footer Placeholder 4"/>
          <p:cNvSpPr>
            <a:spLocks noGrp="1"/>
          </p:cNvSpPr>
          <p:nvPr>
            <p:ph type="ftr" sz="quarter" idx="11"/>
          </p:nvPr>
        </p:nvSpPr>
        <p:spPr/>
        <p:txBody>
          <a:bodyPr/>
          <a:lstStyle/>
          <a:p>
            <a:endParaRPr lang="ar-EG"/>
          </a:p>
        </p:txBody>
      </p:sp>
      <p:sp>
        <p:nvSpPr>
          <p:cNvPr id="6" name="Slide Number Placeholder 5"/>
          <p:cNvSpPr>
            <a:spLocks noGrp="1"/>
          </p:cNvSpPr>
          <p:nvPr>
            <p:ph type="sldNum" sz="quarter" idx="12"/>
          </p:nvPr>
        </p:nvSpPr>
        <p:spPr/>
        <p:txBody>
          <a:bodyPr/>
          <a:lstStyle/>
          <a:p>
            <a:fld id="{0998966E-0395-48B8-8E97-BEC608B23BC9}" type="slidenum">
              <a:rPr lang="ar-EG" smtClean="0"/>
              <a:t>‹#›</a:t>
            </a:fld>
            <a:endParaRPr lang="ar-EG"/>
          </a:p>
        </p:txBody>
      </p:sp>
    </p:spTree>
    <p:extLst>
      <p:ext uri="{BB962C8B-B14F-4D97-AF65-F5344CB8AC3E}">
        <p14:creationId xmlns:p14="http://schemas.microsoft.com/office/powerpoint/2010/main" val="20493117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6CB5186-EAED-4B74-B963-3C8B01C823CA}" type="datetimeFigureOut">
              <a:rPr lang="ar-EG" smtClean="0"/>
              <a:t>07/05/1446</a:t>
            </a:fld>
            <a:endParaRPr lang="ar-EG"/>
          </a:p>
        </p:txBody>
      </p:sp>
      <p:sp>
        <p:nvSpPr>
          <p:cNvPr id="5" name="Footer Placeholder 4"/>
          <p:cNvSpPr>
            <a:spLocks noGrp="1"/>
          </p:cNvSpPr>
          <p:nvPr>
            <p:ph type="ftr" sz="quarter" idx="11"/>
          </p:nvPr>
        </p:nvSpPr>
        <p:spPr/>
        <p:txBody>
          <a:bodyPr/>
          <a:lstStyle/>
          <a:p>
            <a:endParaRPr lang="ar-EG"/>
          </a:p>
        </p:txBody>
      </p:sp>
      <p:sp>
        <p:nvSpPr>
          <p:cNvPr id="6" name="Slide Number Placeholder 5"/>
          <p:cNvSpPr>
            <a:spLocks noGrp="1"/>
          </p:cNvSpPr>
          <p:nvPr>
            <p:ph type="sldNum" sz="quarter" idx="12"/>
          </p:nvPr>
        </p:nvSpPr>
        <p:spPr/>
        <p:txBody>
          <a:bodyPr/>
          <a:lstStyle/>
          <a:p>
            <a:fld id="{0998966E-0395-48B8-8E97-BEC608B23BC9}" type="slidenum">
              <a:rPr lang="ar-EG" smtClean="0"/>
              <a:t>‹#›</a:t>
            </a:fld>
            <a:endParaRPr lang="ar-EG"/>
          </a:p>
        </p:txBody>
      </p:sp>
    </p:spTree>
    <p:extLst>
      <p:ext uri="{BB962C8B-B14F-4D97-AF65-F5344CB8AC3E}">
        <p14:creationId xmlns:p14="http://schemas.microsoft.com/office/powerpoint/2010/main" val="31292689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6CB5186-EAED-4B74-B963-3C8B01C823CA}" type="datetimeFigureOut">
              <a:rPr lang="ar-EG" smtClean="0"/>
              <a:t>07/05/1446</a:t>
            </a:fld>
            <a:endParaRPr lang="ar-EG"/>
          </a:p>
        </p:txBody>
      </p:sp>
      <p:sp>
        <p:nvSpPr>
          <p:cNvPr id="6" name="Footer Placeholder 5"/>
          <p:cNvSpPr>
            <a:spLocks noGrp="1"/>
          </p:cNvSpPr>
          <p:nvPr>
            <p:ph type="ftr" sz="quarter" idx="11"/>
          </p:nvPr>
        </p:nvSpPr>
        <p:spPr/>
        <p:txBody>
          <a:bodyPr/>
          <a:lstStyle/>
          <a:p>
            <a:endParaRPr lang="ar-EG"/>
          </a:p>
        </p:txBody>
      </p:sp>
      <p:sp>
        <p:nvSpPr>
          <p:cNvPr id="7" name="Slide Number Placeholder 6"/>
          <p:cNvSpPr>
            <a:spLocks noGrp="1"/>
          </p:cNvSpPr>
          <p:nvPr>
            <p:ph type="sldNum" sz="quarter" idx="12"/>
          </p:nvPr>
        </p:nvSpPr>
        <p:spPr/>
        <p:txBody>
          <a:bodyPr/>
          <a:lstStyle/>
          <a:p>
            <a:fld id="{0998966E-0395-48B8-8E97-BEC608B23BC9}" type="slidenum">
              <a:rPr lang="ar-EG" smtClean="0"/>
              <a:t>‹#›</a:t>
            </a:fld>
            <a:endParaRPr lang="ar-EG"/>
          </a:p>
        </p:txBody>
      </p:sp>
    </p:spTree>
    <p:extLst>
      <p:ext uri="{BB962C8B-B14F-4D97-AF65-F5344CB8AC3E}">
        <p14:creationId xmlns:p14="http://schemas.microsoft.com/office/powerpoint/2010/main" val="15693147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6CB5186-EAED-4B74-B963-3C8B01C823CA}" type="datetimeFigureOut">
              <a:rPr lang="ar-EG" smtClean="0"/>
              <a:t>07/05/1446</a:t>
            </a:fld>
            <a:endParaRPr lang="ar-EG"/>
          </a:p>
        </p:txBody>
      </p:sp>
      <p:sp>
        <p:nvSpPr>
          <p:cNvPr id="8" name="Footer Placeholder 7"/>
          <p:cNvSpPr>
            <a:spLocks noGrp="1"/>
          </p:cNvSpPr>
          <p:nvPr>
            <p:ph type="ftr" sz="quarter" idx="11"/>
          </p:nvPr>
        </p:nvSpPr>
        <p:spPr/>
        <p:txBody>
          <a:bodyPr/>
          <a:lstStyle/>
          <a:p>
            <a:endParaRPr lang="ar-EG"/>
          </a:p>
        </p:txBody>
      </p:sp>
      <p:sp>
        <p:nvSpPr>
          <p:cNvPr id="9" name="Slide Number Placeholder 8"/>
          <p:cNvSpPr>
            <a:spLocks noGrp="1"/>
          </p:cNvSpPr>
          <p:nvPr>
            <p:ph type="sldNum" sz="quarter" idx="12"/>
          </p:nvPr>
        </p:nvSpPr>
        <p:spPr/>
        <p:txBody>
          <a:bodyPr/>
          <a:lstStyle/>
          <a:p>
            <a:fld id="{0998966E-0395-48B8-8E97-BEC608B23BC9}" type="slidenum">
              <a:rPr lang="ar-EG" smtClean="0"/>
              <a:t>‹#›</a:t>
            </a:fld>
            <a:endParaRPr lang="ar-EG"/>
          </a:p>
        </p:txBody>
      </p:sp>
    </p:spTree>
    <p:extLst>
      <p:ext uri="{BB962C8B-B14F-4D97-AF65-F5344CB8AC3E}">
        <p14:creationId xmlns:p14="http://schemas.microsoft.com/office/powerpoint/2010/main" val="5616092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16CB5186-EAED-4B74-B963-3C8B01C823CA}" type="datetimeFigureOut">
              <a:rPr lang="ar-EG" smtClean="0"/>
              <a:t>07/05/1446</a:t>
            </a:fld>
            <a:endParaRPr lang="ar-EG"/>
          </a:p>
        </p:txBody>
      </p:sp>
      <p:sp>
        <p:nvSpPr>
          <p:cNvPr id="5" name="Footer Placeholder 3"/>
          <p:cNvSpPr>
            <a:spLocks noGrp="1"/>
          </p:cNvSpPr>
          <p:nvPr>
            <p:ph type="ftr" sz="quarter" idx="11"/>
          </p:nvPr>
        </p:nvSpPr>
        <p:spPr/>
        <p:txBody>
          <a:bodyPr/>
          <a:lstStyle/>
          <a:p>
            <a:endParaRPr lang="ar-EG"/>
          </a:p>
        </p:txBody>
      </p:sp>
      <p:sp>
        <p:nvSpPr>
          <p:cNvPr id="6" name="Slide Number Placeholder 4"/>
          <p:cNvSpPr>
            <a:spLocks noGrp="1"/>
          </p:cNvSpPr>
          <p:nvPr>
            <p:ph type="sldNum" sz="quarter" idx="12"/>
          </p:nvPr>
        </p:nvSpPr>
        <p:spPr/>
        <p:txBody>
          <a:bodyPr/>
          <a:lstStyle/>
          <a:p>
            <a:fld id="{0998966E-0395-48B8-8E97-BEC608B23BC9}" type="slidenum">
              <a:rPr lang="ar-EG" smtClean="0"/>
              <a:t>‹#›</a:t>
            </a:fld>
            <a:endParaRPr lang="ar-EG"/>
          </a:p>
        </p:txBody>
      </p:sp>
    </p:spTree>
    <p:extLst>
      <p:ext uri="{BB962C8B-B14F-4D97-AF65-F5344CB8AC3E}">
        <p14:creationId xmlns:p14="http://schemas.microsoft.com/office/powerpoint/2010/main" val="8531389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16CB5186-EAED-4B74-B963-3C8B01C823CA}" type="datetimeFigureOut">
              <a:rPr lang="ar-EG" smtClean="0"/>
              <a:t>07/05/1446</a:t>
            </a:fld>
            <a:endParaRPr lang="ar-EG"/>
          </a:p>
        </p:txBody>
      </p:sp>
      <p:sp>
        <p:nvSpPr>
          <p:cNvPr id="5" name="Footer Placeholder 2"/>
          <p:cNvSpPr>
            <a:spLocks noGrp="1"/>
          </p:cNvSpPr>
          <p:nvPr>
            <p:ph type="ftr" sz="quarter" idx="11"/>
          </p:nvPr>
        </p:nvSpPr>
        <p:spPr/>
        <p:txBody>
          <a:bodyPr/>
          <a:lstStyle/>
          <a:p>
            <a:endParaRPr lang="ar-EG"/>
          </a:p>
        </p:txBody>
      </p:sp>
      <p:sp>
        <p:nvSpPr>
          <p:cNvPr id="6" name="Slide Number Placeholder 3"/>
          <p:cNvSpPr>
            <a:spLocks noGrp="1"/>
          </p:cNvSpPr>
          <p:nvPr>
            <p:ph type="sldNum" sz="quarter" idx="12"/>
          </p:nvPr>
        </p:nvSpPr>
        <p:spPr/>
        <p:txBody>
          <a:bodyPr/>
          <a:lstStyle/>
          <a:p>
            <a:fld id="{0998966E-0395-48B8-8E97-BEC608B23BC9}" type="slidenum">
              <a:rPr lang="ar-EG" smtClean="0"/>
              <a:t>‹#›</a:t>
            </a:fld>
            <a:endParaRPr lang="ar-EG"/>
          </a:p>
        </p:txBody>
      </p:sp>
    </p:spTree>
    <p:extLst>
      <p:ext uri="{BB962C8B-B14F-4D97-AF65-F5344CB8AC3E}">
        <p14:creationId xmlns:p14="http://schemas.microsoft.com/office/powerpoint/2010/main" val="34874753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7" name="Date Placeholder 4"/>
          <p:cNvSpPr>
            <a:spLocks noGrp="1"/>
          </p:cNvSpPr>
          <p:nvPr>
            <p:ph type="dt" sz="half" idx="10"/>
          </p:nvPr>
        </p:nvSpPr>
        <p:spPr/>
        <p:txBody>
          <a:bodyPr/>
          <a:lstStyle/>
          <a:p>
            <a:fld id="{16CB5186-EAED-4B74-B963-3C8B01C823CA}" type="datetimeFigureOut">
              <a:rPr lang="ar-EG" smtClean="0"/>
              <a:t>07/05/1446</a:t>
            </a:fld>
            <a:endParaRPr lang="ar-EG"/>
          </a:p>
        </p:txBody>
      </p:sp>
      <p:sp>
        <p:nvSpPr>
          <p:cNvPr id="5" name="Footer Placeholder 5"/>
          <p:cNvSpPr>
            <a:spLocks noGrp="1"/>
          </p:cNvSpPr>
          <p:nvPr>
            <p:ph type="ftr" sz="quarter" idx="11"/>
          </p:nvPr>
        </p:nvSpPr>
        <p:spPr/>
        <p:txBody>
          <a:bodyPr/>
          <a:lstStyle/>
          <a:p>
            <a:endParaRPr lang="ar-EG"/>
          </a:p>
        </p:txBody>
      </p:sp>
      <p:sp>
        <p:nvSpPr>
          <p:cNvPr id="6" name="Slide Number Placeholder 6"/>
          <p:cNvSpPr>
            <a:spLocks noGrp="1"/>
          </p:cNvSpPr>
          <p:nvPr>
            <p:ph type="sldNum" sz="quarter" idx="12"/>
          </p:nvPr>
        </p:nvSpPr>
        <p:spPr/>
        <p:txBody>
          <a:bodyPr/>
          <a:lstStyle/>
          <a:p>
            <a:fld id="{0998966E-0395-48B8-8E97-BEC608B23BC9}" type="slidenum">
              <a:rPr lang="ar-EG" smtClean="0"/>
              <a:t>‹#›</a:t>
            </a:fld>
            <a:endParaRPr lang="ar-EG"/>
          </a:p>
        </p:txBody>
      </p:sp>
    </p:spTree>
    <p:extLst>
      <p:ext uri="{BB962C8B-B14F-4D97-AF65-F5344CB8AC3E}">
        <p14:creationId xmlns:p14="http://schemas.microsoft.com/office/powerpoint/2010/main" val="41557449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6CB5186-EAED-4B74-B963-3C8B01C823CA}" type="datetimeFigureOut">
              <a:rPr lang="ar-EG" smtClean="0"/>
              <a:t>07/05/1446</a:t>
            </a:fld>
            <a:endParaRPr lang="ar-EG"/>
          </a:p>
        </p:txBody>
      </p:sp>
      <p:sp>
        <p:nvSpPr>
          <p:cNvPr id="6" name="Footer Placeholder 5"/>
          <p:cNvSpPr>
            <a:spLocks noGrp="1"/>
          </p:cNvSpPr>
          <p:nvPr>
            <p:ph type="ftr" sz="quarter" idx="11"/>
          </p:nvPr>
        </p:nvSpPr>
        <p:spPr/>
        <p:txBody>
          <a:bodyPr/>
          <a:lstStyle/>
          <a:p>
            <a:endParaRPr lang="ar-EG"/>
          </a:p>
        </p:txBody>
      </p:sp>
      <p:sp>
        <p:nvSpPr>
          <p:cNvPr id="7" name="Slide Number Placeholder 6"/>
          <p:cNvSpPr>
            <a:spLocks noGrp="1"/>
          </p:cNvSpPr>
          <p:nvPr>
            <p:ph type="sldNum" sz="quarter" idx="12"/>
          </p:nvPr>
        </p:nvSpPr>
        <p:spPr/>
        <p:txBody>
          <a:bodyPr/>
          <a:lstStyle/>
          <a:p>
            <a:fld id="{0998966E-0395-48B8-8E97-BEC608B23BC9}" type="slidenum">
              <a:rPr lang="ar-EG" smtClean="0"/>
              <a:t>‹#›</a:t>
            </a:fld>
            <a:endParaRPr lang="ar-EG"/>
          </a:p>
        </p:txBody>
      </p:sp>
    </p:spTree>
    <p:extLst>
      <p:ext uri="{BB962C8B-B14F-4D97-AF65-F5344CB8AC3E}">
        <p14:creationId xmlns:p14="http://schemas.microsoft.com/office/powerpoint/2010/main" val="20127183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6CB5186-EAED-4B74-B963-3C8B01C823CA}" type="datetimeFigureOut">
              <a:rPr lang="ar-EG" smtClean="0"/>
              <a:t>07/05/1446</a:t>
            </a:fld>
            <a:endParaRPr lang="ar-EG"/>
          </a:p>
        </p:txBody>
      </p:sp>
      <p:sp>
        <p:nvSpPr>
          <p:cNvPr id="6" name="Footer Placeholder 5"/>
          <p:cNvSpPr>
            <a:spLocks noGrp="1"/>
          </p:cNvSpPr>
          <p:nvPr>
            <p:ph type="ftr" sz="quarter" idx="11"/>
          </p:nvPr>
        </p:nvSpPr>
        <p:spPr/>
        <p:txBody>
          <a:bodyPr/>
          <a:lstStyle/>
          <a:p>
            <a:endParaRPr lang="ar-EG"/>
          </a:p>
        </p:txBody>
      </p:sp>
      <p:sp>
        <p:nvSpPr>
          <p:cNvPr id="7" name="Slide Number Placeholder 6"/>
          <p:cNvSpPr>
            <a:spLocks noGrp="1"/>
          </p:cNvSpPr>
          <p:nvPr>
            <p:ph type="sldNum" sz="quarter" idx="12"/>
          </p:nvPr>
        </p:nvSpPr>
        <p:spPr/>
        <p:txBody>
          <a:bodyPr/>
          <a:lstStyle/>
          <a:p>
            <a:fld id="{0998966E-0395-48B8-8E97-BEC608B23BC9}" type="slidenum">
              <a:rPr lang="ar-EG" smtClean="0"/>
              <a:t>‹#›</a:t>
            </a:fld>
            <a:endParaRPr lang="ar-EG"/>
          </a:p>
        </p:txBody>
      </p:sp>
    </p:spTree>
    <p:extLst>
      <p:ext uri="{BB962C8B-B14F-4D97-AF65-F5344CB8AC3E}">
        <p14:creationId xmlns:p14="http://schemas.microsoft.com/office/powerpoint/2010/main" val="33591618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6CB5186-EAED-4B74-B963-3C8B01C823CA}" type="datetimeFigureOut">
              <a:rPr lang="ar-EG" smtClean="0"/>
              <a:t>07/05/1446</a:t>
            </a:fld>
            <a:endParaRPr lang="ar-EG"/>
          </a:p>
        </p:txBody>
      </p:sp>
      <p:sp>
        <p:nvSpPr>
          <p:cNvPr id="5" name="Footer Placeholder 4"/>
          <p:cNvSpPr>
            <a:spLocks noGrp="1"/>
          </p:cNvSpPr>
          <p:nvPr>
            <p:ph type="ftr" sz="quarter" idx="11"/>
          </p:nvPr>
        </p:nvSpPr>
        <p:spPr/>
        <p:txBody>
          <a:bodyPr/>
          <a:lstStyle/>
          <a:p>
            <a:endParaRPr lang="ar-EG"/>
          </a:p>
        </p:txBody>
      </p:sp>
      <p:sp>
        <p:nvSpPr>
          <p:cNvPr id="6" name="Slide Number Placeholder 5"/>
          <p:cNvSpPr>
            <a:spLocks noGrp="1"/>
          </p:cNvSpPr>
          <p:nvPr>
            <p:ph type="sldNum" sz="quarter" idx="12"/>
          </p:nvPr>
        </p:nvSpPr>
        <p:spPr/>
        <p:txBody>
          <a:bodyPr/>
          <a:lstStyle/>
          <a:p>
            <a:fld id="{0998966E-0395-48B8-8E97-BEC608B23BC9}" type="slidenum">
              <a:rPr lang="ar-EG" smtClean="0"/>
              <a:t>‹#›</a:t>
            </a:fld>
            <a:endParaRPr lang="ar-EG"/>
          </a:p>
        </p:txBody>
      </p:sp>
    </p:spTree>
    <p:extLst>
      <p:ext uri="{BB962C8B-B14F-4D97-AF65-F5344CB8AC3E}">
        <p14:creationId xmlns:p14="http://schemas.microsoft.com/office/powerpoint/2010/main" val="5923931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smtClean="0"/>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smtClean="0"/>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6CB5186-EAED-4B74-B963-3C8B01C823CA}" type="datetimeFigureOut">
              <a:rPr lang="ar-EG" smtClean="0"/>
              <a:t>07/05/1446</a:t>
            </a:fld>
            <a:endParaRPr lang="ar-EG"/>
          </a:p>
        </p:txBody>
      </p:sp>
      <p:sp>
        <p:nvSpPr>
          <p:cNvPr id="5" name="Footer Placeholder 4"/>
          <p:cNvSpPr>
            <a:spLocks noGrp="1"/>
          </p:cNvSpPr>
          <p:nvPr>
            <p:ph type="ftr" sz="quarter" idx="11"/>
          </p:nvPr>
        </p:nvSpPr>
        <p:spPr/>
        <p:txBody>
          <a:bodyPr/>
          <a:lstStyle/>
          <a:p>
            <a:endParaRPr lang="ar-EG"/>
          </a:p>
        </p:txBody>
      </p:sp>
      <p:sp>
        <p:nvSpPr>
          <p:cNvPr id="6" name="Slide Number Placeholder 5"/>
          <p:cNvSpPr>
            <a:spLocks noGrp="1"/>
          </p:cNvSpPr>
          <p:nvPr>
            <p:ph type="sldNum" sz="quarter" idx="12"/>
          </p:nvPr>
        </p:nvSpPr>
        <p:spPr/>
        <p:txBody>
          <a:bodyPr/>
          <a:lstStyle/>
          <a:p>
            <a:fld id="{0998966E-0395-48B8-8E97-BEC608B23BC9}" type="slidenum">
              <a:rPr lang="ar-EG" smtClean="0"/>
              <a:t>‹#›</a:t>
            </a:fld>
            <a:endParaRPr lang="ar-EG"/>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86576776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6CB5186-EAED-4B74-B963-3C8B01C823CA}" type="datetimeFigureOut">
              <a:rPr lang="ar-EG" smtClean="0"/>
              <a:t>07/05/1446</a:t>
            </a:fld>
            <a:endParaRPr lang="ar-EG"/>
          </a:p>
        </p:txBody>
      </p:sp>
      <p:sp>
        <p:nvSpPr>
          <p:cNvPr id="5" name="Footer Placeholder 4"/>
          <p:cNvSpPr>
            <a:spLocks noGrp="1"/>
          </p:cNvSpPr>
          <p:nvPr>
            <p:ph type="ftr" sz="quarter" idx="11"/>
          </p:nvPr>
        </p:nvSpPr>
        <p:spPr/>
        <p:txBody>
          <a:bodyPr/>
          <a:lstStyle/>
          <a:p>
            <a:endParaRPr lang="ar-EG"/>
          </a:p>
        </p:txBody>
      </p:sp>
      <p:sp>
        <p:nvSpPr>
          <p:cNvPr id="6" name="Slide Number Placeholder 5"/>
          <p:cNvSpPr>
            <a:spLocks noGrp="1"/>
          </p:cNvSpPr>
          <p:nvPr>
            <p:ph type="sldNum" sz="quarter" idx="12"/>
          </p:nvPr>
        </p:nvSpPr>
        <p:spPr/>
        <p:txBody>
          <a:bodyPr/>
          <a:lstStyle/>
          <a:p>
            <a:fld id="{0998966E-0395-48B8-8E97-BEC608B23BC9}" type="slidenum">
              <a:rPr lang="ar-EG" smtClean="0"/>
              <a:t>‹#›</a:t>
            </a:fld>
            <a:endParaRPr lang="ar-EG"/>
          </a:p>
        </p:txBody>
      </p:sp>
    </p:spTree>
    <p:extLst>
      <p:ext uri="{BB962C8B-B14F-4D97-AF65-F5344CB8AC3E}">
        <p14:creationId xmlns:p14="http://schemas.microsoft.com/office/powerpoint/2010/main" val="45000622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6CB5186-EAED-4B74-B963-3C8B01C823CA}" type="datetimeFigureOut">
              <a:rPr lang="ar-EG" smtClean="0"/>
              <a:t>07/05/1446</a:t>
            </a:fld>
            <a:endParaRPr lang="ar-EG"/>
          </a:p>
        </p:txBody>
      </p:sp>
      <p:sp>
        <p:nvSpPr>
          <p:cNvPr id="4" name="Footer Placeholder 4"/>
          <p:cNvSpPr>
            <a:spLocks noGrp="1"/>
          </p:cNvSpPr>
          <p:nvPr>
            <p:ph type="ftr" sz="quarter" idx="11"/>
          </p:nvPr>
        </p:nvSpPr>
        <p:spPr/>
        <p:txBody>
          <a:bodyPr/>
          <a:lstStyle/>
          <a:p>
            <a:endParaRPr lang="ar-EG"/>
          </a:p>
        </p:txBody>
      </p:sp>
      <p:sp>
        <p:nvSpPr>
          <p:cNvPr id="6" name="Slide Number Placeholder 5"/>
          <p:cNvSpPr>
            <a:spLocks noGrp="1"/>
          </p:cNvSpPr>
          <p:nvPr>
            <p:ph type="sldNum" sz="quarter" idx="12"/>
          </p:nvPr>
        </p:nvSpPr>
        <p:spPr/>
        <p:txBody>
          <a:bodyPr/>
          <a:lstStyle/>
          <a:p>
            <a:fld id="{0998966E-0395-48B8-8E97-BEC608B23BC9}" type="slidenum">
              <a:rPr lang="ar-EG" smtClean="0"/>
              <a:t>‹#›</a:t>
            </a:fld>
            <a:endParaRPr lang="ar-EG"/>
          </a:p>
        </p:txBody>
      </p:sp>
    </p:spTree>
    <p:extLst>
      <p:ext uri="{BB962C8B-B14F-4D97-AF65-F5344CB8AC3E}">
        <p14:creationId xmlns:p14="http://schemas.microsoft.com/office/powerpoint/2010/main" val="38143009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6CB5186-EAED-4B74-B963-3C8B01C823CA}" type="datetimeFigureOut">
              <a:rPr lang="ar-EG" smtClean="0"/>
              <a:t>07/05/1446</a:t>
            </a:fld>
            <a:endParaRPr lang="ar-EG"/>
          </a:p>
        </p:txBody>
      </p:sp>
      <p:sp>
        <p:nvSpPr>
          <p:cNvPr id="4" name="Footer Placeholder 4"/>
          <p:cNvSpPr>
            <a:spLocks noGrp="1"/>
          </p:cNvSpPr>
          <p:nvPr>
            <p:ph type="ftr" sz="quarter" idx="11"/>
          </p:nvPr>
        </p:nvSpPr>
        <p:spPr/>
        <p:txBody>
          <a:bodyPr/>
          <a:lstStyle/>
          <a:p>
            <a:endParaRPr lang="ar-EG"/>
          </a:p>
        </p:txBody>
      </p:sp>
      <p:sp>
        <p:nvSpPr>
          <p:cNvPr id="6" name="Slide Number Placeholder 5"/>
          <p:cNvSpPr>
            <a:spLocks noGrp="1"/>
          </p:cNvSpPr>
          <p:nvPr>
            <p:ph type="sldNum" sz="quarter" idx="12"/>
          </p:nvPr>
        </p:nvSpPr>
        <p:spPr/>
        <p:txBody>
          <a:bodyPr/>
          <a:lstStyle/>
          <a:p>
            <a:fld id="{0998966E-0395-48B8-8E97-BEC608B23BC9}" type="slidenum">
              <a:rPr lang="ar-EG" smtClean="0"/>
              <a:t>‹#›</a:t>
            </a:fld>
            <a:endParaRPr lang="ar-EG"/>
          </a:p>
        </p:txBody>
      </p:sp>
    </p:spTree>
    <p:extLst>
      <p:ext uri="{BB962C8B-B14F-4D97-AF65-F5344CB8AC3E}">
        <p14:creationId xmlns:p14="http://schemas.microsoft.com/office/powerpoint/2010/main" val="3878884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6CB5186-EAED-4B74-B963-3C8B01C823CA}" type="datetimeFigureOut">
              <a:rPr lang="ar-EG" smtClean="0"/>
              <a:t>07/05/1446</a:t>
            </a:fld>
            <a:endParaRPr lang="ar-EG"/>
          </a:p>
        </p:txBody>
      </p:sp>
      <p:sp>
        <p:nvSpPr>
          <p:cNvPr id="5" name="Footer Placeholder 4"/>
          <p:cNvSpPr>
            <a:spLocks noGrp="1"/>
          </p:cNvSpPr>
          <p:nvPr>
            <p:ph type="ftr" sz="quarter" idx="11"/>
          </p:nvPr>
        </p:nvSpPr>
        <p:spPr/>
        <p:txBody>
          <a:bodyPr/>
          <a:lstStyle/>
          <a:p>
            <a:endParaRPr lang="ar-EG"/>
          </a:p>
        </p:txBody>
      </p:sp>
      <p:sp>
        <p:nvSpPr>
          <p:cNvPr id="6" name="Slide Number Placeholder 5"/>
          <p:cNvSpPr>
            <a:spLocks noGrp="1"/>
          </p:cNvSpPr>
          <p:nvPr>
            <p:ph type="sldNum" sz="quarter" idx="12"/>
          </p:nvPr>
        </p:nvSpPr>
        <p:spPr/>
        <p:txBody>
          <a:bodyPr/>
          <a:lstStyle/>
          <a:p>
            <a:fld id="{0998966E-0395-48B8-8E97-BEC608B23BC9}" type="slidenum">
              <a:rPr lang="ar-EG" smtClean="0"/>
              <a:t>‹#›</a:t>
            </a:fld>
            <a:endParaRPr lang="ar-EG"/>
          </a:p>
        </p:txBody>
      </p:sp>
    </p:spTree>
    <p:extLst>
      <p:ext uri="{BB962C8B-B14F-4D97-AF65-F5344CB8AC3E}">
        <p14:creationId xmlns:p14="http://schemas.microsoft.com/office/powerpoint/2010/main" val="230617738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6CB5186-EAED-4B74-B963-3C8B01C823CA}" type="datetimeFigureOut">
              <a:rPr lang="ar-EG" smtClean="0"/>
              <a:t>07/05/1446</a:t>
            </a:fld>
            <a:endParaRPr lang="ar-EG"/>
          </a:p>
        </p:txBody>
      </p:sp>
      <p:sp>
        <p:nvSpPr>
          <p:cNvPr id="5" name="Footer Placeholder 4"/>
          <p:cNvSpPr>
            <a:spLocks noGrp="1"/>
          </p:cNvSpPr>
          <p:nvPr>
            <p:ph type="ftr" sz="quarter" idx="11"/>
          </p:nvPr>
        </p:nvSpPr>
        <p:spPr/>
        <p:txBody>
          <a:bodyPr/>
          <a:lstStyle/>
          <a:p>
            <a:endParaRPr lang="ar-EG"/>
          </a:p>
        </p:txBody>
      </p:sp>
      <p:sp>
        <p:nvSpPr>
          <p:cNvPr id="6" name="Slide Number Placeholder 5"/>
          <p:cNvSpPr>
            <a:spLocks noGrp="1"/>
          </p:cNvSpPr>
          <p:nvPr>
            <p:ph type="sldNum" sz="quarter" idx="12"/>
          </p:nvPr>
        </p:nvSpPr>
        <p:spPr/>
        <p:txBody>
          <a:bodyPr/>
          <a:lstStyle/>
          <a:p>
            <a:fld id="{0998966E-0395-48B8-8E97-BEC608B23BC9}" type="slidenum">
              <a:rPr lang="ar-EG" smtClean="0"/>
              <a:t>‹#›</a:t>
            </a:fld>
            <a:endParaRPr lang="ar-EG"/>
          </a:p>
        </p:txBody>
      </p:sp>
    </p:spTree>
    <p:extLst>
      <p:ext uri="{BB962C8B-B14F-4D97-AF65-F5344CB8AC3E}">
        <p14:creationId xmlns:p14="http://schemas.microsoft.com/office/powerpoint/2010/main" val="34621587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16CB5186-EAED-4B74-B963-3C8B01C823CA}" type="datetimeFigureOut">
              <a:rPr lang="ar-EG" smtClean="0"/>
              <a:t>07/05/1446</a:t>
            </a:fld>
            <a:endParaRPr lang="ar-EG"/>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ar-EG"/>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0998966E-0395-48B8-8E97-BEC608B23BC9}" type="slidenum">
              <a:rPr lang="ar-EG" smtClean="0"/>
              <a:t>‹#›</a:t>
            </a:fld>
            <a:endParaRPr lang="ar-EG"/>
          </a:p>
        </p:txBody>
      </p:sp>
    </p:spTree>
    <p:extLst>
      <p:ext uri="{BB962C8B-B14F-4D97-AF65-F5344CB8AC3E}">
        <p14:creationId xmlns:p14="http://schemas.microsoft.com/office/powerpoint/2010/main" val="3870068798"/>
      </p:ext>
    </p:extLst>
  </p:cSld>
  <p:clrMap bg1="dk1" tx1="lt1" bg2="dk2" tx2="lt2" accent1="accent1" accent2="accent2" accent3="accent3" accent4="accent4" accent5="accent5" accent6="accent6" hlink="hlink" folHlink="folHlink"/>
  <p:sldLayoutIdLst>
    <p:sldLayoutId id="2147483818" r:id="rId1"/>
    <p:sldLayoutId id="2147483819" r:id="rId2"/>
    <p:sldLayoutId id="2147483820" r:id="rId3"/>
    <p:sldLayoutId id="2147483821" r:id="rId4"/>
    <p:sldLayoutId id="2147483822" r:id="rId5"/>
    <p:sldLayoutId id="2147483823" r:id="rId6"/>
    <p:sldLayoutId id="2147483824" r:id="rId7"/>
    <p:sldLayoutId id="2147483825" r:id="rId8"/>
    <p:sldLayoutId id="2147483826" r:id="rId9"/>
    <p:sldLayoutId id="2147483827" r:id="rId10"/>
    <p:sldLayoutId id="2147483828" r:id="rId11"/>
    <p:sldLayoutId id="2147483829" r:id="rId12"/>
    <p:sldLayoutId id="2147483830" r:id="rId13"/>
    <p:sldLayoutId id="2147483831" r:id="rId14"/>
    <p:sldLayoutId id="2147483832" r:id="rId15"/>
    <p:sldLayoutId id="2147483833" r:id="rId16"/>
    <p:sldLayoutId id="2147483834" r:id="rId17"/>
  </p:sldLayoutIdLst>
  <p:txStyles>
    <p:titleStyle>
      <a:lvl1pPr algn="l" defTabSz="457200" rtl="1" eaLnBrk="1" latinLnBrk="0" hangingPunct="1">
        <a:spcBef>
          <a:spcPct val="0"/>
        </a:spcBef>
        <a:buNone/>
        <a:defRPr sz="4200" b="0" i="0" kern="1200">
          <a:solidFill>
            <a:schemeClr val="tx2"/>
          </a:solidFill>
          <a:latin typeface="+mj-lt"/>
          <a:ea typeface="+mj-ea"/>
          <a:cs typeface="+mj-cs"/>
        </a:defRPr>
      </a:lvl1pPr>
      <a:lvl2pPr rtl="1" eaLnBrk="1" hangingPunct="1">
        <a:defRPr>
          <a:solidFill>
            <a:schemeClr val="tx2"/>
          </a:solidFill>
        </a:defRPr>
      </a:lvl2pPr>
      <a:lvl3pPr rtl="1" eaLnBrk="1" hangingPunct="1">
        <a:defRPr>
          <a:solidFill>
            <a:schemeClr val="tx2"/>
          </a:solidFill>
        </a:defRPr>
      </a:lvl3pPr>
      <a:lvl4pPr rtl="1" eaLnBrk="1" hangingPunct="1">
        <a:defRPr>
          <a:solidFill>
            <a:schemeClr val="tx2"/>
          </a:solidFill>
        </a:defRPr>
      </a:lvl4pPr>
      <a:lvl5pPr rtl="1" eaLnBrk="1" hangingPunct="1">
        <a:defRPr>
          <a:solidFill>
            <a:schemeClr val="tx2"/>
          </a:solidFill>
        </a:defRPr>
      </a:lvl5pPr>
      <a:lvl6pPr rtl="1" eaLnBrk="1" hangingPunct="1">
        <a:defRPr>
          <a:solidFill>
            <a:schemeClr val="tx2"/>
          </a:solidFill>
        </a:defRPr>
      </a:lvl6pPr>
      <a:lvl7pPr rtl="1" eaLnBrk="1" hangingPunct="1">
        <a:defRPr>
          <a:solidFill>
            <a:schemeClr val="tx2"/>
          </a:solidFill>
        </a:defRPr>
      </a:lvl7pPr>
      <a:lvl8pPr rtl="1" eaLnBrk="1" hangingPunct="1">
        <a:defRPr>
          <a:solidFill>
            <a:schemeClr val="tx2"/>
          </a:solidFill>
        </a:defRPr>
      </a:lvl8pPr>
      <a:lvl9pPr rtl="1" eaLnBrk="1" hangingPunct="1">
        <a:defRPr>
          <a:solidFill>
            <a:schemeClr val="tx2"/>
          </a:solidFill>
        </a:defRPr>
      </a:lvl9pPr>
    </p:titleStyle>
    <p:bodyStyle>
      <a:lvl1pPr marL="342900" indent="-342900" algn="r" defTabSz="457200" rtl="1"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r" defTabSz="457200" rtl="1"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r" defTabSz="457200" rtl="1"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r" defTabSz="457200" rtl="1"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r" defTabSz="457200" rtl="1"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r" defTabSz="457200" rtl="1"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r" defTabSz="457200" rtl="1"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r" defTabSz="457200" rtl="1"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r" defTabSz="457200" rtl="1"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r" defTabSz="457200" rtl="1" eaLnBrk="1" latinLnBrk="0" hangingPunct="1">
        <a:defRPr sz="1800" kern="1200">
          <a:solidFill>
            <a:schemeClr val="tx1"/>
          </a:solidFill>
          <a:latin typeface="+mn-lt"/>
          <a:ea typeface="+mn-ea"/>
          <a:cs typeface="+mn-cs"/>
        </a:defRPr>
      </a:lvl1pPr>
      <a:lvl2pPr marL="457200" algn="r" defTabSz="457200" rtl="1" eaLnBrk="1" latinLnBrk="0" hangingPunct="1">
        <a:defRPr sz="1800" kern="1200">
          <a:solidFill>
            <a:schemeClr val="tx1"/>
          </a:solidFill>
          <a:latin typeface="+mn-lt"/>
          <a:ea typeface="+mn-ea"/>
          <a:cs typeface="+mn-cs"/>
        </a:defRPr>
      </a:lvl2pPr>
      <a:lvl3pPr marL="914400" algn="r" defTabSz="457200" rtl="1" eaLnBrk="1" latinLnBrk="0" hangingPunct="1">
        <a:defRPr sz="1800" kern="1200">
          <a:solidFill>
            <a:schemeClr val="tx1"/>
          </a:solidFill>
          <a:latin typeface="+mn-lt"/>
          <a:ea typeface="+mn-ea"/>
          <a:cs typeface="+mn-cs"/>
        </a:defRPr>
      </a:lvl3pPr>
      <a:lvl4pPr marL="1371600" algn="r" defTabSz="457200" rtl="1" eaLnBrk="1" latinLnBrk="0" hangingPunct="1">
        <a:defRPr sz="1800" kern="1200">
          <a:solidFill>
            <a:schemeClr val="tx1"/>
          </a:solidFill>
          <a:latin typeface="+mn-lt"/>
          <a:ea typeface="+mn-ea"/>
          <a:cs typeface="+mn-cs"/>
        </a:defRPr>
      </a:lvl4pPr>
      <a:lvl5pPr marL="1828800" algn="r" defTabSz="457200" rtl="1" eaLnBrk="1" latinLnBrk="0" hangingPunct="1">
        <a:defRPr sz="1800" kern="1200">
          <a:solidFill>
            <a:schemeClr val="tx1"/>
          </a:solidFill>
          <a:latin typeface="+mn-lt"/>
          <a:ea typeface="+mn-ea"/>
          <a:cs typeface="+mn-cs"/>
        </a:defRPr>
      </a:lvl5pPr>
      <a:lvl6pPr marL="2286000" algn="r" defTabSz="457200" rtl="1" eaLnBrk="1" latinLnBrk="0" hangingPunct="1">
        <a:defRPr sz="1800" kern="1200">
          <a:solidFill>
            <a:schemeClr val="tx1"/>
          </a:solidFill>
          <a:latin typeface="+mn-lt"/>
          <a:ea typeface="+mn-ea"/>
          <a:cs typeface="+mn-cs"/>
        </a:defRPr>
      </a:lvl6pPr>
      <a:lvl7pPr marL="2743200" algn="r" defTabSz="457200" rtl="1" eaLnBrk="1" latinLnBrk="0" hangingPunct="1">
        <a:defRPr sz="1800" kern="1200">
          <a:solidFill>
            <a:schemeClr val="tx1"/>
          </a:solidFill>
          <a:latin typeface="+mn-lt"/>
          <a:ea typeface="+mn-ea"/>
          <a:cs typeface="+mn-cs"/>
        </a:defRPr>
      </a:lvl7pPr>
      <a:lvl8pPr marL="3200400" algn="r" defTabSz="457200" rtl="1" eaLnBrk="1" latinLnBrk="0" hangingPunct="1">
        <a:defRPr sz="1800" kern="1200">
          <a:solidFill>
            <a:schemeClr val="tx1"/>
          </a:solidFill>
          <a:latin typeface="+mn-lt"/>
          <a:ea typeface="+mn-ea"/>
          <a:cs typeface="+mn-cs"/>
        </a:defRPr>
      </a:lvl8pPr>
      <a:lvl9pPr marL="3657600" algn="r" defTabSz="4572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hyperlink" Target="https://www.geeksforgeeks.org/sql-create" TargetMode="External"/><Relationship Id="rId7" Type="http://schemas.openxmlformats.org/officeDocument/2006/relationships/hyperlink" Target="https://www.geeksforgeeks.org/sql-alter-rename" TargetMode="External"/><Relationship Id="rId2" Type="http://schemas.openxmlformats.org/officeDocument/2006/relationships/image" Target="../media/image6.jpeg"/><Relationship Id="rId1" Type="http://schemas.openxmlformats.org/officeDocument/2006/relationships/slideLayout" Target="../slideLayouts/slideLayout1.xml"/><Relationship Id="rId6" Type="http://schemas.openxmlformats.org/officeDocument/2006/relationships/hyperlink" Target="https://www.geeksforgeeks.org/sql-comments" TargetMode="External"/><Relationship Id="rId5" Type="http://schemas.openxmlformats.org/officeDocument/2006/relationships/hyperlink" Target="https://www.geeksforgeeks.org/sql-alter-add-drop-modify" TargetMode="External"/><Relationship Id="rId4" Type="http://schemas.openxmlformats.org/officeDocument/2006/relationships/hyperlink" Target="https://www.geeksforgeeks.org/sql-drop-truncate" TargetMode="Externa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9.wmf"/><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oleObject" Target="../embeddings/oleObject1.bin"/><Relationship Id="rId5" Type="http://schemas.openxmlformats.org/officeDocument/2006/relationships/image" Target="../media/image11.pn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Layout" Target="../slideLayouts/slideLayout1.xml"/><Relationship Id="rId1" Type="http://schemas.openxmlformats.org/officeDocument/2006/relationships/vmlDrawing" Target="../drawings/vmlDrawing2.vml"/><Relationship Id="rId6" Type="http://schemas.openxmlformats.org/officeDocument/2006/relationships/image" Target="../media/image6.jpeg"/><Relationship Id="rId5" Type="http://schemas.openxmlformats.org/officeDocument/2006/relationships/image" Target="../media/image12.wmf"/><Relationship Id="rId4" Type="http://schemas.openxmlformats.org/officeDocument/2006/relationships/oleObject" Target="../embeddings/oleObject2.bin"/></Relationships>
</file>

<file path=ppt/slides/_rels/slide1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1.xml"/><Relationship Id="rId1" Type="http://schemas.openxmlformats.org/officeDocument/2006/relationships/vmlDrawing" Target="../drawings/vmlDrawing3.vml"/><Relationship Id="rId6" Type="http://schemas.openxmlformats.org/officeDocument/2006/relationships/image" Target="../media/image14.wmf"/><Relationship Id="rId5" Type="http://schemas.openxmlformats.org/officeDocument/2006/relationships/oleObject" Target="../embeddings/oleObject3.bin"/><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xml"/><Relationship Id="rId7" Type="http://schemas.openxmlformats.org/officeDocument/2006/relationships/image" Target="../media/image16.wmf"/><Relationship Id="rId2" Type="http://schemas.openxmlformats.org/officeDocument/2006/relationships/slideLayout" Target="../slideLayouts/slideLayout1.xml"/><Relationship Id="rId1" Type="http://schemas.openxmlformats.org/officeDocument/2006/relationships/vmlDrawing" Target="../drawings/vmlDrawing4.vml"/><Relationship Id="rId6" Type="http://schemas.openxmlformats.org/officeDocument/2006/relationships/oleObject" Target="../embeddings/oleObject4.bin"/><Relationship Id="rId5" Type="http://schemas.openxmlformats.org/officeDocument/2006/relationships/image" Target="../media/image17.png"/><Relationship Id="rId4" Type="http://schemas.openxmlformats.org/officeDocument/2006/relationships/image" Target="../media/image6.jpeg"/></Relationships>
</file>

<file path=ppt/slides/_rels/slide2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1.xml"/><Relationship Id="rId1" Type="http://schemas.openxmlformats.org/officeDocument/2006/relationships/vmlDrawing" Target="../drawings/vmlDrawing5.vml"/><Relationship Id="rId6" Type="http://schemas.openxmlformats.org/officeDocument/2006/relationships/image" Target="../media/image18.wmf"/><Relationship Id="rId5" Type="http://schemas.openxmlformats.org/officeDocument/2006/relationships/oleObject" Target="../embeddings/oleObject5.bin"/><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1.xml"/><Relationship Id="rId1" Type="http://schemas.openxmlformats.org/officeDocument/2006/relationships/vmlDrawing" Target="../drawings/vmlDrawing6.vml"/><Relationship Id="rId6" Type="http://schemas.openxmlformats.org/officeDocument/2006/relationships/image" Target="../media/image20.wmf"/><Relationship Id="rId5" Type="http://schemas.openxmlformats.org/officeDocument/2006/relationships/oleObject" Target="../embeddings/oleObject6.bin"/><Relationship Id="rId4" Type="http://schemas.openxmlformats.org/officeDocument/2006/relationships/image" Target="../media/image21.png"/></Relationships>
</file>

<file path=ppt/slides/_rels/slide2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1.xml"/><Relationship Id="rId1" Type="http://schemas.openxmlformats.org/officeDocument/2006/relationships/vmlDrawing" Target="../drawings/vmlDrawing7.vml"/><Relationship Id="rId6" Type="http://schemas.openxmlformats.org/officeDocument/2006/relationships/image" Target="../media/image22.wmf"/><Relationship Id="rId5" Type="http://schemas.openxmlformats.org/officeDocument/2006/relationships/oleObject" Target="../embeddings/oleObject7.bin"/><Relationship Id="rId4" Type="http://schemas.openxmlformats.org/officeDocument/2006/relationships/image" Target="../media/image23.png"/></Relationships>
</file>

<file path=ppt/slides/_rels/slide2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1.xml"/><Relationship Id="rId1" Type="http://schemas.openxmlformats.org/officeDocument/2006/relationships/vmlDrawing" Target="../drawings/vmlDrawing8.vml"/><Relationship Id="rId6" Type="http://schemas.openxmlformats.org/officeDocument/2006/relationships/image" Target="../media/image25.wmf"/><Relationship Id="rId5" Type="http://schemas.openxmlformats.org/officeDocument/2006/relationships/oleObject" Target="../embeddings/oleObject8.bin"/><Relationship Id="rId4" Type="http://schemas.openxmlformats.org/officeDocument/2006/relationships/image" Target="../media/image26.png"/></Relationships>
</file>

<file path=ppt/slides/_rels/slide3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1.xml"/><Relationship Id="rId1" Type="http://schemas.openxmlformats.org/officeDocument/2006/relationships/vmlDrawing" Target="../drawings/vmlDrawing9.vml"/><Relationship Id="rId6" Type="http://schemas.openxmlformats.org/officeDocument/2006/relationships/image" Target="../media/image27.wmf"/><Relationship Id="rId5" Type="http://schemas.openxmlformats.org/officeDocument/2006/relationships/oleObject" Target="../embeddings/oleObject9.bin"/><Relationship Id="rId4" Type="http://schemas.openxmlformats.org/officeDocument/2006/relationships/image" Target="../media/image28.png"/></Relationships>
</file>

<file path=ppt/slides/_rels/slide3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1.xml"/><Relationship Id="rId1" Type="http://schemas.openxmlformats.org/officeDocument/2006/relationships/vmlDrawing" Target="../drawings/vmlDrawing10.vml"/><Relationship Id="rId6" Type="http://schemas.openxmlformats.org/officeDocument/2006/relationships/image" Target="../media/image29.wmf"/><Relationship Id="rId5" Type="http://schemas.openxmlformats.org/officeDocument/2006/relationships/oleObject" Target="../embeddings/oleObject10.bin"/><Relationship Id="rId4" Type="http://schemas.openxmlformats.org/officeDocument/2006/relationships/image" Target="../media/image30.png"/></Relationships>
</file>

<file path=ppt/slides/_rels/slide3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1.xml"/><Relationship Id="rId1" Type="http://schemas.openxmlformats.org/officeDocument/2006/relationships/vmlDrawing" Target="../drawings/vmlDrawing11.vml"/><Relationship Id="rId6" Type="http://schemas.openxmlformats.org/officeDocument/2006/relationships/image" Target="../media/image31.wmf"/><Relationship Id="rId5" Type="http://schemas.openxmlformats.org/officeDocument/2006/relationships/oleObject" Target="../embeddings/oleObject11.bin"/><Relationship Id="rId4" Type="http://schemas.openxmlformats.org/officeDocument/2006/relationships/image" Target="../media/image32.png"/></Relationships>
</file>

<file path=ppt/slides/_rels/slide37.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notesSlide" Target="../notesSlides/notesSlide2.xml"/><Relationship Id="rId7" Type="http://schemas.openxmlformats.org/officeDocument/2006/relationships/image" Target="../media/image33.wmf"/><Relationship Id="rId2" Type="http://schemas.openxmlformats.org/officeDocument/2006/relationships/slideLayout" Target="../slideLayouts/slideLayout1.xml"/><Relationship Id="rId1" Type="http://schemas.openxmlformats.org/officeDocument/2006/relationships/vmlDrawing" Target="../drawings/vmlDrawing12.vml"/><Relationship Id="rId6" Type="http://schemas.openxmlformats.org/officeDocument/2006/relationships/oleObject" Target="../embeddings/oleObject12.bin"/><Relationship Id="rId5" Type="http://schemas.openxmlformats.org/officeDocument/2006/relationships/image" Target="../media/image35.png"/><Relationship Id="rId10" Type="http://schemas.openxmlformats.org/officeDocument/2006/relationships/image" Target="../media/image34.wmf"/><Relationship Id="rId4" Type="http://schemas.openxmlformats.org/officeDocument/2006/relationships/image" Target="../media/image6.jpeg"/><Relationship Id="rId9" Type="http://schemas.openxmlformats.org/officeDocument/2006/relationships/oleObject" Target="../embeddings/oleObject13.bin"/></Relationships>
</file>

<file path=ppt/slides/_rels/slide3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1.xml"/><Relationship Id="rId1" Type="http://schemas.openxmlformats.org/officeDocument/2006/relationships/vmlDrawing" Target="../drawings/vmlDrawing13.vml"/><Relationship Id="rId6" Type="http://schemas.openxmlformats.org/officeDocument/2006/relationships/image" Target="../media/image37.wmf"/><Relationship Id="rId5" Type="http://schemas.openxmlformats.org/officeDocument/2006/relationships/oleObject" Target="../embeddings/oleObject14.bin"/><Relationship Id="rId4" Type="http://schemas.openxmlformats.org/officeDocument/2006/relationships/image" Target="../media/image38.png"/></Relationships>
</file>

<file path=ppt/slides/_rels/slide3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1.xml"/><Relationship Id="rId1" Type="http://schemas.openxmlformats.org/officeDocument/2006/relationships/vmlDrawing" Target="../drawings/vmlDrawing14.vml"/><Relationship Id="rId6" Type="http://schemas.openxmlformats.org/officeDocument/2006/relationships/image" Target="../media/image39.wmf"/><Relationship Id="rId5" Type="http://schemas.openxmlformats.org/officeDocument/2006/relationships/oleObject" Target="../embeddings/oleObject15.bin"/><Relationship Id="rId4" Type="http://schemas.openxmlformats.org/officeDocument/2006/relationships/image" Target="../media/image40.png"/></Relationships>
</file>

<file path=ppt/slides/_rels/slide4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1.xml"/><Relationship Id="rId1" Type="http://schemas.openxmlformats.org/officeDocument/2006/relationships/vmlDrawing" Target="../drawings/vmlDrawing15.vml"/><Relationship Id="rId6" Type="http://schemas.openxmlformats.org/officeDocument/2006/relationships/image" Target="../media/image41.wmf"/><Relationship Id="rId5" Type="http://schemas.openxmlformats.org/officeDocument/2006/relationships/oleObject" Target="../embeddings/oleObject16.bin"/><Relationship Id="rId4" Type="http://schemas.openxmlformats.org/officeDocument/2006/relationships/image" Target="../media/image42.png"/></Relationships>
</file>

<file path=ppt/slides/_rels/slide4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1.xml"/><Relationship Id="rId1" Type="http://schemas.openxmlformats.org/officeDocument/2006/relationships/vmlDrawing" Target="../drawings/vmlDrawing16.vml"/><Relationship Id="rId6" Type="http://schemas.openxmlformats.org/officeDocument/2006/relationships/image" Target="../media/image43.wmf"/><Relationship Id="rId5" Type="http://schemas.openxmlformats.org/officeDocument/2006/relationships/oleObject" Target="../embeddings/oleObject17.bin"/><Relationship Id="rId4" Type="http://schemas.openxmlformats.org/officeDocument/2006/relationships/image" Target="../media/image44.png"/></Relationships>
</file>

<file path=ppt/slides/_rels/slide4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1.xml"/><Relationship Id="rId1" Type="http://schemas.openxmlformats.org/officeDocument/2006/relationships/vmlDrawing" Target="../drawings/vmlDrawing17.vml"/><Relationship Id="rId6" Type="http://schemas.openxmlformats.org/officeDocument/2006/relationships/image" Target="../media/image45.wmf"/><Relationship Id="rId5" Type="http://schemas.openxmlformats.org/officeDocument/2006/relationships/oleObject" Target="../embeddings/oleObject18.bin"/><Relationship Id="rId4" Type="http://schemas.openxmlformats.org/officeDocument/2006/relationships/image" Target="../media/image46.png"/></Relationships>
</file>

<file path=ppt/slides/_rels/slide4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1.xml"/><Relationship Id="rId1" Type="http://schemas.openxmlformats.org/officeDocument/2006/relationships/vmlDrawing" Target="../drawings/vmlDrawing18.vml"/><Relationship Id="rId6" Type="http://schemas.openxmlformats.org/officeDocument/2006/relationships/image" Target="../media/image47.wmf"/><Relationship Id="rId5" Type="http://schemas.openxmlformats.org/officeDocument/2006/relationships/oleObject" Target="../embeddings/oleObject19.bin"/><Relationship Id="rId4" Type="http://schemas.openxmlformats.org/officeDocument/2006/relationships/image" Target="../media/image48.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3.xml"/><Relationship Id="rId7" Type="http://schemas.openxmlformats.org/officeDocument/2006/relationships/image" Target="../media/image49.wmf"/><Relationship Id="rId2" Type="http://schemas.openxmlformats.org/officeDocument/2006/relationships/slideLayout" Target="../slideLayouts/slideLayout1.xml"/><Relationship Id="rId1" Type="http://schemas.openxmlformats.org/officeDocument/2006/relationships/vmlDrawing" Target="../drawings/vmlDrawing19.vml"/><Relationship Id="rId6" Type="http://schemas.openxmlformats.org/officeDocument/2006/relationships/oleObject" Target="../embeddings/oleObject20.bin"/><Relationship Id="rId5" Type="http://schemas.openxmlformats.org/officeDocument/2006/relationships/image" Target="../media/image50.png"/><Relationship Id="rId4" Type="http://schemas.openxmlformats.org/officeDocument/2006/relationships/image" Target="../media/image6.jpeg"/></Relationships>
</file>

<file path=ppt/slides/_rels/slide4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1.xml"/><Relationship Id="rId1" Type="http://schemas.openxmlformats.org/officeDocument/2006/relationships/vmlDrawing" Target="../drawings/vmlDrawing20.vml"/><Relationship Id="rId6" Type="http://schemas.openxmlformats.org/officeDocument/2006/relationships/image" Target="../media/image51.wmf"/><Relationship Id="rId5" Type="http://schemas.openxmlformats.org/officeDocument/2006/relationships/oleObject" Target="../embeddings/oleObject21.bin"/><Relationship Id="rId4" Type="http://schemas.openxmlformats.org/officeDocument/2006/relationships/image" Target="../media/image52.png"/></Relationships>
</file>

<file path=ppt/slides/_rels/slide4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1.xml"/><Relationship Id="rId1" Type="http://schemas.openxmlformats.org/officeDocument/2006/relationships/vmlDrawing" Target="../drawings/vmlDrawing21.vml"/><Relationship Id="rId6" Type="http://schemas.openxmlformats.org/officeDocument/2006/relationships/image" Target="../media/image53.wmf"/><Relationship Id="rId5" Type="http://schemas.openxmlformats.org/officeDocument/2006/relationships/oleObject" Target="../embeddings/oleObject22.bin"/><Relationship Id="rId4" Type="http://schemas.openxmlformats.org/officeDocument/2006/relationships/image" Target="../media/image54.png"/></Relationships>
</file>

<file path=ppt/slides/_rels/slide4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1.xml"/><Relationship Id="rId1" Type="http://schemas.openxmlformats.org/officeDocument/2006/relationships/vmlDrawing" Target="../drawings/vmlDrawing22.vml"/><Relationship Id="rId6" Type="http://schemas.openxmlformats.org/officeDocument/2006/relationships/image" Target="../media/image55.wmf"/><Relationship Id="rId5" Type="http://schemas.openxmlformats.org/officeDocument/2006/relationships/oleObject" Target="../embeddings/oleObject23.bin"/><Relationship Id="rId4" Type="http://schemas.openxmlformats.org/officeDocument/2006/relationships/image" Target="../media/image56.png"/></Relationships>
</file>

<file path=ppt/slides/_rels/slide4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1.xml"/><Relationship Id="rId1" Type="http://schemas.openxmlformats.org/officeDocument/2006/relationships/vmlDrawing" Target="../drawings/vmlDrawing23.vml"/><Relationship Id="rId6" Type="http://schemas.openxmlformats.org/officeDocument/2006/relationships/image" Target="../media/image57.wmf"/><Relationship Id="rId5" Type="http://schemas.openxmlformats.org/officeDocument/2006/relationships/oleObject" Target="../embeddings/oleObject24.bin"/><Relationship Id="rId4" Type="http://schemas.openxmlformats.org/officeDocument/2006/relationships/image" Target="../media/image58.png"/></Relationships>
</file>

<file path=ppt/slides/_rels/slide4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1.xml"/><Relationship Id="rId1" Type="http://schemas.openxmlformats.org/officeDocument/2006/relationships/vmlDrawing" Target="../drawings/vmlDrawing24.vml"/><Relationship Id="rId6" Type="http://schemas.openxmlformats.org/officeDocument/2006/relationships/image" Target="../media/image59.wmf"/><Relationship Id="rId5" Type="http://schemas.openxmlformats.org/officeDocument/2006/relationships/oleObject" Target="../embeddings/oleObject25.bin"/><Relationship Id="rId4" Type="http://schemas.openxmlformats.org/officeDocument/2006/relationships/image" Target="../media/image60.png"/></Relationships>
</file>

<file path=ppt/slides/_rels/slide5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1.xml"/><Relationship Id="rId1" Type="http://schemas.openxmlformats.org/officeDocument/2006/relationships/vmlDrawing" Target="../drawings/vmlDrawing25.vml"/><Relationship Id="rId6" Type="http://schemas.openxmlformats.org/officeDocument/2006/relationships/image" Target="../media/image61.wmf"/><Relationship Id="rId5" Type="http://schemas.openxmlformats.org/officeDocument/2006/relationships/oleObject" Target="../embeddings/oleObject26.bin"/><Relationship Id="rId4" Type="http://schemas.openxmlformats.org/officeDocument/2006/relationships/image" Target="../media/image62.png"/></Relationships>
</file>

<file path=ppt/slides/_rels/slide5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1.xml"/><Relationship Id="rId1" Type="http://schemas.openxmlformats.org/officeDocument/2006/relationships/vmlDrawing" Target="../drawings/vmlDrawing26.vml"/><Relationship Id="rId6" Type="http://schemas.openxmlformats.org/officeDocument/2006/relationships/image" Target="../media/image63.wmf"/><Relationship Id="rId5" Type="http://schemas.openxmlformats.org/officeDocument/2006/relationships/oleObject" Target="../embeddings/oleObject27.bin"/><Relationship Id="rId4" Type="http://schemas.openxmlformats.org/officeDocument/2006/relationships/image" Target="../media/image64.png"/></Relationships>
</file>

<file path=ppt/slides/_rels/slide5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1.xml"/><Relationship Id="rId1" Type="http://schemas.openxmlformats.org/officeDocument/2006/relationships/vmlDrawing" Target="../drawings/vmlDrawing27.vml"/><Relationship Id="rId6" Type="http://schemas.openxmlformats.org/officeDocument/2006/relationships/image" Target="../media/image65.wmf"/><Relationship Id="rId5" Type="http://schemas.openxmlformats.org/officeDocument/2006/relationships/oleObject" Target="../embeddings/oleObject28.bin"/><Relationship Id="rId4" Type="http://schemas.openxmlformats.org/officeDocument/2006/relationships/image" Target="../media/image66.png"/></Relationships>
</file>

<file path=ppt/slides/_rels/slide5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1.xml"/><Relationship Id="rId1" Type="http://schemas.openxmlformats.org/officeDocument/2006/relationships/vmlDrawing" Target="../drawings/vmlDrawing28.vml"/><Relationship Id="rId6" Type="http://schemas.openxmlformats.org/officeDocument/2006/relationships/image" Target="../media/image67.wmf"/><Relationship Id="rId5" Type="http://schemas.openxmlformats.org/officeDocument/2006/relationships/oleObject" Target="../embeddings/oleObject29.bin"/><Relationship Id="rId4" Type="http://schemas.openxmlformats.org/officeDocument/2006/relationships/image" Target="../media/image68.png"/></Relationships>
</file>

<file path=ppt/slides/_rels/slide5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1.xml"/><Relationship Id="rId1" Type="http://schemas.openxmlformats.org/officeDocument/2006/relationships/vmlDrawing" Target="../drawings/vmlDrawing29.vml"/><Relationship Id="rId6" Type="http://schemas.openxmlformats.org/officeDocument/2006/relationships/image" Target="../media/image69.wmf"/><Relationship Id="rId5" Type="http://schemas.openxmlformats.org/officeDocument/2006/relationships/oleObject" Target="../embeddings/oleObject30.bin"/><Relationship Id="rId4" Type="http://schemas.openxmlformats.org/officeDocument/2006/relationships/image" Target="../media/image70.png"/></Relationships>
</file>

<file path=ppt/slides/_rels/slide5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1.xml"/><Relationship Id="rId1" Type="http://schemas.openxmlformats.org/officeDocument/2006/relationships/vmlDrawing" Target="../drawings/vmlDrawing30.vml"/><Relationship Id="rId6" Type="http://schemas.openxmlformats.org/officeDocument/2006/relationships/image" Target="../media/image71.wmf"/><Relationship Id="rId5" Type="http://schemas.openxmlformats.org/officeDocument/2006/relationships/oleObject" Target="../embeddings/oleObject31.bin"/><Relationship Id="rId4" Type="http://schemas.openxmlformats.org/officeDocument/2006/relationships/image" Target="../media/image72.png"/></Relationships>
</file>

<file path=ppt/slides/_rels/slide5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1.xml"/><Relationship Id="rId1" Type="http://schemas.openxmlformats.org/officeDocument/2006/relationships/vmlDrawing" Target="../drawings/vmlDrawing31.vml"/><Relationship Id="rId6" Type="http://schemas.openxmlformats.org/officeDocument/2006/relationships/image" Target="../media/image73.wmf"/><Relationship Id="rId5" Type="http://schemas.openxmlformats.org/officeDocument/2006/relationships/oleObject" Target="../embeddings/oleObject32.bin"/><Relationship Id="rId4" Type="http://schemas.openxmlformats.org/officeDocument/2006/relationships/image" Target="../media/image74.png"/></Relationships>
</file>

<file path=ppt/slides/_rels/slide5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1.xml"/><Relationship Id="rId1" Type="http://schemas.openxmlformats.org/officeDocument/2006/relationships/vmlDrawing" Target="../drawings/vmlDrawing32.vml"/><Relationship Id="rId6" Type="http://schemas.openxmlformats.org/officeDocument/2006/relationships/image" Target="../media/image75.wmf"/><Relationship Id="rId5" Type="http://schemas.openxmlformats.org/officeDocument/2006/relationships/oleObject" Target="../embeddings/oleObject33.bin"/><Relationship Id="rId4" Type="http://schemas.openxmlformats.org/officeDocument/2006/relationships/image" Target="../media/image76.png"/></Relationships>
</file>

<file path=ppt/slides/_rels/slide5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1.xml"/><Relationship Id="rId1" Type="http://schemas.openxmlformats.org/officeDocument/2006/relationships/vmlDrawing" Target="../drawings/vmlDrawing33.vml"/><Relationship Id="rId6" Type="http://schemas.openxmlformats.org/officeDocument/2006/relationships/image" Target="../media/image77.wmf"/><Relationship Id="rId5" Type="http://schemas.openxmlformats.org/officeDocument/2006/relationships/oleObject" Target="../embeddings/oleObject34.bin"/><Relationship Id="rId4" Type="http://schemas.openxmlformats.org/officeDocument/2006/relationships/image" Target="../media/image78.png"/></Relationships>
</file>

<file path=ppt/slides/_rels/slide5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1.xml"/><Relationship Id="rId1" Type="http://schemas.openxmlformats.org/officeDocument/2006/relationships/vmlDrawing" Target="../drawings/vmlDrawing34.vml"/><Relationship Id="rId6" Type="http://schemas.openxmlformats.org/officeDocument/2006/relationships/image" Target="../media/image79.wmf"/><Relationship Id="rId5" Type="http://schemas.openxmlformats.org/officeDocument/2006/relationships/oleObject" Target="../embeddings/oleObject35.bin"/><Relationship Id="rId4" Type="http://schemas.openxmlformats.org/officeDocument/2006/relationships/image" Target="../media/image80.png"/></Relationships>
</file>

<file path=ppt/slides/_rels/slide6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1.xml"/><Relationship Id="rId1" Type="http://schemas.openxmlformats.org/officeDocument/2006/relationships/vmlDrawing" Target="../drawings/vmlDrawing35.vml"/><Relationship Id="rId6" Type="http://schemas.openxmlformats.org/officeDocument/2006/relationships/image" Target="../media/image81.wmf"/><Relationship Id="rId5" Type="http://schemas.openxmlformats.org/officeDocument/2006/relationships/oleObject" Target="../embeddings/oleObject36.bin"/><Relationship Id="rId4" Type="http://schemas.openxmlformats.org/officeDocument/2006/relationships/image" Target="../media/image82.png"/></Relationships>
</file>

<file path=ppt/slides/_rels/slide6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1.xml"/><Relationship Id="rId1" Type="http://schemas.openxmlformats.org/officeDocument/2006/relationships/vmlDrawing" Target="../drawings/vmlDrawing36.vml"/><Relationship Id="rId6" Type="http://schemas.openxmlformats.org/officeDocument/2006/relationships/image" Target="../media/image83.wmf"/><Relationship Id="rId5" Type="http://schemas.openxmlformats.org/officeDocument/2006/relationships/oleObject" Target="../embeddings/oleObject37.bin"/><Relationship Id="rId4" Type="http://schemas.openxmlformats.org/officeDocument/2006/relationships/image" Target="../media/image84.png"/></Relationships>
</file>

<file path=ppt/slides/_rels/slide6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1.xml"/><Relationship Id="rId1" Type="http://schemas.openxmlformats.org/officeDocument/2006/relationships/vmlDrawing" Target="../drawings/vmlDrawing37.vml"/><Relationship Id="rId6" Type="http://schemas.openxmlformats.org/officeDocument/2006/relationships/image" Target="../media/image85.wmf"/><Relationship Id="rId5" Type="http://schemas.openxmlformats.org/officeDocument/2006/relationships/oleObject" Target="../embeddings/oleObject38.bin"/><Relationship Id="rId4" Type="http://schemas.openxmlformats.org/officeDocument/2006/relationships/image" Target="../media/image86.png"/></Relationships>
</file>

<file path=ppt/slides/_rels/slide6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1.xml"/><Relationship Id="rId1" Type="http://schemas.openxmlformats.org/officeDocument/2006/relationships/vmlDrawing" Target="../drawings/vmlDrawing38.vml"/><Relationship Id="rId6" Type="http://schemas.openxmlformats.org/officeDocument/2006/relationships/image" Target="../media/image87.wmf"/><Relationship Id="rId5" Type="http://schemas.openxmlformats.org/officeDocument/2006/relationships/oleObject" Target="../embeddings/oleObject39.bin"/><Relationship Id="rId4" Type="http://schemas.openxmlformats.org/officeDocument/2006/relationships/image" Target="../media/image88.png"/></Relationships>
</file>

<file path=ppt/slides/_rels/slide6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1.xml"/><Relationship Id="rId1" Type="http://schemas.openxmlformats.org/officeDocument/2006/relationships/vmlDrawing" Target="../drawings/vmlDrawing39.vml"/><Relationship Id="rId6" Type="http://schemas.openxmlformats.org/officeDocument/2006/relationships/image" Target="../media/image89.wmf"/><Relationship Id="rId5" Type="http://schemas.openxmlformats.org/officeDocument/2006/relationships/oleObject" Target="../embeddings/oleObject40.bin"/><Relationship Id="rId4" Type="http://schemas.openxmlformats.org/officeDocument/2006/relationships/image" Target="../media/image90.png"/></Relationships>
</file>

<file path=ppt/slides/_rels/slide6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1.xml"/><Relationship Id="rId1" Type="http://schemas.openxmlformats.org/officeDocument/2006/relationships/vmlDrawing" Target="../drawings/vmlDrawing40.vml"/><Relationship Id="rId6" Type="http://schemas.openxmlformats.org/officeDocument/2006/relationships/image" Target="../media/image91.wmf"/><Relationship Id="rId5" Type="http://schemas.openxmlformats.org/officeDocument/2006/relationships/oleObject" Target="../embeddings/oleObject41.bin"/><Relationship Id="rId4" Type="http://schemas.openxmlformats.org/officeDocument/2006/relationships/image" Target="../media/image92.png"/></Relationships>
</file>

<file path=ppt/slides/_rels/slide6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1.xml"/><Relationship Id="rId1" Type="http://schemas.openxmlformats.org/officeDocument/2006/relationships/vmlDrawing" Target="../drawings/vmlDrawing41.vml"/><Relationship Id="rId6" Type="http://schemas.openxmlformats.org/officeDocument/2006/relationships/image" Target="../media/image93.wmf"/><Relationship Id="rId5" Type="http://schemas.openxmlformats.org/officeDocument/2006/relationships/oleObject" Target="../embeddings/oleObject42.bin"/><Relationship Id="rId4" Type="http://schemas.openxmlformats.org/officeDocument/2006/relationships/image" Target="../media/image94.png"/></Relationships>
</file>

<file path=ppt/slides/_rels/slide6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1.xml"/><Relationship Id="rId1" Type="http://schemas.openxmlformats.org/officeDocument/2006/relationships/vmlDrawing" Target="../drawings/vmlDrawing42.vml"/><Relationship Id="rId6" Type="http://schemas.openxmlformats.org/officeDocument/2006/relationships/image" Target="../media/image95.wmf"/><Relationship Id="rId5" Type="http://schemas.openxmlformats.org/officeDocument/2006/relationships/oleObject" Target="../embeddings/oleObject43.bin"/><Relationship Id="rId4" Type="http://schemas.openxmlformats.org/officeDocument/2006/relationships/image" Target="../media/image96.png"/></Relationships>
</file>

<file path=ppt/slides/_rels/slide6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1.xml"/><Relationship Id="rId1" Type="http://schemas.openxmlformats.org/officeDocument/2006/relationships/vmlDrawing" Target="../drawings/vmlDrawing43.vml"/><Relationship Id="rId6" Type="http://schemas.openxmlformats.org/officeDocument/2006/relationships/image" Target="../media/image97.wmf"/><Relationship Id="rId5" Type="http://schemas.openxmlformats.org/officeDocument/2006/relationships/oleObject" Target="../embeddings/oleObject44.bin"/><Relationship Id="rId4" Type="http://schemas.openxmlformats.org/officeDocument/2006/relationships/image" Target="../media/image98.png"/></Relationships>
</file>

<file path=ppt/slides/_rels/slide7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1.xml"/><Relationship Id="rId1" Type="http://schemas.openxmlformats.org/officeDocument/2006/relationships/vmlDrawing" Target="../drawings/vmlDrawing44.vml"/><Relationship Id="rId6" Type="http://schemas.openxmlformats.org/officeDocument/2006/relationships/image" Target="../media/image99.wmf"/><Relationship Id="rId5" Type="http://schemas.openxmlformats.org/officeDocument/2006/relationships/oleObject" Target="../embeddings/oleObject45.bin"/><Relationship Id="rId4" Type="http://schemas.openxmlformats.org/officeDocument/2006/relationships/image" Target="../media/image100.png"/></Relationships>
</file>

<file path=ppt/slides/_rels/slide7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1.xml"/><Relationship Id="rId1" Type="http://schemas.openxmlformats.org/officeDocument/2006/relationships/vmlDrawing" Target="../drawings/vmlDrawing45.vml"/><Relationship Id="rId6" Type="http://schemas.openxmlformats.org/officeDocument/2006/relationships/image" Target="../media/image101.wmf"/><Relationship Id="rId5" Type="http://schemas.openxmlformats.org/officeDocument/2006/relationships/oleObject" Target="../embeddings/oleObject46.bin"/><Relationship Id="rId4" Type="http://schemas.openxmlformats.org/officeDocument/2006/relationships/image" Target="../media/image102.png"/></Relationships>
</file>

<file path=ppt/slides/_rels/slide7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1.xml"/><Relationship Id="rId1" Type="http://schemas.openxmlformats.org/officeDocument/2006/relationships/vmlDrawing" Target="../drawings/vmlDrawing46.vml"/><Relationship Id="rId6" Type="http://schemas.openxmlformats.org/officeDocument/2006/relationships/image" Target="../media/image103.wmf"/><Relationship Id="rId5" Type="http://schemas.openxmlformats.org/officeDocument/2006/relationships/oleObject" Target="../embeddings/oleObject47.bin"/><Relationship Id="rId4" Type="http://schemas.openxmlformats.org/officeDocument/2006/relationships/image" Target="../media/image104.png"/></Relationships>
</file>

<file path=ppt/slides/_rels/slide7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1.xml"/><Relationship Id="rId1" Type="http://schemas.openxmlformats.org/officeDocument/2006/relationships/vmlDrawing" Target="../drawings/vmlDrawing47.vml"/><Relationship Id="rId6" Type="http://schemas.openxmlformats.org/officeDocument/2006/relationships/image" Target="../media/image105.wmf"/><Relationship Id="rId5" Type="http://schemas.openxmlformats.org/officeDocument/2006/relationships/oleObject" Target="../embeddings/oleObject48.bin"/><Relationship Id="rId4" Type="http://schemas.openxmlformats.org/officeDocument/2006/relationships/image" Target="../media/image106.png"/></Relationships>
</file>

<file path=ppt/slides/_rels/slide7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1.xml"/><Relationship Id="rId1" Type="http://schemas.openxmlformats.org/officeDocument/2006/relationships/vmlDrawing" Target="../drawings/vmlDrawing48.vml"/><Relationship Id="rId6" Type="http://schemas.openxmlformats.org/officeDocument/2006/relationships/image" Target="../media/image107.wmf"/><Relationship Id="rId5" Type="http://schemas.openxmlformats.org/officeDocument/2006/relationships/oleObject" Target="../embeddings/oleObject49.bin"/><Relationship Id="rId4" Type="http://schemas.openxmlformats.org/officeDocument/2006/relationships/image" Target="../media/image108.png"/></Relationships>
</file>

<file path=ppt/slides/_rels/slide7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1.xml"/><Relationship Id="rId1" Type="http://schemas.openxmlformats.org/officeDocument/2006/relationships/vmlDrawing" Target="../drawings/vmlDrawing49.vml"/><Relationship Id="rId6" Type="http://schemas.openxmlformats.org/officeDocument/2006/relationships/image" Target="../media/image109.wmf"/><Relationship Id="rId5" Type="http://schemas.openxmlformats.org/officeDocument/2006/relationships/oleObject" Target="../embeddings/oleObject50.bin"/><Relationship Id="rId4" Type="http://schemas.openxmlformats.org/officeDocument/2006/relationships/image" Target="../media/image110.png"/></Relationships>
</file>

<file path=ppt/slides/_rels/slide7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1.xml"/><Relationship Id="rId1" Type="http://schemas.openxmlformats.org/officeDocument/2006/relationships/vmlDrawing" Target="../drawings/vmlDrawing50.vml"/><Relationship Id="rId6" Type="http://schemas.openxmlformats.org/officeDocument/2006/relationships/image" Target="../media/image111.wmf"/><Relationship Id="rId5" Type="http://schemas.openxmlformats.org/officeDocument/2006/relationships/oleObject" Target="../embeddings/oleObject51.bin"/><Relationship Id="rId4" Type="http://schemas.openxmlformats.org/officeDocument/2006/relationships/image" Target="../media/image112.png"/></Relationships>
</file>

<file path=ppt/slides/_rels/slide7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1.xml"/><Relationship Id="rId1" Type="http://schemas.openxmlformats.org/officeDocument/2006/relationships/vmlDrawing" Target="../drawings/vmlDrawing51.vml"/><Relationship Id="rId6" Type="http://schemas.openxmlformats.org/officeDocument/2006/relationships/image" Target="../media/image113.wmf"/><Relationship Id="rId5" Type="http://schemas.openxmlformats.org/officeDocument/2006/relationships/oleObject" Target="../embeddings/oleObject52.bin"/><Relationship Id="rId4" Type="http://schemas.openxmlformats.org/officeDocument/2006/relationships/image" Target="../media/image114.png"/></Relationships>
</file>

<file path=ppt/slides/_rels/slide7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1.xml"/><Relationship Id="rId1" Type="http://schemas.openxmlformats.org/officeDocument/2006/relationships/vmlDrawing" Target="../drawings/vmlDrawing52.vml"/><Relationship Id="rId6" Type="http://schemas.openxmlformats.org/officeDocument/2006/relationships/image" Target="../media/image115.wmf"/><Relationship Id="rId5" Type="http://schemas.openxmlformats.org/officeDocument/2006/relationships/oleObject" Target="../embeddings/oleObject53.bin"/><Relationship Id="rId4" Type="http://schemas.openxmlformats.org/officeDocument/2006/relationships/image" Target="../media/image116.png"/></Relationships>
</file>

<file path=ppt/slides/_rels/slide7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1.xml"/><Relationship Id="rId1" Type="http://schemas.openxmlformats.org/officeDocument/2006/relationships/vmlDrawing" Target="../drawings/vmlDrawing53.vml"/><Relationship Id="rId6" Type="http://schemas.openxmlformats.org/officeDocument/2006/relationships/image" Target="../media/image117.wmf"/><Relationship Id="rId5" Type="http://schemas.openxmlformats.org/officeDocument/2006/relationships/oleObject" Target="../embeddings/oleObject54.bin"/><Relationship Id="rId4" Type="http://schemas.openxmlformats.org/officeDocument/2006/relationships/image" Target="../media/image118.png"/></Relationships>
</file>

<file path=ppt/slides/_rels/slide8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slideLayout" Target="../slideLayouts/slideLayout1.xml"/><Relationship Id="rId1" Type="http://schemas.openxmlformats.org/officeDocument/2006/relationships/vmlDrawing" Target="../drawings/vmlDrawing54.vml"/><Relationship Id="rId6" Type="http://schemas.openxmlformats.org/officeDocument/2006/relationships/image" Target="../media/image119.wmf"/><Relationship Id="rId5" Type="http://schemas.openxmlformats.org/officeDocument/2006/relationships/oleObject" Target="../embeddings/oleObject55.bin"/><Relationship Id="rId4" Type="http://schemas.openxmlformats.org/officeDocument/2006/relationships/image" Target="../media/image120.png"/></Relationships>
</file>

<file path=ppt/slides/_rels/slide8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3304" y="0"/>
            <a:ext cx="1758696" cy="1353312"/>
          </a:xfrm>
          <a:prstGeom prst="rect">
            <a:avLst/>
          </a:prstGeom>
        </p:spPr>
      </p:pic>
      <p:sp>
        <p:nvSpPr>
          <p:cNvPr id="6" name="TextBox 5"/>
          <p:cNvSpPr txBox="1"/>
          <p:nvPr/>
        </p:nvSpPr>
        <p:spPr>
          <a:xfrm>
            <a:off x="10309753" y="6488668"/>
            <a:ext cx="1882247" cy="369332"/>
          </a:xfrm>
          <a:prstGeom prst="rect">
            <a:avLst/>
          </a:prstGeom>
          <a:noFill/>
        </p:spPr>
        <p:txBody>
          <a:bodyPr wrap="none" rtlCol="1">
            <a:spAutoFit/>
          </a:bodyPr>
          <a:lstStyle/>
          <a:p>
            <a:pPr algn="l"/>
            <a:r>
              <a:rPr lang="en-US" b="1" dirty="0" smtClean="0">
                <a:solidFill>
                  <a:schemeClr val="accent3">
                    <a:lumMod val="40000"/>
                    <a:lumOff val="60000"/>
                  </a:schemeClr>
                </a:solidFill>
              </a:rPr>
              <a:t>By </a:t>
            </a:r>
            <a:r>
              <a:rPr lang="en-US" b="1" dirty="0" err="1" smtClean="0">
                <a:solidFill>
                  <a:schemeClr val="accent3">
                    <a:lumMod val="40000"/>
                    <a:lumOff val="60000"/>
                  </a:schemeClr>
                </a:solidFill>
              </a:rPr>
              <a:t>Eslam</a:t>
            </a:r>
            <a:r>
              <a:rPr lang="en-US" b="1" dirty="0" smtClean="0">
                <a:solidFill>
                  <a:schemeClr val="accent3">
                    <a:lumMod val="40000"/>
                    <a:lumOff val="60000"/>
                  </a:schemeClr>
                </a:solidFill>
              </a:rPr>
              <a:t> </a:t>
            </a:r>
            <a:r>
              <a:rPr lang="en-US" b="1" dirty="0" err="1" smtClean="0">
                <a:solidFill>
                  <a:schemeClr val="accent3">
                    <a:lumMod val="40000"/>
                    <a:lumOff val="60000"/>
                  </a:schemeClr>
                </a:solidFill>
              </a:rPr>
              <a:t>Khder</a:t>
            </a:r>
            <a:endParaRPr lang="ar-EG" b="1" dirty="0">
              <a:solidFill>
                <a:schemeClr val="accent3">
                  <a:lumMod val="40000"/>
                  <a:lumOff val="60000"/>
                </a:schemeClr>
              </a:solidFill>
            </a:endParaRPr>
          </a:p>
        </p:txBody>
      </p:sp>
      <p:sp>
        <p:nvSpPr>
          <p:cNvPr id="8" name="TextBox 7"/>
          <p:cNvSpPr txBox="1"/>
          <p:nvPr/>
        </p:nvSpPr>
        <p:spPr>
          <a:xfrm>
            <a:off x="3348147" y="999369"/>
            <a:ext cx="5219781" cy="707886"/>
          </a:xfrm>
          <a:prstGeom prst="rect">
            <a:avLst/>
          </a:prstGeom>
          <a:noFill/>
        </p:spPr>
        <p:txBody>
          <a:bodyPr wrap="square" rtlCol="1">
            <a:spAutoFit/>
          </a:bodyPr>
          <a:lstStyle/>
          <a:p>
            <a:pPr algn="l"/>
            <a:r>
              <a:rPr lang="en-US" sz="4000" b="1" dirty="0" smtClean="0"/>
              <a:t>What is </a:t>
            </a:r>
            <a:r>
              <a:rPr lang="en-US" sz="4000" b="1" dirty="0" err="1" smtClean="0"/>
              <a:t>DataBase</a:t>
            </a:r>
            <a:r>
              <a:rPr lang="en-US" sz="4000" b="1" dirty="0" smtClean="0"/>
              <a:t>?!</a:t>
            </a:r>
            <a:endParaRPr lang="ar-EG" sz="4000" b="1" dirty="0"/>
          </a:p>
        </p:txBody>
      </p:sp>
      <p:sp>
        <p:nvSpPr>
          <p:cNvPr id="9" name="TextBox 8"/>
          <p:cNvSpPr txBox="1"/>
          <p:nvPr/>
        </p:nvSpPr>
        <p:spPr>
          <a:xfrm>
            <a:off x="657510" y="2101440"/>
            <a:ext cx="10790778" cy="1200329"/>
          </a:xfrm>
          <a:prstGeom prst="rect">
            <a:avLst/>
          </a:prstGeom>
          <a:noFill/>
        </p:spPr>
        <p:txBody>
          <a:bodyPr wrap="square" rtlCol="1">
            <a:spAutoFit/>
          </a:bodyPr>
          <a:lstStyle/>
          <a:p>
            <a:pPr algn="l"/>
            <a:r>
              <a:rPr lang="en-US" dirty="0" smtClean="0"/>
              <a:t>A database is an organized collection of data, generally stored and accessed electronically from a computer system.</a:t>
            </a:r>
          </a:p>
          <a:p>
            <a:pPr algn="l"/>
            <a:r>
              <a:rPr lang="en-US" dirty="0" smtClean="0"/>
              <a:t>Databases are structured to facilitate the storage, retrieval, modification, </a:t>
            </a:r>
          </a:p>
          <a:p>
            <a:pPr algn="l"/>
            <a:r>
              <a:rPr lang="en-US" dirty="0" smtClean="0"/>
              <a:t>and deletion of data in conjunction with various data-processing operations.</a:t>
            </a:r>
            <a:endParaRPr lang="ar-EG" dirty="0"/>
          </a:p>
        </p:txBody>
      </p:sp>
      <p:sp>
        <p:nvSpPr>
          <p:cNvPr id="10" name="TextBox 9"/>
          <p:cNvSpPr txBox="1"/>
          <p:nvPr/>
        </p:nvSpPr>
        <p:spPr>
          <a:xfrm>
            <a:off x="3134787" y="3602361"/>
            <a:ext cx="5219781" cy="707886"/>
          </a:xfrm>
          <a:prstGeom prst="rect">
            <a:avLst/>
          </a:prstGeom>
          <a:noFill/>
        </p:spPr>
        <p:txBody>
          <a:bodyPr wrap="square" rtlCol="1">
            <a:spAutoFit/>
          </a:bodyPr>
          <a:lstStyle/>
          <a:p>
            <a:pPr algn="l"/>
            <a:r>
              <a:rPr lang="en-US" sz="4000" b="1" dirty="0" smtClean="0"/>
              <a:t>Types Of </a:t>
            </a:r>
            <a:r>
              <a:rPr lang="en-US" sz="4000" b="1" dirty="0" err="1" smtClean="0"/>
              <a:t>DataBase</a:t>
            </a:r>
            <a:r>
              <a:rPr lang="en-US" sz="4000" b="1" dirty="0" smtClean="0"/>
              <a:t> </a:t>
            </a:r>
            <a:endParaRPr lang="ar-EG" sz="4000" b="1" dirty="0"/>
          </a:p>
        </p:txBody>
      </p:sp>
      <p:sp>
        <p:nvSpPr>
          <p:cNvPr id="12" name="TextBox 11"/>
          <p:cNvSpPr txBox="1"/>
          <p:nvPr/>
        </p:nvSpPr>
        <p:spPr>
          <a:xfrm>
            <a:off x="449392" y="5142792"/>
            <a:ext cx="3804248" cy="369332"/>
          </a:xfrm>
          <a:prstGeom prst="rect">
            <a:avLst/>
          </a:prstGeom>
          <a:noFill/>
        </p:spPr>
        <p:txBody>
          <a:bodyPr wrap="none" rtlCol="1">
            <a:spAutoFit/>
          </a:bodyPr>
          <a:lstStyle/>
          <a:p>
            <a:r>
              <a:rPr lang="en-US" dirty="0" smtClean="0"/>
              <a:t>1. </a:t>
            </a:r>
            <a:r>
              <a:rPr lang="en-US" b="1" dirty="0" smtClean="0"/>
              <a:t>Relational Databases (RDBMS)</a:t>
            </a:r>
            <a:endParaRPr lang="ar-EG" dirty="0"/>
          </a:p>
        </p:txBody>
      </p:sp>
      <p:sp>
        <p:nvSpPr>
          <p:cNvPr id="13" name="TextBox 12"/>
          <p:cNvSpPr txBox="1"/>
          <p:nvPr/>
        </p:nvSpPr>
        <p:spPr>
          <a:xfrm>
            <a:off x="6512495" y="5142792"/>
            <a:ext cx="4592925" cy="369332"/>
          </a:xfrm>
          <a:prstGeom prst="rect">
            <a:avLst/>
          </a:prstGeom>
          <a:noFill/>
        </p:spPr>
        <p:txBody>
          <a:bodyPr wrap="none" rtlCol="1">
            <a:spAutoFit/>
          </a:bodyPr>
          <a:lstStyle/>
          <a:p>
            <a:r>
              <a:rPr lang="en-US" dirty="0" smtClean="0"/>
              <a:t>2. </a:t>
            </a:r>
            <a:r>
              <a:rPr lang="en-US" b="1" dirty="0" smtClean="0"/>
              <a:t>Non</a:t>
            </a:r>
            <a:r>
              <a:rPr lang="en-US" dirty="0" smtClean="0"/>
              <a:t> </a:t>
            </a:r>
            <a:r>
              <a:rPr lang="en-US" b="1" dirty="0" smtClean="0"/>
              <a:t>Relational Databases (N-RDBMS)</a:t>
            </a:r>
            <a:endParaRPr lang="ar-EG" dirty="0"/>
          </a:p>
        </p:txBody>
      </p:sp>
    </p:spTree>
    <p:extLst>
      <p:ext uri="{BB962C8B-B14F-4D97-AF65-F5344CB8AC3E}">
        <p14:creationId xmlns:p14="http://schemas.microsoft.com/office/powerpoint/2010/main" val="23149999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3304" y="0"/>
            <a:ext cx="1758696" cy="1353312"/>
          </a:xfrm>
          <a:prstGeom prst="rect">
            <a:avLst/>
          </a:prstGeom>
        </p:spPr>
      </p:pic>
      <p:sp>
        <p:nvSpPr>
          <p:cNvPr id="6" name="TextBox 5"/>
          <p:cNvSpPr txBox="1"/>
          <p:nvPr/>
        </p:nvSpPr>
        <p:spPr>
          <a:xfrm>
            <a:off x="10309753" y="6488668"/>
            <a:ext cx="1882247" cy="369332"/>
          </a:xfrm>
          <a:prstGeom prst="rect">
            <a:avLst/>
          </a:prstGeom>
          <a:noFill/>
        </p:spPr>
        <p:txBody>
          <a:bodyPr wrap="none" rtlCol="1">
            <a:spAutoFit/>
          </a:bodyPr>
          <a:lstStyle/>
          <a:p>
            <a:r>
              <a:rPr lang="en-US" b="1" dirty="0" smtClean="0">
                <a:solidFill>
                  <a:schemeClr val="accent3">
                    <a:lumMod val="40000"/>
                    <a:lumOff val="60000"/>
                  </a:schemeClr>
                </a:solidFill>
              </a:rPr>
              <a:t>By </a:t>
            </a:r>
            <a:r>
              <a:rPr lang="en-US" b="1" dirty="0" err="1" smtClean="0">
                <a:solidFill>
                  <a:schemeClr val="accent3">
                    <a:lumMod val="40000"/>
                    <a:lumOff val="60000"/>
                  </a:schemeClr>
                </a:solidFill>
              </a:rPr>
              <a:t>Eslam</a:t>
            </a:r>
            <a:r>
              <a:rPr lang="en-US" b="1" dirty="0" smtClean="0">
                <a:solidFill>
                  <a:schemeClr val="accent3">
                    <a:lumMod val="40000"/>
                    <a:lumOff val="60000"/>
                  </a:schemeClr>
                </a:solidFill>
              </a:rPr>
              <a:t> </a:t>
            </a:r>
            <a:r>
              <a:rPr lang="en-US" b="1" dirty="0" err="1" smtClean="0">
                <a:solidFill>
                  <a:schemeClr val="accent3">
                    <a:lumMod val="40000"/>
                    <a:lumOff val="60000"/>
                  </a:schemeClr>
                </a:solidFill>
              </a:rPr>
              <a:t>Khder</a:t>
            </a:r>
            <a:endParaRPr lang="ar-EG" b="1" dirty="0">
              <a:solidFill>
                <a:schemeClr val="accent3">
                  <a:lumMod val="40000"/>
                  <a:lumOff val="60000"/>
                </a:schemeClr>
              </a:solidFill>
            </a:endParaRPr>
          </a:p>
        </p:txBody>
      </p:sp>
      <p:sp>
        <p:nvSpPr>
          <p:cNvPr id="4" name="TextBox 3"/>
          <p:cNvSpPr txBox="1"/>
          <p:nvPr/>
        </p:nvSpPr>
        <p:spPr>
          <a:xfrm>
            <a:off x="1944591" y="706981"/>
            <a:ext cx="7422225" cy="646331"/>
          </a:xfrm>
          <a:prstGeom prst="rect">
            <a:avLst/>
          </a:prstGeom>
          <a:noFill/>
        </p:spPr>
        <p:txBody>
          <a:bodyPr wrap="none" rtlCol="1">
            <a:spAutoFit/>
          </a:bodyPr>
          <a:lstStyle/>
          <a:p>
            <a:r>
              <a:rPr lang="en-US" sz="3600" b="1" dirty="0" smtClean="0"/>
              <a:t>1. Relational Databases (RDBMS)</a:t>
            </a:r>
            <a:endParaRPr lang="ar-EG" sz="3600" b="1" dirty="0"/>
          </a:p>
        </p:txBody>
      </p:sp>
      <p:sp>
        <p:nvSpPr>
          <p:cNvPr id="9"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ar-EG" sz="1800" b="1" i="0" u="none" strike="noStrike" cap="none" normalizeH="0" baseline="0" smtClean="0">
                <a:ln>
                  <a:noFill/>
                </a:ln>
                <a:solidFill>
                  <a:schemeClr val="tx1"/>
                </a:solidFill>
                <a:effectLst/>
                <a:latin typeface="Arial" panose="020B0604020202020204" pitchFamily="34" charset="0"/>
              </a:rPr>
              <a:t>Structure</a:t>
            </a:r>
            <a:r>
              <a:rPr kumimoji="0" lang="ar-EG" sz="1800" b="0" i="0" u="none" strike="noStrike" cap="none" normalizeH="0" baseline="0" smtClean="0">
                <a:ln>
                  <a:noFill/>
                </a:ln>
                <a:solidFill>
                  <a:schemeClr val="tx1"/>
                </a:solidFill>
                <a:effectLst/>
                <a:latin typeface="Arial" panose="020B0604020202020204" pitchFamily="34" charset="0"/>
              </a:rPr>
              <a:t>: Data is organized into tables (relations) with rows and columns.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ar-EG" sz="1800" b="0" i="0" u="none" strike="noStrike" cap="none" normalizeH="0" baseline="0" smtClean="0">
              <a:ln>
                <a:noFill/>
              </a:ln>
              <a:solidFill>
                <a:schemeClr val="tx1"/>
              </a:solidFill>
              <a:effectLst/>
              <a:latin typeface="Arial" panose="020B0604020202020204" pitchFamily="34" charset="0"/>
            </a:endParaRPr>
          </a:p>
        </p:txBody>
      </p:sp>
      <p:sp>
        <p:nvSpPr>
          <p:cNvPr id="10" name="TextBox 9"/>
          <p:cNvSpPr txBox="1"/>
          <p:nvPr/>
        </p:nvSpPr>
        <p:spPr>
          <a:xfrm>
            <a:off x="568944" y="2413070"/>
            <a:ext cx="8321510" cy="369332"/>
          </a:xfrm>
          <a:prstGeom prst="rect">
            <a:avLst/>
          </a:prstGeom>
          <a:noFill/>
        </p:spPr>
        <p:txBody>
          <a:bodyPr wrap="none" rtlCol="1">
            <a:spAutoFit/>
          </a:bodyPr>
          <a:lstStyle/>
          <a:p>
            <a:r>
              <a:rPr lang="en-US" b="1" dirty="0" smtClean="0"/>
              <a:t>Structure</a:t>
            </a:r>
            <a:r>
              <a:rPr lang="en-US" dirty="0" smtClean="0"/>
              <a:t>: Data is organized into tables (relations) with rows and columns.</a:t>
            </a:r>
            <a:endParaRPr lang="ar-EG" dirty="0"/>
          </a:p>
        </p:txBody>
      </p:sp>
      <p:sp>
        <p:nvSpPr>
          <p:cNvPr id="11" name="TextBox 10"/>
          <p:cNvSpPr txBox="1"/>
          <p:nvPr/>
        </p:nvSpPr>
        <p:spPr>
          <a:xfrm>
            <a:off x="568944" y="3472828"/>
            <a:ext cx="8642109" cy="369332"/>
          </a:xfrm>
          <a:prstGeom prst="rect">
            <a:avLst/>
          </a:prstGeom>
          <a:noFill/>
        </p:spPr>
        <p:txBody>
          <a:bodyPr wrap="none" rtlCol="1">
            <a:spAutoFit/>
          </a:bodyPr>
          <a:lstStyle/>
          <a:p>
            <a:r>
              <a:rPr lang="en-US" b="1" dirty="0" smtClean="0"/>
              <a:t>Examples</a:t>
            </a:r>
            <a:r>
              <a:rPr lang="en-US" dirty="0" smtClean="0"/>
              <a:t>: </a:t>
            </a:r>
            <a:r>
              <a:rPr lang="en-US" dirty="0"/>
              <a:t>MySQL, </a:t>
            </a:r>
            <a:r>
              <a:rPr lang="en-US" dirty="0" err="1" smtClean="0"/>
              <a:t>PostgreSQL</a:t>
            </a:r>
            <a:r>
              <a:rPr lang="en-US" dirty="0" smtClean="0"/>
              <a:t>, </a:t>
            </a:r>
            <a:r>
              <a:rPr lang="en-US" dirty="0"/>
              <a:t>Microsoft SQL Server, and Oracle Database.</a:t>
            </a:r>
            <a:endParaRPr lang="ar-EG" dirty="0"/>
          </a:p>
        </p:txBody>
      </p:sp>
      <p:sp>
        <p:nvSpPr>
          <p:cNvPr id="12" name="TextBox 11"/>
          <p:cNvSpPr txBox="1"/>
          <p:nvPr/>
        </p:nvSpPr>
        <p:spPr>
          <a:xfrm>
            <a:off x="568944" y="4478081"/>
            <a:ext cx="7226658" cy="646331"/>
          </a:xfrm>
          <a:prstGeom prst="rect">
            <a:avLst/>
          </a:prstGeom>
          <a:noFill/>
        </p:spPr>
        <p:txBody>
          <a:bodyPr wrap="none" rtlCol="1">
            <a:spAutoFit/>
          </a:bodyPr>
          <a:lstStyle/>
          <a:p>
            <a:r>
              <a:rPr lang="en-US" b="1" dirty="0" smtClean="0"/>
              <a:t>Use Cases</a:t>
            </a:r>
            <a:r>
              <a:rPr lang="en-US" dirty="0" smtClean="0"/>
              <a:t>: Suitable for applications requiring complex queries, </a:t>
            </a:r>
          </a:p>
          <a:p>
            <a:r>
              <a:rPr lang="en-US" dirty="0" smtClean="0"/>
              <a:t>transaction management, and data integrity..</a:t>
            </a:r>
            <a:endParaRPr lang="ar-EG" dirty="0"/>
          </a:p>
        </p:txBody>
      </p:sp>
    </p:spTree>
    <p:extLst>
      <p:ext uri="{BB962C8B-B14F-4D97-AF65-F5344CB8AC3E}">
        <p14:creationId xmlns:p14="http://schemas.microsoft.com/office/powerpoint/2010/main" val="28878584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3304" y="0"/>
            <a:ext cx="1758696" cy="1353312"/>
          </a:xfrm>
          <a:prstGeom prst="rect">
            <a:avLst/>
          </a:prstGeom>
        </p:spPr>
      </p:pic>
      <p:sp>
        <p:nvSpPr>
          <p:cNvPr id="6" name="TextBox 5"/>
          <p:cNvSpPr txBox="1"/>
          <p:nvPr/>
        </p:nvSpPr>
        <p:spPr>
          <a:xfrm>
            <a:off x="10309753" y="6488668"/>
            <a:ext cx="1882247" cy="369332"/>
          </a:xfrm>
          <a:prstGeom prst="rect">
            <a:avLst/>
          </a:prstGeom>
          <a:noFill/>
        </p:spPr>
        <p:txBody>
          <a:bodyPr wrap="none" rtlCol="1">
            <a:spAutoFit/>
          </a:bodyPr>
          <a:lstStyle/>
          <a:p>
            <a:r>
              <a:rPr lang="en-US" b="1" dirty="0" smtClean="0">
                <a:solidFill>
                  <a:schemeClr val="accent3">
                    <a:lumMod val="40000"/>
                    <a:lumOff val="60000"/>
                  </a:schemeClr>
                </a:solidFill>
              </a:rPr>
              <a:t>By </a:t>
            </a:r>
            <a:r>
              <a:rPr lang="en-US" b="1" dirty="0" err="1" smtClean="0">
                <a:solidFill>
                  <a:schemeClr val="accent3">
                    <a:lumMod val="40000"/>
                    <a:lumOff val="60000"/>
                  </a:schemeClr>
                </a:solidFill>
              </a:rPr>
              <a:t>Eslam</a:t>
            </a:r>
            <a:r>
              <a:rPr lang="en-US" b="1" dirty="0" smtClean="0">
                <a:solidFill>
                  <a:schemeClr val="accent3">
                    <a:lumMod val="40000"/>
                    <a:lumOff val="60000"/>
                  </a:schemeClr>
                </a:solidFill>
              </a:rPr>
              <a:t> </a:t>
            </a:r>
            <a:r>
              <a:rPr lang="en-US" b="1" dirty="0" err="1" smtClean="0">
                <a:solidFill>
                  <a:schemeClr val="accent3">
                    <a:lumMod val="40000"/>
                    <a:lumOff val="60000"/>
                  </a:schemeClr>
                </a:solidFill>
              </a:rPr>
              <a:t>Khder</a:t>
            </a:r>
            <a:endParaRPr lang="ar-EG" b="1" dirty="0">
              <a:solidFill>
                <a:schemeClr val="accent3">
                  <a:lumMod val="40000"/>
                  <a:lumOff val="60000"/>
                </a:schemeClr>
              </a:solidFill>
            </a:endParaRPr>
          </a:p>
        </p:txBody>
      </p:sp>
      <p:sp>
        <p:nvSpPr>
          <p:cNvPr id="4" name="TextBox 3"/>
          <p:cNvSpPr txBox="1"/>
          <p:nvPr/>
        </p:nvSpPr>
        <p:spPr>
          <a:xfrm>
            <a:off x="2608171" y="706981"/>
            <a:ext cx="6758645" cy="1200329"/>
          </a:xfrm>
          <a:prstGeom prst="rect">
            <a:avLst/>
          </a:prstGeom>
          <a:noFill/>
        </p:spPr>
        <p:txBody>
          <a:bodyPr wrap="none" rtlCol="1">
            <a:spAutoFit/>
          </a:bodyPr>
          <a:lstStyle/>
          <a:p>
            <a:r>
              <a:rPr lang="en-US" sz="3600" b="1" dirty="0" smtClean="0"/>
              <a:t>2. NON Relational Databases </a:t>
            </a:r>
          </a:p>
          <a:p>
            <a:pPr algn="ctr"/>
            <a:r>
              <a:rPr lang="en-US" sz="3600" b="1" dirty="0" smtClean="0"/>
              <a:t> (</a:t>
            </a:r>
            <a:r>
              <a:rPr lang="en-US" sz="3600" b="1" dirty="0" err="1" smtClean="0"/>
              <a:t>NoSQL</a:t>
            </a:r>
            <a:r>
              <a:rPr lang="en-US" sz="3600" b="1" dirty="0" smtClean="0"/>
              <a:t> Databases)</a:t>
            </a:r>
            <a:endParaRPr lang="ar-EG" sz="3600" b="1" dirty="0"/>
          </a:p>
        </p:txBody>
      </p:sp>
      <p:sp>
        <p:nvSpPr>
          <p:cNvPr id="9" name="Rectangle 2"/>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ar-EG" sz="1800" b="1" i="0" u="none" strike="noStrike" cap="none" normalizeH="0" baseline="0" smtClean="0">
                <a:ln>
                  <a:noFill/>
                </a:ln>
                <a:solidFill>
                  <a:schemeClr val="tx1"/>
                </a:solidFill>
                <a:effectLst/>
                <a:latin typeface="Arial" panose="020B0604020202020204" pitchFamily="34" charset="0"/>
              </a:rPr>
              <a:t>Structure</a:t>
            </a:r>
            <a:r>
              <a:rPr kumimoji="0" lang="ar-EG" sz="1800" b="0" i="0" u="none" strike="noStrike" cap="none" normalizeH="0" baseline="0" smtClean="0">
                <a:ln>
                  <a:noFill/>
                </a:ln>
                <a:solidFill>
                  <a:schemeClr val="tx1"/>
                </a:solidFill>
                <a:effectLst/>
                <a:latin typeface="Arial" panose="020B0604020202020204" pitchFamily="34" charset="0"/>
              </a:rPr>
              <a:t>: Data is organized into tables (relations) with rows and columns.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ar-EG" sz="1800" b="0" i="0" u="none" strike="noStrike" cap="none" normalizeH="0" baseline="0" smtClean="0">
              <a:ln>
                <a:noFill/>
              </a:ln>
              <a:solidFill>
                <a:schemeClr val="tx1"/>
              </a:solidFill>
              <a:effectLst/>
              <a:latin typeface="Arial" panose="020B0604020202020204" pitchFamily="34" charset="0"/>
            </a:endParaRPr>
          </a:p>
        </p:txBody>
      </p:sp>
      <p:sp>
        <p:nvSpPr>
          <p:cNvPr id="10" name="TextBox 9"/>
          <p:cNvSpPr txBox="1"/>
          <p:nvPr/>
        </p:nvSpPr>
        <p:spPr>
          <a:xfrm>
            <a:off x="568944" y="2386106"/>
            <a:ext cx="6611105" cy="369332"/>
          </a:xfrm>
          <a:prstGeom prst="rect">
            <a:avLst/>
          </a:prstGeom>
          <a:noFill/>
        </p:spPr>
        <p:txBody>
          <a:bodyPr wrap="none" rtlCol="1">
            <a:spAutoFit/>
          </a:bodyPr>
          <a:lstStyle/>
          <a:p>
            <a:r>
              <a:rPr lang="en-US" b="1" dirty="0" smtClean="0"/>
              <a:t>Non Structure</a:t>
            </a:r>
            <a:r>
              <a:rPr lang="en-US" dirty="0" smtClean="0"/>
              <a:t>: Store data as documents, typically in JSON</a:t>
            </a:r>
            <a:endParaRPr lang="ar-EG" dirty="0"/>
          </a:p>
        </p:txBody>
      </p:sp>
      <p:sp>
        <p:nvSpPr>
          <p:cNvPr id="11" name="TextBox 10"/>
          <p:cNvSpPr txBox="1"/>
          <p:nvPr/>
        </p:nvSpPr>
        <p:spPr>
          <a:xfrm>
            <a:off x="568944" y="3557050"/>
            <a:ext cx="3833102" cy="369332"/>
          </a:xfrm>
          <a:prstGeom prst="rect">
            <a:avLst/>
          </a:prstGeom>
          <a:noFill/>
        </p:spPr>
        <p:txBody>
          <a:bodyPr wrap="none" rtlCol="1">
            <a:spAutoFit/>
          </a:bodyPr>
          <a:lstStyle/>
          <a:p>
            <a:r>
              <a:rPr lang="en-US" b="1" dirty="0" smtClean="0"/>
              <a:t>Examples</a:t>
            </a:r>
            <a:r>
              <a:rPr lang="en-US" dirty="0" smtClean="0"/>
              <a:t>:  </a:t>
            </a:r>
            <a:r>
              <a:rPr lang="en-US" dirty="0" err="1" smtClean="0"/>
              <a:t>MongoDB</a:t>
            </a:r>
            <a:r>
              <a:rPr lang="en-US" dirty="0" smtClean="0"/>
              <a:t>, </a:t>
            </a:r>
            <a:r>
              <a:rPr lang="en-US" dirty="0" err="1" smtClean="0"/>
              <a:t>CouchDB</a:t>
            </a:r>
            <a:r>
              <a:rPr lang="en-US" dirty="0" smtClean="0"/>
              <a:t>.</a:t>
            </a:r>
            <a:endParaRPr lang="ar-EG" dirty="0"/>
          </a:p>
        </p:txBody>
      </p:sp>
      <p:sp>
        <p:nvSpPr>
          <p:cNvPr id="12" name="TextBox 11"/>
          <p:cNvSpPr txBox="1"/>
          <p:nvPr/>
        </p:nvSpPr>
        <p:spPr>
          <a:xfrm>
            <a:off x="568944" y="4478081"/>
            <a:ext cx="10705608" cy="646331"/>
          </a:xfrm>
          <a:prstGeom prst="rect">
            <a:avLst/>
          </a:prstGeom>
          <a:noFill/>
        </p:spPr>
        <p:txBody>
          <a:bodyPr wrap="square" rtlCol="1">
            <a:spAutoFit/>
          </a:bodyPr>
          <a:lstStyle/>
          <a:p>
            <a:pPr algn="l"/>
            <a:r>
              <a:rPr lang="en-US" b="1" dirty="0" smtClean="0"/>
              <a:t>Use Cases</a:t>
            </a:r>
            <a:r>
              <a:rPr lang="en-US" dirty="0" smtClean="0"/>
              <a:t>: Suitable for applications with flexible schema requirements, high scalability, and performance needs, such as real-time web applications and big data analytics.</a:t>
            </a:r>
            <a:endParaRPr lang="ar-EG" dirty="0"/>
          </a:p>
        </p:txBody>
      </p:sp>
    </p:spTree>
    <p:extLst>
      <p:ext uri="{BB962C8B-B14F-4D97-AF65-F5344CB8AC3E}">
        <p14:creationId xmlns:p14="http://schemas.microsoft.com/office/powerpoint/2010/main" val="49281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3304" y="0"/>
            <a:ext cx="1758696" cy="1353312"/>
          </a:xfrm>
          <a:prstGeom prst="rect">
            <a:avLst/>
          </a:prstGeom>
        </p:spPr>
      </p:pic>
      <p:sp>
        <p:nvSpPr>
          <p:cNvPr id="6" name="TextBox 5"/>
          <p:cNvSpPr txBox="1"/>
          <p:nvPr/>
        </p:nvSpPr>
        <p:spPr>
          <a:xfrm>
            <a:off x="10309753" y="6488668"/>
            <a:ext cx="1882247" cy="369332"/>
          </a:xfrm>
          <a:prstGeom prst="rect">
            <a:avLst/>
          </a:prstGeom>
          <a:noFill/>
        </p:spPr>
        <p:txBody>
          <a:bodyPr wrap="none" rtlCol="1">
            <a:spAutoFit/>
          </a:bodyPr>
          <a:lstStyle/>
          <a:p>
            <a:r>
              <a:rPr lang="en-US" b="1" dirty="0" smtClean="0">
                <a:solidFill>
                  <a:schemeClr val="accent3">
                    <a:lumMod val="40000"/>
                    <a:lumOff val="60000"/>
                  </a:schemeClr>
                </a:solidFill>
              </a:rPr>
              <a:t>By </a:t>
            </a:r>
            <a:r>
              <a:rPr lang="en-US" b="1" dirty="0" err="1" smtClean="0">
                <a:solidFill>
                  <a:schemeClr val="accent3">
                    <a:lumMod val="40000"/>
                    <a:lumOff val="60000"/>
                  </a:schemeClr>
                </a:solidFill>
              </a:rPr>
              <a:t>Eslam</a:t>
            </a:r>
            <a:r>
              <a:rPr lang="en-US" b="1" dirty="0" smtClean="0">
                <a:solidFill>
                  <a:schemeClr val="accent3">
                    <a:lumMod val="40000"/>
                    <a:lumOff val="60000"/>
                  </a:schemeClr>
                </a:solidFill>
              </a:rPr>
              <a:t> </a:t>
            </a:r>
            <a:r>
              <a:rPr lang="en-US" b="1" dirty="0" err="1" smtClean="0">
                <a:solidFill>
                  <a:schemeClr val="accent3">
                    <a:lumMod val="40000"/>
                    <a:lumOff val="60000"/>
                  </a:schemeClr>
                </a:solidFill>
              </a:rPr>
              <a:t>Khder</a:t>
            </a:r>
            <a:endParaRPr lang="ar-EG" b="1" dirty="0">
              <a:solidFill>
                <a:schemeClr val="accent3">
                  <a:lumMod val="40000"/>
                  <a:lumOff val="60000"/>
                </a:schemeClr>
              </a:solidFill>
            </a:endParaRPr>
          </a:p>
        </p:txBody>
      </p:sp>
      <p:sp>
        <p:nvSpPr>
          <p:cNvPr id="4" name="TextBox 3"/>
          <p:cNvSpPr txBox="1"/>
          <p:nvPr/>
        </p:nvSpPr>
        <p:spPr>
          <a:xfrm>
            <a:off x="605013" y="706981"/>
            <a:ext cx="9552615" cy="1200329"/>
          </a:xfrm>
          <a:prstGeom prst="rect">
            <a:avLst/>
          </a:prstGeom>
          <a:noFill/>
        </p:spPr>
        <p:txBody>
          <a:bodyPr wrap="none" rtlCol="1">
            <a:spAutoFit/>
          </a:bodyPr>
          <a:lstStyle/>
          <a:p>
            <a:pPr algn="l"/>
            <a:r>
              <a:rPr lang="en-US" sz="3600" b="1" dirty="0" smtClean="0"/>
              <a:t>We will use </a:t>
            </a:r>
            <a:r>
              <a:rPr lang="en-US" sz="3600" dirty="0" smtClean="0"/>
              <a:t>Relational Databases (RDBMS)</a:t>
            </a:r>
          </a:p>
          <a:p>
            <a:pPr algn="l"/>
            <a:r>
              <a:rPr lang="en-US" sz="3600" b="1" dirty="0"/>
              <a:t>	</a:t>
            </a:r>
            <a:r>
              <a:rPr lang="en-US" sz="3600" b="1" dirty="0" smtClean="0"/>
              <a:t>                         (Oracle DB)</a:t>
            </a:r>
            <a:endParaRPr lang="ar-EG" sz="3600" b="1" dirty="0"/>
          </a:p>
        </p:txBody>
      </p:sp>
      <p:sp>
        <p:nvSpPr>
          <p:cNvPr id="7" name="TextBox 6"/>
          <p:cNvSpPr txBox="1"/>
          <p:nvPr/>
        </p:nvSpPr>
        <p:spPr>
          <a:xfrm>
            <a:off x="563472" y="3084421"/>
            <a:ext cx="4368504" cy="646331"/>
          </a:xfrm>
          <a:prstGeom prst="rect">
            <a:avLst/>
          </a:prstGeom>
          <a:noFill/>
        </p:spPr>
        <p:txBody>
          <a:bodyPr wrap="none" rtlCol="1">
            <a:spAutoFit/>
          </a:bodyPr>
          <a:lstStyle/>
          <a:p>
            <a:r>
              <a:rPr lang="en-US" sz="3600" b="1" dirty="0" smtClean="0"/>
              <a:t>1. Install Oracle DB</a:t>
            </a:r>
            <a:endParaRPr lang="ar-EG" sz="3600" b="1" dirty="0"/>
          </a:p>
        </p:txBody>
      </p:sp>
      <p:sp>
        <p:nvSpPr>
          <p:cNvPr id="8" name="TextBox 7"/>
          <p:cNvSpPr txBox="1"/>
          <p:nvPr/>
        </p:nvSpPr>
        <p:spPr>
          <a:xfrm>
            <a:off x="487224" y="4443829"/>
            <a:ext cx="6008376" cy="646331"/>
          </a:xfrm>
          <a:prstGeom prst="rect">
            <a:avLst/>
          </a:prstGeom>
          <a:noFill/>
        </p:spPr>
        <p:txBody>
          <a:bodyPr wrap="none" rtlCol="1">
            <a:spAutoFit/>
          </a:bodyPr>
          <a:lstStyle/>
          <a:p>
            <a:r>
              <a:rPr lang="en-US" sz="3600" b="1" dirty="0" smtClean="0"/>
              <a:t>2. Download tool </a:t>
            </a:r>
            <a:r>
              <a:rPr lang="en-US" sz="3600" b="1" dirty="0" err="1" smtClean="0"/>
              <a:t>DBeaver</a:t>
            </a:r>
            <a:endParaRPr lang="ar-EG" sz="3600" b="1" dirty="0"/>
          </a:p>
        </p:txBody>
      </p:sp>
    </p:spTree>
    <p:extLst>
      <p:ext uri="{BB962C8B-B14F-4D97-AF65-F5344CB8AC3E}">
        <p14:creationId xmlns:p14="http://schemas.microsoft.com/office/powerpoint/2010/main" val="38705640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3304" y="0"/>
            <a:ext cx="1758696" cy="1353312"/>
          </a:xfrm>
          <a:prstGeom prst="rect">
            <a:avLst/>
          </a:prstGeom>
        </p:spPr>
      </p:pic>
      <p:sp>
        <p:nvSpPr>
          <p:cNvPr id="6" name="TextBox 5"/>
          <p:cNvSpPr txBox="1"/>
          <p:nvPr/>
        </p:nvSpPr>
        <p:spPr>
          <a:xfrm>
            <a:off x="10309753" y="6488668"/>
            <a:ext cx="1882247" cy="369332"/>
          </a:xfrm>
          <a:prstGeom prst="rect">
            <a:avLst/>
          </a:prstGeom>
          <a:noFill/>
        </p:spPr>
        <p:txBody>
          <a:bodyPr wrap="none" rtlCol="1">
            <a:spAutoFit/>
          </a:bodyPr>
          <a:lstStyle/>
          <a:p>
            <a:r>
              <a:rPr lang="en-US" b="1" dirty="0" smtClean="0">
                <a:solidFill>
                  <a:schemeClr val="accent3">
                    <a:lumMod val="40000"/>
                    <a:lumOff val="60000"/>
                  </a:schemeClr>
                </a:solidFill>
              </a:rPr>
              <a:t>By </a:t>
            </a:r>
            <a:r>
              <a:rPr lang="en-US" b="1" dirty="0" err="1" smtClean="0">
                <a:solidFill>
                  <a:schemeClr val="accent3">
                    <a:lumMod val="40000"/>
                    <a:lumOff val="60000"/>
                  </a:schemeClr>
                </a:solidFill>
              </a:rPr>
              <a:t>Eslam</a:t>
            </a:r>
            <a:r>
              <a:rPr lang="en-US" b="1" dirty="0" smtClean="0">
                <a:solidFill>
                  <a:schemeClr val="accent3">
                    <a:lumMod val="40000"/>
                    <a:lumOff val="60000"/>
                  </a:schemeClr>
                </a:solidFill>
              </a:rPr>
              <a:t> </a:t>
            </a:r>
            <a:r>
              <a:rPr lang="en-US" b="1" dirty="0" err="1" smtClean="0">
                <a:solidFill>
                  <a:schemeClr val="accent3">
                    <a:lumMod val="40000"/>
                    <a:lumOff val="60000"/>
                  </a:schemeClr>
                </a:solidFill>
              </a:rPr>
              <a:t>Khder</a:t>
            </a:r>
            <a:endParaRPr lang="ar-EG" b="1" dirty="0">
              <a:solidFill>
                <a:schemeClr val="accent3">
                  <a:lumMod val="40000"/>
                  <a:lumOff val="60000"/>
                </a:schemeClr>
              </a:solidFill>
            </a:endParaRPr>
          </a:p>
        </p:txBody>
      </p:sp>
      <p:sp>
        <p:nvSpPr>
          <p:cNvPr id="4" name="TextBox 3"/>
          <p:cNvSpPr txBox="1"/>
          <p:nvPr/>
        </p:nvSpPr>
        <p:spPr>
          <a:xfrm>
            <a:off x="2945877" y="676656"/>
            <a:ext cx="5960286" cy="646331"/>
          </a:xfrm>
          <a:prstGeom prst="rect">
            <a:avLst/>
          </a:prstGeom>
          <a:noFill/>
        </p:spPr>
        <p:txBody>
          <a:bodyPr wrap="none" rtlCol="1">
            <a:spAutoFit/>
          </a:bodyPr>
          <a:lstStyle/>
          <a:p>
            <a:pPr algn="l"/>
            <a:r>
              <a:rPr lang="en-US" sz="3600" dirty="0"/>
              <a:t>Unlocking the HR Schema</a:t>
            </a:r>
            <a:endParaRPr lang="ar-EG" sz="3600" b="1" dirty="0"/>
          </a:p>
        </p:txBody>
      </p:sp>
      <p:sp>
        <p:nvSpPr>
          <p:cNvPr id="7" name="TextBox 6"/>
          <p:cNvSpPr txBox="1"/>
          <p:nvPr/>
        </p:nvSpPr>
        <p:spPr>
          <a:xfrm>
            <a:off x="949437" y="2621280"/>
            <a:ext cx="10443885" cy="2862322"/>
          </a:xfrm>
          <a:prstGeom prst="rect">
            <a:avLst/>
          </a:prstGeom>
          <a:noFill/>
        </p:spPr>
        <p:txBody>
          <a:bodyPr wrap="none" rtlCol="1">
            <a:spAutoFit/>
          </a:bodyPr>
          <a:lstStyle/>
          <a:p>
            <a:pPr algn="l"/>
            <a:r>
              <a:rPr lang="en-US" sz="3600" b="1" dirty="0" err="1" smtClean="0">
                <a:solidFill>
                  <a:schemeClr val="accent4">
                    <a:lumMod val="40000"/>
                    <a:lumOff val="60000"/>
                  </a:schemeClr>
                </a:solidFill>
              </a:rPr>
              <a:t>sqlplus</a:t>
            </a:r>
            <a:r>
              <a:rPr lang="en-US" sz="3600" b="1" dirty="0" smtClean="0">
                <a:solidFill>
                  <a:schemeClr val="accent4">
                    <a:lumMod val="40000"/>
                    <a:lumOff val="60000"/>
                  </a:schemeClr>
                </a:solidFill>
              </a:rPr>
              <a:t> / as </a:t>
            </a:r>
            <a:r>
              <a:rPr lang="en-US" sz="3600" b="1" dirty="0" err="1" smtClean="0">
                <a:solidFill>
                  <a:schemeClr val="accent4">
                    <a:lumMod val="40000"/>
                    <a:lumOff val="60000"/>
                  </a:schemeClr>
                </a:solidFill>
              </a:rPr>
              <a:t>sysdba</a:t>
            </a:r>
            <a:r>
              <a:rPr lang="en-US" sz="3600" b="1" dirty="0" smtClean="0">
                <a:solidFill>
                  <a:schemeClr val="accent4">
                    <a:lumMod val="40000"/>
                    <a:lumOff val="60000"/>
                  </a:schemeClr>
                </a:solidFill>
              </a:rPr>
              <a:t>;</a:t>
            </a:r>
          </a:p>
          <a:p>
            <a:pPr algn="l"/>
            <a:r>
              <a:rPr lang="en-US" sz="3600" b="1" dirty="0" smtClean="0">
                <a:solidFill>
                  <a:schemeClr val="accent4">
                    <a:lumMod val="40000"/>
                    <a:lumOff val="60000"/>
                  </a:schemeClr>
                </a:solidFill>
              </a:rPr>
              <a:t>alter session set container=</a:t>
            </a:r>
            <a:r>
              <a:rPr lang="en-US" sz="3600" b="1" dirty="0" err="1" smtClean="0">
                <a:solidFill>
                  <a:schemeClr val="accent4">
                    <a:lumMod val="40000"/>
                    <a:lumOff val="60000"/>
                  </a:schemeClr>
                </a:solidFill>
              </a:rPr>
              <a:t>orclpdb</a:t>
            </a:r>
            <a:r>
              <a:rPr lang="en-US" sz="3600" b="1" dirty="0" smtClean="0">
                <a:solidFill>
                  <a:schemeClr val="accent4">
                    <a:lumMod val="40000"/>
                    <a:lumOff val="60000"/>
                  </a:schemeClr>
                </a:solidFill>
              </a:rPr>
              <a:t>;</a:t>
            </a:r>
          </a:p>
          <a:p>
            <a:pPr algn="l"/>
            <a:r>
              <a:rPr lang="en-US" sz="3600" b="1" dirty="0" smtClean="0">
                <a:solidFill>
                  <a:schemeClr val="accent4">
                    <a:lumMod val="40000"/>
                    <a:lumOff val="60000"/>
                  </a:schemeClr>
                </a:solidFill>
              </a:rPr>
              <a:t>alter pluggable database open;</a:t>
            </a:r>
          </a:p>
          <a:p>
            <a:pPr algn="l"/>
            <a:r>
              <a:rPr lang="en-US" sz="3600" b="1" dirty="0" smtClean="0">
                <a:solidFill>
                  <a:schemeClr val="accent4">
                    <a:lumMod val="40000"/>
                    <a:lumOff val="60000"/>
                  </a:schemeClr>
                </a:solidFill>
              </a:rPr>
              <a:t>alter pluggable database </a:t>
            </a:r>
            <a:r>
              <a:rPr lang="en-US" sz="3600" b="1" dirty="0" err="1" smtClean="0">
                <a:solidFill>
                  <a:schemeClr val="accent4">
                    <a:lumMod val="40000"/>
                    <a:lumOff val="60000"/>
                  </a:schemeClr>
                </a:solidFill>
              </a:rPr>
              <a:t>orclpdb</a:t>
            </a:r>
            <a:r>
              <a:rPr lang="en-US" sz="3600" b="1" dirty="0" smtClean="0">
                <a:solidFill>
                  <a:schemeClr val="accent4">
                    <a:lumMod val="40000"/>
                    <a:lumOff val="60000"/>
                  </a:schemeClr>
                </a:solidFill>
              </a:rPr>
              <a:t> save state;</a:t>
            </a:r>
          </a:p>
          <a:p>
            <a:pPr algn="l"/>
            <a:r>
              <a:rPr lang="en-US" sz="3600" b="1" dirty="0" smtClean="0">
                <a:solidFill>
                  <a:schemeClr val="accent4">
                    <a:lumMod val="40000"/>
                    <a:lumOff val="60000"/>
                  </a:schemeClr>
                </a:solidFill>
              </a:rPr>
              <a:t>alter user </a:t>
            </a:r>
            <a:r>
              <a:rPr lang="en-US" sz="3600" b="1" dirty="0" err="1" smtClean="0">
                <a:solidFill>
                  <a:schemeClr val="accent4">
                    <a:lumMod val="40000"/>
                    <a:lumOff val="60000"/>
                  </a:schemeClr>
                </a:solidFill>
              </a:rPr>
              <a:t>hr</a:t>
            </a:r>
            <a:r>
              <a:rPr lang="en-US" sz="3600" b="1" dirty="0" smtClean="0">
                <a:solidFill>
                  <a:schemeClr val="accent4">
                    <a:lumMod val="40000"/>
                    <a:lumOff val="60000"/>
                  </a:schemeClr>
                </a:solidFill>
              </a:rPr>
              <a:t> identified by </a:t>
            </a:r>
            <a:r>
              <a:rPr lang="en-US" sz="3600" b="1" dirty="0" err="1" smtClean="0">
                <a:solidFill>
                  <a:schemeClr val="accent4">
                    <a:lumMod val="40000"/>
                    <a:lumOff val="60000"/>
                  </a:schemeClr>
                </a:solidFill>
              </a:rPr>
              <a:t>hr</a:t>
            </a:r>
            <a:r>
              <a:rPr lang="en-US" sz="3600" b="1" dirty="0" smtClean="0">
                <a:solidFill>
                  <a:schemeClr val="accent4">
                    <a:lumMod val="40000"/>
                    <a:lumOff val="60000"/>
                  </a:schemeClr>
                </a:solidFill>
              </a:rPr>
              <a:t> account unlock;</a:t>
            </a:r>
            <a:endParaRPr lang="ar-EG" sz="3600" b="1" dirty="0">
              <a:solidFill>
                <a:schemeClr val="accent4">
                  <a:lumMod val="40000"/>
                  <a:lumOff val="60000"/>
                </a:schemeClr>
              </a:solidFill>
            </a:endParaRPr>
          </a:p>
        </p:txBody>
      </p:sp>
      <p:sp>
        <p:nvSpPr>
          <p:cNvPr id="9" name="TextBox 8"/>
          <p:cNvSpPr txBox="1"/>
          <p:nvPr/>
        </p:nvSpPr>
        <p:spPr>
          <a:xfrm>
            <a:off x="949437" y="1664131"/>
            <a:ext cx="6482865" cy="646331"/>
          </a:xfrm>
          <a:prstGeom prst="rect">
            <a:avLst/>
          </a:prstGeom>
          <a:noFill/>
        </p:spPr>
        <p:txBody>
          <a:bodyPr wrap="none" rtlCol="1">
            <a:spAutoFit/>
          </a:bodyPr>
          <a:lstStyle/>
          <a:p>
            <a:pPr algn="l"/>
            <a:r>
              <a:rPr lang="en-US" sz="3600" dirty="0" smtClean="0"/>
              <a:t>Run this query on commend</a:t>
            </a:r>
            <a:endParaRPr lang="ar-EG" sz="3600" b="1" dirty="0"/>
          </a:p>
        </p:txBody>
      </p:sp>
    </p:spTree>
    <p:extLst>
      <p:ext uri="{BB962C8B-B14F-4D97-AF65-F5344CB8AC3E}">
        <p14:creationId xmlns:p14="http://schemas.microsoft.com/office/powerpoint/2010/main" val="23970887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3304" y="0"/>
            <a:ext cx="1758696" cy="1353312"/>
          </a:xfrm>
          <a:prstGeom prst="rect">
            <a:avLst/>
          </a:prstGeom>
        </p:spPr>
      </p:pic>
      <p:sp>
        <p:nvSpPr>
          <p:cNvPr id="6" name="TextBox 5"/>
          <p:cNvSpPr txBox="1"/>
          <p:nvPr/>
        </p:nvSpPr>
        <p:spPr>
          <a:xfrm>
            <a:off x="10309753" y="6488668"/>
            <a:ext cx="1882247" cy="369332"/>
          </a:xfrm>
          <a:prstGeom prst="rect">
            <a:avLst/>
          </a:prstGeom>
          <a:noFill/>
        </p:spPr>
        <p:txBody>
          <a:bodyPr wrap="none" rtlCol="1">
            <a:spAutoFit/>
          </a:bodyPr>
          <a:lstStyle/>
          <a:p>
            <a:r>
              <a:rPr lang="en-US" b="1" dirty="0" smtClean="0">
                <a:solidFill>
                  <a:schemeClr val="accent3">
                    <a:lumMod val="40000"/>
                    <a:lumOff val="60000"/>
                  </a:schemeClr>
                </a:solidFill>
              </a:rPr>
              <a:t>By </a:t>
            </a:r>
            <a:r>
              <a:rPr lang="en-US" b="1" dirty="0" err="1" smtClean="0">
                <a:solidFill>
                  <a:schemeClr val="accent3">
                    <a:lumMod val="40000"/>
                    <a:lumOff val="60000"/>
                  </a:schemeClr>
                </a:solidFill>
              </a:rPr>
              <a:t>Eslam</a:t>
            </a:r>
            <a:r>
              <a:rPr lang="en-US" b="1" dirty="0" smtClean="0">
                <a:solidFill>
                  <a:schemeClr val="accent3">
                    <a:lumMod val="40000"/>
                    <a:lumOff val="60000"/>
                  </a:schemeClr>
                </a:solidFill>
              </a:rPr>
              <a:t> </a:t>
            </a:r>
            <a:r>
              <a:rPr lang="en-US" b="1" dirty="0" err="1" smtClean="0">
                <a:solidFill>
                  <a:schemeClr val="accent3">
                    <a:lumMod val="40000"/>
                    <a:lumOff val="60000"/>
                  </a:schemeClr>
                </a:solidFill>
              </a:rPr>
              <a:t>Khder</a:t>
            </a:r>
            <a:endParaRPr lang="ar-EG" b="1" dirty="0">
              <a:solidFill>
                <a:schemeClr val="accent3">
                  <a:lumMod val="40000"/>
                  <a:lumOff val="60000"/>
                </a:schemeClr>
              </a:solidFill>
            </a:endParaRPr>
          </a:p>
        </p:txBody>
      </p:sp>
      <p:sp>
        <p:nvSpPr>
          <p:cNvPr id="4" name="TextBox 3"/>
          <p:cNvSpPr txBox="1"/>
          <p:nvPr/>
        </p:nvSpPr>
        <p:spPr>
          <a:xfrm>
            <a:off x="2945877" y="353490"/>
            <a:ext cx="5960286" cy="646331"/>
          </a:xfrm>
          <a:prstGeom prst="rect">
            <a:avLst/>
          </a:prstGeom>
          <a:noFill/>
        </p:spPr>
        <p:txBody>
          <a:bodyPr wrap="none" rtlCol="1">
            <a:spAutoFit/>
          </a:bodyPr>
          <a:lstStyle/>
          <a:p>
            <a:pPr algn="l"/>
            <a:r>
              <a:rPr lang="en-US" sz="3600" dirty="0"/>
              <a:t>Unlocking the HR Schema</a:t>
            </a:r>
            <a:endParaRPr lang="ar-EG" sz="3600" b="1" dirty="0"/>
          </a:p>
        </p:txBody>
      </p:sp>
      <p:pic>
        <p:nvPicPr>
          <p:cNvPr id="2" name="Picture 1"/>
          <p:cNvPicPr>
            <a:picLocks noChangeAspect="1"/>
          </p:cNvPicPr>
          <p:nvPr/>
        </p:nvPicPr>
        <p:blipFill>
          <a:blip r:embed="rId3"/>
          <a:stretch>
            <a:fillRect/>
          </a:stretch>
        </p:blipFill>
        <p:spPr>
          <a:xfrm>
            <a:off x="1544520" y="1239703"/>
            <a:ext cx="8763000" cy="5362575"/>
          </a:xfrm>
          <a:prstGeom prst="rect">
            <a:avLst/>
          </a:prstGeom>
        </p:spPr>
      </p:pic>
    </p:spTree>
    <p:extLst>
      <p:ext uri="{BB962C8B-B14F-4D97-AF65-F5344CB8AC3E}">
        <p14:creationId xmlns:p14="http://schemas.microsoft.com/office/powerpoint/2010/main" val="3931587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3304" y="0"/>
            <a:ext cx="1758696" cy="1353312"/>
          </a:xfrm>
          <a:prstGeom prst="rect">
            <a:avLst/>
          </a:prstGeom>
        </p:spPr>
      </p:pic>
      <p:sp>
        <p:nvSpPr>
          <p:cNvPr id="6" name="TextBox 5"/>
          <p:cNvSpPr txBox="1"/>
          <p:nvPr/>
        </p:nvSpPr>
        <p:spPr>
          <a:xfrm>
            <a:off x="10309753" y="6488668"/>
            <a:ext cx="1882247" cy="369332"/>
          </a:xfrm>
          <a:prstGeom prst="rect">
            <a:avLst/>
          </a:prstGeom>
          <a:noFill/>
        </p:spPr>
        <p:txBody>
          <a:bodyPr wrap="none" rtlCol="1">
            <a:spAutoFit/>
          </a:bodyPr>
          <a:lstStyle/>
          <a:p>
            <a:r>
              <a:rPr lang="en-US" b="1" dirty="0" smtClean="0">
                <a:solidFill>
                  <a:schemeClr val="accent3">
                    <a:lumMod val="40000"/>
                    <a:lumOff val="60000"/>
                  </a:schemeClr>
                </a:solidFill>
              </a:rPr>
              <a:t>By </a:t>
            </a:r>
            <a:r>
              <a:rPr lang="en-US" b="1" dirty="0" err="1" smtClean="0">
                <a:solidFill>
                  <a:schemeClr val="accent3">
                    <a:lumMod val="40000"/>
                    <a:lumOff val="60000"/>
                  </a:schemeClr>
                </a:solidFill>
              </a:rPr>
              <a:t>Eslam</a:t>
            </a:r>
            <a:r>
              <a:rPr lang="en-US" b="1" dirty="0" smtClean="0">
                <a:solidFill>
                  <a:schemeClr val="accent3">
                    <a:lumMod val="40000"/>
                    <a:lumOff val="60000"/>
                  </a:schemeClr>
                </a:solidFill>
              </a:rPr>
              <a:t> </a:t>
            </a:r>
            <a:r>
              <a:rPr lang="en-US" b="1" dirty="0" err="1" smtClean="0">
                <a:solidFill>
                  <a:schemeClr val="accent3">
                    <a:lumMod val="40000"/>
                    <a:lumOff val="60000"/>
                  </a:schemeClr>
                </a:solidFill>
              </a:rPr>
              <a:t>Khder</a:t>
            </a:r>
            <a:endParaRPr lang="ar-EG" b="1" dirty="0">
              <a:solidFill>
                <a:schemeClr val="accent3">
                  <a:lumMod val="40000"/>
                  <a:lumOff val="60000"/>
                </a:schemeClr>
              </a:solidFill>
            </a:endParaRPr>
          </a:p>
        </p:txBody>
      </p:sp>
      <p:sp>
        <p:nvSpPr>
          <p:cNvPr id="2" name="TextBox 1"/>
          <p:cNvSpPr txBox="1"/>
          <p:nvPr/>
        </p:nvSpPr>
        <p:spPr>
          <a:xfrm>
            <a:off x="695091" y="3108960"/>
            <a:ext cx="5426486" cy="369332"/>
          </a:xfrm>
          <a:prstGeom prst="rect">
            <a:avLst/>
          </a:prstGeom>
          <a:noFill/>
        </p:spPr>
        <p:txBody>
          <a:bodyPr wrap="none" rtlCol="1">
            <a:spAutoFit/>
          </a:bodyPr>
          <a:lstStyle/>
          <a:p>
            <a:pPr algn="l"/>
            <a:r>
              <a:rPr lang="en-US" dirty="0" smtClean="0"/>
              <a:t>1 - Data </a:t>
            </a:r>
            <a:r>
              <a:rPr lang="en-US" dirty="0"/>
              <a:t>Definition Language (DDL) </a:t>
            </a:r>
            <a:r>
              <a:rPr lang="en-US" dirty="0" smtClean="0"/>
              <a:t>Statements</a:t>
            </a:r>
            <a:endParaRPr lang="ar-EG" dirty="0"/>
          </a:p>
        </p:txBody>
      </p:sp>
      <p:sp>
        <p:nvSpPr>
          <p:cNvPr id="7" name="TextBox 6"/>
          <p:cNvSpPr txBox="1"/>
          <p:nvPr/>
        </p:nvSpPr>
        <p:spPr>
          <a:xfrm>
            <a:off x="695091" y="3871368"/>
            <a:ext cx="5896166" cy="369332"/>
          </a:xfrm>
          <a:prstGeom prst="rect">
            <a:avLst/>
          </a:prstGeom>
          <a:noFill/>
        </p:spPr>
        <p:txBody>
          <a:bodyPr wrap="none" rtlCol="1">
            <a:spAutoFit/>
          </a:bodyPr>
          <a:lstStyle/>
          <a:p>
            <a:pPr algn="l"/>
            <a:r>
              <a:rPr lang="en-US" dirty="0" smtClean="0"/>
              <a:t>2 - Data </a:t>
            </a:r>
            <a:r>
              <a:rPr lang="en-US" dirty="0"/>
              <a:t>Manipulation Language (DML) Statements</a:t>
            </a:r>
            <a:endParaRPr lang="ar-EG" dirty="0"/>
          </a:p>
        </p:txBody>
      </p:sp>
      <p:sp>
        <p:nvSpPr>
          <p:cNvPr id="8" name="TextBox 7"/>
          <p:cNvSpPr txBox="1"/>
          <p:nvPr/>
        </p:nvSpPr>
        <p:spPr>
          <a:xfrm>
            <a:off x="695091" y="4633776"/>
            <a:ext cx="3900427" cy="369332"/>
          </a:xfrm>
          <a:prstGeom prst="rect">
            <a:avLst/>
          </a:prstGeom>
          <a:noFill/>
        </p:spPr>
        <p:txBody>
          <a:bodyPr wrap="none" rtlCol="1">
            <a:spAutoFit/>
          </a:bodyPr>
          <a:lstStyle/>
          <a:p>
            <a:pPr algn="l"/>
            <a:r>
              <a:rPr lang="en-US" dirty="0" smtClean="0"/>
              <a:t>3 - </a:t>
            </a:r>
            <a:r>
              <a:rPr lang="en-US" dirty="0"/>
              <a:t>Data Control </a:t>
            </a:r>
            <a:r>
              <a:rPr lang="en-US" dirty="0" smtClean="0"/>
              <a:t>Language (DCL)</a:t>
            </a:r>
            <a:endParaRPr lang="ar-EG" dirty="0"/>
          </a:p>
        </p:txBody>
      </p:sp>
      <p:sp>
        <p:nvSpPr>
          <p:cNvPr id="3" name="TextBox 2"/>
          <p:cNvSpPr txBox="1"/>
          <p:nvPr/>
        </p:nvSpPr>
        <p:spPr>
          <a:xfrm>
            <a:off x="2917269" y="1122479"/>
            <a:ext cx="6418755" cy="461665"/>
          </a:xfrm>
          <a:prstGeom prst="rect">
            <a:avLst/>
          </a:prstGeom>
          <a:noFill/>
        </p:spPr>
        <p:txBody>
          <a:bodyPr wrap="square" rtlCol="1">
            <a:spAutoFit/>
          </a:bodyPr>
          <a:lstStyle/>
          <a:p>
            <a:pPr algn="l"/>
            <a:r>
              <a:rPr lang="en-US" sz="2400" b="1" dirty="0" smtClean="0"/>
              <a:t>SQL Commands | DDL, DML,  DCL</a:t>
            </a:r>
            <a:endParaRPr lang="en-US" sz="2400" b="1" dirty="0"/>
          </a:p>
        </p:txBody>
      </p:sp>
    </p:spTree>
    <p:extLst>
      <p:ext uri="{BB962C8B-B14F-4D97-AF65-F5344CB8AC3E}">
        <p14:creationId xmlns:p14="http://schemas.microsoft.com/office/powerpoint/2010/main" val="38330925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3304" y="0"/>
            <a:ext cx="1758696" cy="1353312"/>
          </a:xfrm>
          <a:prstGeom prst="rect">
            <a:avLst/>
          </a:prstGeom>
        </p:spPr>
      </p:pic>
      <p:sp>
        <p:nvSpPr>
          <p:cNvPr id="6" name="TextBox 5"/>
          <p:cNvSpPr txBox="1"/>
          <p:nvPr/>
        </p:nvSpPr>
        <p:spPr>
          <a:xfrm>
            <a:off x="10309753" y="6488668"/>
            <a:ext cx="1882247" cy="369332"/>
          </a:xfrm>
          <a:prstGeom prst="rect">
            <a:avLst/>
          </a:prstGeom>
          <a:noFill/>
        </p:spPr>
        <p:txBody>
          <a:bodyPr wrap="none" rtlCol="1">
            <a:spAutoFit/>
          </a:bodyPr>
          <a:lstStyle/>
          <a:p>
            <a:r>
              <a:rPr lang="en-US" b="1" dirty="0" smtClean="0">
                <a:solidFill>
                  <a:schemeClr val="accent3">
                    <a:lumMod val="40000"/>
                    <a:lumOff val="60000"/>
                  </a:schemeClr>
                </a:solidFill>
              </a:rPr>
              <a:t>By </a:t>
            </a:r>
            <a:r>
              <a:rPr lang="en-US" b="1" dirty="0" err="1" smtClean="0">
                <a:solidFill>
                  <a:schemeClr val="accent3">
                    <a:lumMod val="40000"/>
                    <a:lumOff val="60000"/>
                  </a:schemeClr>
                </a:solidFill>
              </a:rPr>
              <a:t>Eslam</a:t>
            </a:r>
            <a:r>
              <a:rPr lang="en-US" b="1" dirty="0" smtClean="0">
                <a:solidFill>
                  <a:schemeClr val="accent3">
                    <a:lumMod val="40000"/>
                    <a:lumOff val="60000"/>
                  </a:schemeClr>
                </a:solidFill>
              </a:rPr>
              <a:t> </a:t>
            </a:r>
            <a:r>
              <a:rPr lang="en-US" b="1" dirty="0" err="1" smtClean="0">
                <a:solidFill>
                  <a:schemeClr val="accent3">
                    <a:lumMod val="40000"/>
                    <a:lumOff val="60000"/>
                  </a:schemeClr>
                </a:solidFill>
              </a:rPr>
              <a:t>Khder</a:t>
            </a:r>
            <a:endParaRPr lang="ar-EG" b="1" dirty="0">
              <a:solidFill>
                <a:schemeClr val="accent3">
                  <a:lumMod val="40000"/>
                  <a:lumOff val="60000"/>
                </a:schemeClr>
              </a:solidFill>
            </a:endParaRPr>
          </a:p>
        </p:txBody>
      </p:sp>
      <p:sp>
        <p:nvSpPr>
          <p:cNvPr id="2" name="TextBox 1"/>
          <p:cNvSpPr txBox="1"/>
          <p:nvPr/>
        </p:nvSpPr>
        <p:spPr>
          <a:xfrm>
            <a:off x="1266551" y="3218688"/>
            <a:ext cx="9166753" cy="1200329"/>
          </a:xfrm>
          <a:prstGeom prst="rect">
            <a:avLst/>
          </a:prstGeom>
          <a:noFill/>
        </p:spPr>
        <p:txBody>
          <a:bodyPr wrap="square" rtlCol="1">
            <a:spAutoFit/>
          </a:bodyPr>
          <a:lstStyle/>
          <a:p>
            <a:pPr algn="l"/>
            <a:r>
              <a:rPr lang="en-US" b="1" dirty="0" smtClean="0"/>
              <a:t>DDL or Data Definition Language actually consists of the SQL commands that can be used to define the database schema. It simply deals with descriptions of the database schema and is used to create and modify the structure of database objects in the database.</a:t>
            </a:r>
          </a:p>
        </p:txBody>
      </p:sp>
      <p:sp>
        <p:nvSpPr>
          <p:cNvPr id="3" name="TextBox 2"/>
          <p:cNvSpPr txBox="1"/>
          <p:nvPr/>
        </p:nvSpPr>
        <p:spPr>
          <a:xfrm>
            <a:off x="1792557" y="1049327"/>
            <a:ext cx="7799499" cy="461665"/>
          </a:xfrm>
          <a:prstGeom prst="rect">
            <a:avLst/>
          </a:prstGeom>
          <a:noFill/>
        </p:spPr>
        <p:txBody>
          <a:bodyPr wrap="square" rtlCol="1">
            <a:spAutoFit/>
          </a:bodyPr>
          <a:lstStyle/>
          <a:p>
            <a:pPr algn="l"/>
            <a:r>
              <a:rPr lang="en-US" sz="2400" b="1" dirty="0" smtClean="0"/>
              <a:t>Data Definition Language (DDL) Statements</a:t>
            </a:r>
            <a:endParaRPr lang="en-US" sz="2400" b="1" dirty="0"/>
          </a:p>
        </p:txBody>
      </p:sp>
    </p:spTree>
    <p:extLst>
      <p:ext uri="{BB962C8B-B14F-4D97-AF65-F5344CB8AC3E}">
        <p14:creationId xmlns:p14="http://schemas.microsoft.com/office/powerpoint/2010/main" val="13612195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3304" y="0"/>
            <a:ext cx="1758696" cy="1353312"/>
          </a:xfrm>
          <a:prstGeom prst="rect">
            <a:avLst/>
          </a:prstGeom>
        </p:spPr>
      </p:pic>
      <p:sp>
        <p:nvSpPr>
          <p:cNvPr id="6" name="TextBox 5"/>
          <p:cNvSpPr txBox="1"/>
          <p:nvPr/>
        </p:nvSpPr>
        <p:spPr>
          <a:xfrm>
            <a:off x="10309753" y="6488668"/>
            <a:ext cx="1882247" cy="369332"/>
          </a:xfrm>
          <a:prstGeom prst="rect">
            <a:avLst/>
          </a:prstGeom>
          <a:noFill/>
        </p:spPr>
        <p:txBody>
          <a:bodyPr wrap="none" rtlCol="1">
            <a:spAutoFit/>
          </a:bodyPr>
          <a:lstStyle/>
          <a:p>
            <a:r>
              <a:rPr lang="en-US" b="1" dirty="0" smtClean="0">
                <a:solidFill>
                  <a:schemeClr val="accent3">
                    <a:lumMod val="40000"/>
                    <a:lumOff val="60000"/>
                  </a:schemeClr>
                </a:solidFill>
              </a:rPr>
              <a:t>By </a:t>
            </a:r>
            <a:r>
              <a:rPr lang="en-US" b="1" dirty="0" err="1" smtClean="0">
                <a:solidFill>
                  <a:schemeClr val="accent3">
                    <a:lumMod val="40000"/>
                    <a:lumOff val="60000"/>
                  </a:schemeClr>
                </a:solidFill>
              </a:rPr>
              <a:t>Eslam</a:t>
            </a:r>
            <a:r>
              <a:rPr lang="en-US" b="1" dirty="0" smtClean="0">
                <a:solidFill>
                  <a:schemeClr val="accent3">
                    <a:lumMod val="40000"/>
                    <a:lumOff val="60000"/>
                  </a:schemeClr>
                </a:solidFill>
              </a:rPr>
              <a:t> </a:t>
            </a:r>
            <a:r>
              <a:rPr lang="en-US" b="1" dirty="0" err="1" smtClean="0">
                <a:solidFill>
                  <a:schemeClr val="accent3">
                    <a:lumMod val="40000"/>
                    <a:lumOff val="60000"/>
                  </a:schemeClr>
                </a:solidFill>
              </a:rPr>
              <a:t>Khder</a:t>
            </a:r>
            <a:endParaRPr lang="ar-EG" b="1" dirty="0">
              <a:solidFill>
                <a:schemeClr val="accent3">
                  <a:lumMod val="40000"/>
                  <a:lumOff val="60000"/>
                </a:schemeClr>
              </a:solidFill>
            </a:endParaRPr>
          </a:p>
        </p:txBody>
      </p:sp>
      <p:graphicFrame>
        <p:nvGraphicFramePr>
          <p:cNvPr id="4" name="Table 3"/>
          <p:cNvGraphicFramePr>
            <a:graphicFrameLocks noGrp="1"/>
          </p:cNvGraphicFramePr>
          <p:nvPr>
            <p:extLst>
              <p:ext uri="{D42A27DB-BD31-4B8C-83A1-F6EECF244321}">
                <p14:modId xmlns:p14="http://schemas.microsoft.com/office/powerpoint/2010/main" val="3002689873"/>
              </p:ext>
            </p:extLst>
          </p:nvPr>
        </p:nvGraphicFramePr>
        <p:xfrm>
          <a:off x="1275480" y="1126798"/>
          <a:ext cx="8618328" cy="4899098"/>
        </p:xfrm>
        <a:graphic>
          <a:graphicData uri="http://schemas.openxmlformats.org/drawingml/2006/table">
            <a:tbl>
              <a:tblPr/>
              <a:tblGrid>
                <a:gridCol w="2269186"/>
                <a:gridCol w="3174571"/>
                <a:gridCol w="3174571"/>
              </a:tblGrid>
              <a:tr h="183577">
                <a:tc>
                  <a:txBody>
                    <a:bodyPr/>
                    <a:lstStyle/>
                    <a:p>
                      <a:pPr algn="ctr" fontAlgn="base"/>
                      <a:endParaRPr lang="en-US" sz="700" b="1" dirty="0">
                        <a:solidFill>
                          <a:schemeClr val="bg1"/>
                        </a:solidFill>
                        <a:effectLst/>
                      </a:endParaRPr>
                    </a:p>
                  </a:txBody>
                  <a:tcPr marL="19176" marR="19176" marT="38352" marB="38352"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base"/>
                      <a:endParaRPr lang="en-US" sz="700" b="1">
                        <a:solidFill>
                          <a:schemeClr val="bg1"/>
                        </a:solidFill>
                        <a:effectLst/>
                      </a:endParaRPr>
                    </a:p>
                  </a:txBody>
                  <a:tcPr marL="38352" marR="38352" marT="38352" marB="38352"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base"/>
                      <a:endParaRPr lang="en-US" sz="700" b="1">
                        <a:solidFill>
                          <a:schemeClr val="bg1"/>
                        </a:solidFill>
                        <a:effectLst/>
                      </a:endParaRPr>
                    </a:p>
                  </a:txBody>
                  <a:tcPr marL="38352" marR="38352" marT="38352" marB="38352"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r>
              <a:tr h="199035">
                <a:tc>
                  <a:txBody>
                    <a:bodyPr/>
                    <a:lstStyle/>
                    <a:p>
                      <a:pPr algn="ctr" fontAlgn="ctr"/>
                      <a:endParaRPr lang="en-US" sz="600" b="1" dirty="0">
                        <a:solidFill>
                          <a:schemeClr val="bg1"/>
                        </a:solidFill>
                        <a:effectLst/>
                      </a:endParaRPr>
                    </a:p>
                  </a:txBody>
                  <a:tcPr marL="38352" marR="38352" marT="53693" marB="53693"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endParaRPr lang="en-US" sz="600" b="1" dirty="0">
                        <a:solidFill>
                          <a:schemeClr val="bg1"/>
                        </a:solidFill>
                        <a:effectLst/>
                      </a:endParaRPr>
                    </a:p>
                  </a:txBody>
                  <a:tcPr marL="38352" marR="38352" marT="53693" marB="53693"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endParaRPr lang="en-US" sz="600" b="1">
                        <a:solidFill>
                          <a:schemeClr val="bg1"/>
                        </a:solidFill>
                        <a:effectLst/>
                      </a:endParaRPr>
                    </a:p>
                  </a:txBody>
                  <a:tcPr marL="38352" marR="38352" marT="53693" marB="53693"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r>
              <a:tr h="199035">
                <a:tc>
                  <a:txBody>
                    <a:bodyPr/>
                    <a:lstStyle/>
                    <a:p>
                      <a:pPr algn="ctr" fontAlgn="ctr"/>
                      <a:endParaRPr lang="en-US" sz="600" b="1" dirty="0">
                        <a:solidFill>
                          <a:schemeClr val="bg1"/>
                        </a:solidFill>
                        <a:effectLst/>
                      </a:endParaRPr>
                    </a:p>
                  </a:txBody>
                  <a:tcPr marL="38352" marR="38352" marT="53693" marB="53693"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endParaRPr lang="en-US" sz="600" b="1" dirty="0">
                        <a:solidFill>
                          <a:schemeClr val="bg1"/>
                        </a:solidFill>
                        <a:effectLst/>
                      </a:endParaRPr>
                    </a:p>
                  </a:txBody>
                  <a:tcPr marL="38352" marR="38352" marT="53693" marB="53693"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endParaRPr lang="en-US" sz="600" b="1" dirty="0">
                        <a:solidFill>
                          <a:schemeClr val="bg1"/>
                        </a:solidFill>
                        <a:effectLst/>
                      </a:endParaRPr>
                    </a:p>
                  </a:txBody>
                  <a:tcPr marL="38352" marR="38352" marT="53693" marB="53693"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r>
              <a:tr h="366144">
                <a:tc>
                  <a:txBody>
                    <a:bodyPr/>
                    <a:lstStyle/>
                    <a:p>
                      <a:pPr algn="ctr" fontAlgn="base"/>
                      <a:r>
                        <a:rPr lang="en-US" sz="1400" b="1" dirty="0">
                          <a:solidFill>
                            <a:schemeClr val="bg1"/>
                          </a:solidFill>
                          <a:effectLst/>
                        </a:rPr>
                        <a:t>Command</a:t>
                      </a:r>
                    </a:p>
                  </a:txBody>
                  <a:tcPr marL="38100" marR="38100" marT="76200" marB="7620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US" sz="1400" b="1">
                          <a:solidFill>
                            <a:schemeClr val="bg1"/>
                          </a:solidFill>
                          <a:effectLst/>
                        </a:rPr>
                        <a:t>Description</a:t>
                      </a:r>
                    </a:p>
                  </a:txBody>
                  <a:tcPr marL="76200" marR="76200" marT="76200" marB="7620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US" sz="1400" b="1" dirty="0">
                          <a:solidFill>
                            <a:schemeClr val="bg1"/>
                          </a:solidFill>
                          <a:effectLst/>
                        </a:rPr>
                        <a:t>Syntax</a:t>
                      </a:r>
                    </a:p>
                  </a:txBody>
                  <a:tcPr marL="76200" marR="76200" marT="76200" marB="7620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r>
              <a:tr h="785685">
                <a:tc>
                  <a:txBody>
                    <a:bodyPr/>
                    <a:lstStyle/>
                    <a:p>
                      <a:pPr algn="ctr" fontAlgn="ctr"/>
                      <a:r>
                        <a:rPr lang="en-US" sz="1250" b="1" u="sng" dirty="0">
                          <a:solidFill>
                            <a:schemeClr val="bg1"/>
                          </a:solidFill>
                          <a:effectLst/>
                          <a:hlinkClick r:id="rId3"/>
                        </a:rPr>
                        <a:t>CREATE</a:t>
                      </a:r>
                      <a:endParaRPr lang="en-US" sz="1250" b="1" dirty="0">
                        <a:solidFill>
                          <a:schemeClr val="bg1"/>
                        </a:solidFill>
                        <a:effectLst/>
                      </a:endParaRP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1" dirty="0">
                          <a:solidFill>
                            <a:schemeClr val="bg1"/>
                          </a:solidFill>
                          <a:effectLst/>
                        </a:rPr>
                        <a:t>Create database or its objects (table, index, function, views, store procedure, and triggers)</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1">
                          <a:solidFill>
                            <a:schemeClr val="bg1"/>
                          </a:solidFill>
                          <a:effectLst/>
                        </a:rPr>
                        <a:t>CREATE TABLE table_name (column1 data_type, column2 data_type, ...);</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r>
              <a:tr h="404284">
                <a:tc>
                  <a:txBody>
                    <a:bodyPr/>
                    <a:lstStyle/>
                    <a:p>
                      <a:pPr algn="ctr" fontAlgn="ctr"/>
                      <a:r>
                        <a:rPr lang="en-US" sz="1250" b="1" u="sng">
                          <a:solidFill>
                            <a:schemeClr val="bg1"/>
                          </a:solidFill>
                          <a:effectLst/>
                          <a:hlinkClick r:id="rId4"/>
                        </a:rPr>
                        <a:t>DROP</a:t>
                      </a:r>
                      <a:endParaRPr lang="en-US" sz="1250" b="1">
                        <a:solidFill>
                          <a:schemeClr val="bg1"/>
                        </a:solidFill>
                        <a:effectLst/>
                      </a:endParaRP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1" dirty="0">
                          <a:solidFill>
                            <a:schemeClr val="bg1"/>
                          </a:solidFill>
                          <a:effectLst/>
                        </a:rPr>
                        <a:t>Delete objects from the database</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1">
                          <a:solidFill>
                            <a:schemeClr val="bg1"/>
                          </a:solidFill>
                          <a:effectLst/>
                        </a:rPr>
                        <a:t>DROP TABLE table_name;</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r>
              <a:tr h="785685">
                <a:tc>
                  <a:txBody>
                    <a:bodyPr/>
                    <a:lstStyle/>
                    <a:p>
                      <a:pPr algn="ctr" fontAlgn="ctr"/>
                      <a:r>
                        <a:rPr lang="en-US" sz="1250" b="1" u="sng">
                          <a:solidFill>
                            <a:schemeClr val="bg1"/>
                          </a:solidFill>
                          <a:effectLst/>
                          <a:hlinkClick r:id="rId5"/>
                        </a:rPr>
                        <a:t>ALTER</a:t>
                      </a:r>
                      <a:endParaRPr lang="en-US" sz="1250" b="1">
                        <a:solidFill>
                          <a:schemeClr val="bg1"/>
                        </a:solidFill>
                        <a:effectLst/>
                      </a:endParaRP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1" dirty="0">
                          <a:solidFill>
                            <a:schemeClr val="bg1"/>
                          </a:solidFill>
                          <a:effectLst/>
                        </a:rPr>
                        <a:t>Alter the structure of the database</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1" dirty="0">
                          <a:solidFill>
                            <a:schemeClr val="bg1"/>
                          </a:solidFill>
                          <a:effectLst/>
                        </a:rPr>
                        <a:t>ALTER TABLE </a:t>
                      </a:r>
                      <a:r>
                        <a:rPr lang="en-US" sz="1250" b="1" dirty="0" err="1">
                          <a:solidFill>
                            <a:schemeClr val="bg1"/>
                          </a:solidFill>
                          <a:effectLst/>
                        </a:rPr>
                        <a:t>table_name</a:t>
                      </a:r>
                      <a:r>
                        <a:rPr lang="en-US" sz="1250" b="1" dirty="0">
                          <a:solidFill>
                            <a:schemeClr val="bg1"/>
                          </a:solidFill>
                          <a:effectLst/>
                        </a:rPr>
                        <a:t> ADD COLUMN </a:t>
                      </a:r>
                      <a:r>
                        <a:rPr lang="en-US" sz="1250" b="1" dirty="0" err="1">
                          <a:solidFill>
                            <a:schemeClr val="bg1"/>
                          </a:solidFill>
                          <a:effectLst/>
                        </a:rPr>
                        <a:t>column_name</a:t>
                      </a:r>
                      <a:r>
                        <a:rPr lang="en-US" sz="1250" b="1" dirty="0">
                          <a:solidFill>
                            <a:schemeClr val="bg1"/>
                          </a:solidFill>
                          <a:effectLst/>
                        </a:rPr>
                        <a:t> </a:t>
                      </a:r>
                      <a:r>
                        <a:rPr lang="en-US" sz="1250" b="1" dirty="0" err="1">
                          <a:solidFill>
                            <a:schemeClr val="bg1"/>
                          </a:solidFill>
                          <a:effectLst/>
                        </a:rPr>
                        <a:t>data_type</a:t>
                      </a:r>
                      <a:r>
                        <a:rPr lang="en-US" sz="1250" b="1" dirty="0">
                          <a:solidFill>
                            <a:schemeClr val="bg1"/>
                          </a:solidFill>
                          <a:effectLst/>
                        </a:rPr>
                        <a:t>;</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r>
              <a:tr h="785685">
                <a:tc>
                  <a:txBody>
                    <a:bodyPr/>
                    <a:lstStyle/>
                    <a:p>
                      <a:pPr algn="ctr" fontAlgn="ctr"/>
                      <a:r>
                        <a:rPr lang="en-US" sz="1250" b="1" u="sng">
                          <a:solidFill>
                            <a:schemeClr val="bg1"/>
                          </a:solidFill>
                          <a:effectLst/>
                          <a:hlinkClick r:id="rId4"/>
                        </a:rPr>
                        <a:t>TRUNCATE</a:t>
                      </a:r>
                      <a:endParaRPr lang="en-US" sz="1250" b="1">
                        <a:solidFill>
                          <a:schemeClr val="bg1"/>
                        </a:solidFill>
                        <a:effectLst/>
                      </a:endParaRP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1">
                          <a:solidFill>
                            <a:schemeClr val="bg1"/>
                          </a:solidFill>
                          <a:effectLst/>
                        </a:rPr>
                        <a:t>Remove all records from a table, including all spaces allocated for the records are removed</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1" dirty="0">
                          <a:solidFill>
                            <a:schemeClr val="bg1"/>
                          </a:solidFill>
                          <a:effectLst/>
                        </a:rPr>
                        <a:t>TRUNCATE TABLE </a:t>
                      </a:r>
                      <a:r>
                        <a:rPr lang="en-US" sz="1250" b="1" dirty="0" err="1">
                          <a:solidFill>
                            <a:schemeClr val="bg1"/>
                          </a:solidFill>
                          <a:effectLst/>
                        </a:rPr>
                        <a:t>table_name</a:t>
                      </a:r>
                      <a:r>
                        <a:rPr lang="en-US" sz="1250" b="1" dirty="0">
                          <a:solidFill>
                            <a:schemeClr val="bg1"/>
                          </a:solidFill>
                          <a:effectLst/>
                        </a:rPr>
                        <a:t>;</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chemeClr val="tx1"/>
                    </a:solidFill>
                  </a:tcPr>
                </a:tc>
              </a:tr>
              <a:tr h="594984">
                <a:tc>
                  <a:txBody>
                    <a:bodyPr/>
                    <a:lstStyle/>
                    <a:p>
                      <a:pPr algn="ctr" fontAlgn="ctr"/>
                      <a:r>
                        <a:rPr lang="en-US" sz="1250" b="1" u="sng">
                          <a:solidFill>
                            <a:schemeClr val="bg1"/>
                          </a:solidFill>
                          <a:effectLst/>
                          <a:hlinkClick r:id="rId6"/>
                        </a:rPr>
                        <a:t>COMMENT</a:t>
                      </a:r>
                      <a:endParaRPr lang="en-US" sz="1250" b="1">
                        <a:solidFill>
                          <a:schemeClr val="bg1"/>
                        </a:solidFill>
                        <a:effectLst/>
                      </a:endParaRP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1">
                          <a:solidFill>
                            <a:schemeClr val="bg1"/>
                          </a:solidFill>
                          <a:effectLst/>
                        </a:rPr>
                        <a:t>Add comments to the data dictionary</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1">
                          <a:solidFill>
                            <a:schemeClr val="bg1"/>
                          </a:solidFill>
                          <a:effectLst/>
                        </a:rPr>
                        <a:t>COMMENT 'comment_text' ON TABLE table_name;</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r>
              <a:tr h="594984">
                <a:tc>
                  <a:txBody>
                    <a:bodyPr/>
                    <a:lstStyle/>
                    <a:p>
                      <a:pPr algn="ctr" fontAlgn="ctr"/>
                      <a:r>
                        <a:rPr lang="en-US" sz="1250" b="1" u="sng">
                          <a:solidFill>
                            <a:schemeClr val="bg1"/>
                          </a:solidFill>
                          <a:effectLst/>
                          <a:hlinkClick r:id="rId7"/>
                        </a:rPr>
                        <a:t>RENAME</a:t>
                      </a:r>
                      <a:endParaRPr lang="en-US" sz="1250" b="1">
                        <a:solidFill>
                          <a:schemeClr val="bg1"/>
                        </a:solidFill>
                        <a:effectLst/>
                      </a:endParaRP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1" dirty="0">
                          <a:solidFill>
                            <a:schemeClr val="bg1"/>
                          </a:solidFill>
                          <a:effectLst/>
                        </a:rPr>
                        <a:t>Rename an object existing in the database</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1" dirty="0">
                          <a:solidFill>
                            <a:schemeClr val="bg1"/>
                          </a:solidFill>
                          <a:effectLst/>
                        </a:rPr>
                        <a:t>RENAME TABLE </a:t>
                      </a:r>
                      <a:r>
                        <a:rPr lang="en-US" sz="1250" b="1" dirty="0" err="1">
                          <a:solidFill>
                            <a:schemeClr val="bg1"/>
                          </a:solidFill>
                          <a:effectLst/>
                        </a:rPr>
                        <a:t>old_table_name</a:t>
                      </a:r>
                      <a:r>
                        <a:rPr lang="en-US" sz="1250" b="1" dirty="0">
                          <a:solidFill>
                            <a:schemeClr val="bg1"/>
                          </a:solidFill>
                          <a:effectLst/>
                        </a:rPr>
                        <a:t> TO </a:t>
                      </a:r>
                      <a:r>
                        <a:rPr lang="en-US" sz="1250" b="1" dirty="0" err="1">
                          <a:solidFill>
                            <a:schemeClr val="bg1"/>
                          </a:solidFill>
                          <a:effectLst/>
                        </a:rPr>
                        <a:t>new_table_name</a:t>
                      </a:r>
                      <a:r>
                        <a:rPr lang="en-US" sz="1250" b="1" dirty="0">
                          <a:solidFill>
                            <a:schemeClr val="bg1"/>
                          </a:solidFill>
                          <a:effectLst/>
                        </a:rPr>
                        <a:t>;</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r>
            </a:tbl>
          </a:graphicData>
        </a:graphic>
      </p:graphicFrame>
      <p:sp>
        <p:nvSpPr>
          <p:cNvPr id="7" name="TextBox 6"/>
          <p:cNvSpPr txBox="1"/>
          <p:nvPr/>
        </p:nvSpPr>
        <p:spPr>
          <a:xfrm>
            <a:off x="1765125" y="445823"/>
            <a:ext cx="7799499" cy="461665"/>
          </a:xfrm>
          <a:prstGeom prst="rect">
            <a:avLst/>
          </a:prstGeom>
          <a:noFill/>
        </p:spPr>
        <p:txBody>
          <a:bodyPr wrap="square" rtlCol="1">
            <a:spAutoFit/>
          </a:bodyPr>
          <a:lstStyle/>
          <a:p>
            <a:pPr algn="l"/>
            <a:r>
              <a:rPr lang="en-US" sz="2400" b="1" dirty="0" smtClean="0"/>
              <a:t>Data Definition Language (DDL) Statements</a:t>
            </a:r>
            <a:endParaRPr lang="en-US" sz="2400" b="1" dirty="0"/>
          </a:p>
        </p:txBody>
      </p:sp>
    </p:spTree>
    <p:extLst>
      <p:ext uri="{BB962C8B-B14F-4D97-AF65-F5344CB8AC3E}">
        <p14:creationId xmlns:p14="http://schemas.microsoft.com/office/powerpoint/2010/main" val="27820014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3304" y="0"/>
            <a:ext cx="1758696" cy="1353312"/>
          </a:xfrm>
          <a:prstGeom prst="rect">
            <a:avLst/>
          </a:prstGeom>
        </p:spPr>
      </p:pic>
      <p:sp>
        <p:nvSpPr>
          <p:cNvPr id="6" name="TextBox 5"/>
          <p:cNvSpPr txBox="1"/>
          <p:nvPr/>
        </p:nvSpPr>
        <p:spPr>
          <a:xfrm>
            <a:off x="10309753" y="6488668"/>
            <a:ext cx="1882247" cy="369332"/>
          </a:xfrm>
          <a:prstGeom prst="rect">
            <a:avLst/>
          </a:prstGeom>
          <a:noFill/>
        </p:spPr>
        <p:txBody>
          <a:bodyPr wrap="none" rtlCol="1">
            <a:spAutoFit/>
          </a:bodyPr>
          <a:lstStyle/>
          <a:p>
            <a:r>
              <a:rPr lang="en-US" b="1" dirty="0" smtClean="0">
                <a:solidFill>
                  <a:schemeClr val="accent3">
                    <a:lumMod val="40000"/>
                    <a:lumOff val="60000"/>
                  </a:schemeClr>
                </a:solidFill>
              </a:rPr>
              <a:t>By </a:t>
            </a:r>
            <a:r>
              <a:rPr lang="en-US" b="1" dirty="0" err="1" smtClean="0">
                <a:solidFill>
                  <a:schemeClr val="accent3">
                    <a:lumMod val="40000"/>
                    <a:lumOff val="60000"/>
                  </a:schemeClr>
                </a:solidFill>
              </a:rPr>
              <a:t>Eslam</a:t>
            </a:r>
            <a:r>
              <a:rPr lang="en-US" b="1" dirty="0" smtClean="0">
                <a:solidFill>
                  <a:schemeClr val="accent3">
                    <a:lumMod val="40000"/>
                    <a:lumOff val="60000"/>
                  </a:schemeClr>
                </a:solidFill>
              </a:rPr>
              <a:t> </a:t>
            </a:r>
            <a:r>
              <a:rPr lang="en-US" b="1" dirty="0" err="1" smtClean="0">
                <a:solidFill>
                  <a:schemeClr val="accent3">
                    <a:lumMod val="40000"/>
                    <a:lumOff val="60000"/>
                  </a:schemeClr>
                </a:solidFill>
              </a:rPr>
              <a:t>Khder</a:t>
            </a:r>
            <a:endParaRPr lang="ar-EG" b="1" dirty="0">
              <a:solidFill>
                <a:schemeClr val="accent3">
                  <a:lumMod val="40000"/>
                  <a:lumOff val="60000"/>
                </a:schemeClr>
              </a:solidFill>
            </a:endParaRPr>
          </a:p>
        </p:txBody>
      </p:sp>
      <p:sp>
        <p:nvSpPr>
          <p:cNvPr id="2" name="TextBox 1"/>
          <p:cNvSpPr txBox="1"/>
          <p:nvPr/>
        </p:nvSpPr>
        <p:spPr>
          <a:xfrm>
            <a:off x="695091" y="3108960"/>
            <a:ext cx="5426486" cy="369332"/>
          </a:xfrm>
          <a:prstGeom prst="rect">
            <a:avLst/>
          </a:prstGeom>
          <a:noFill/>
        </p:spPr>
        <p:txBody>
          <a:bodyPr wrap="none" rtlCol="1">
            <a:spAutoFit/>
          </a:bodyPr>
          <a:lstStyle/>
          <a:p>
            <a:pPr algn="l"/>
            <a:r>
              <a:rPr lang="en-US" dirty="0" smtClean="0"/>
              <a:t>1 - Data </a:t>
            </a:r>
            <a:r>
              <a:rPr lang="en-US" dirty="0"/>
              <a:t>Definition Language (DDL) </a:t>
            </a:r>
            <a:r>
              <a:rPr lang="en-US" dirty="0" smtClean="0"/>
              <a:t>Statements</a:t>
            </a:r>
            <a:endParaRPr lang="ar-EG" dirty="0"/>
          </a:p>
        </p:txBody>
      </p:sp>
      <p:sp>
        <p:nvSpPr>
          <p:cNvPr id="7" name="TextBox 6"/>
          <p:cNvSpPr txBox="1"/>
          <p:nvPr/>
        </p:nvSpPr>
        <p:spPr>
          <a:xfrm>
            <a:off x="695091" y="3871368"/>
            <a:ext cx="5896166" cy="369332"/>
          </a:xfrm>
          <a:prstGeom prst="rect">
            <a:avLst/>
          </a:prstGeom>
          <a:noFill/>
        </p:spPr>
        <p:txBody>
          <a:bodyPr wrap="none" rtlCol="1">
            <a:spAutoFit/>
          </a:bodyPr>
          <a:lstStyle/>
          <a:p>
            <a:pPr algn="l"/>
            <a:r>
              <a:rPr lang="en-US" dirty="0" smtClean="0"/>
              <a:t>2 - Data </a:t>
            </a:r>
            <a:r>
              <a:rPr lang="en-US" dirty="0"/>
              <a:t>Manipulation Language (DML) Statements</a:t>
            </a:r>
            <a:endParaRPr lang="ar-EG" dirty="0"/>
          </a:p>
        </p:txBody>
      </p:sp>
      <p:sp>
        <p:nvSpPr>
          <p:cNvPr id="8" name="TextBox 7"/>
          <p:cNvSpPr txBox="1"/>
          <p:nvPr/>
        </p:nvSpPr>
        <p:spPr>
          <a:xfrm>
            <a:off x="695091" y="4633776"/>
            <a:ext cx="3900427" cy="369332"/>
          </a:xfrm>
          <a:prstGeom prst="rect">
            <a:avLst/>
          </a:prstGeom>
          <a:noFill/>
        </p:spPr>
        <p:txBody>
          <a:bodyPr wrap="none" rtlCol="1">
            <a:spAutoFit/>
          </a:bodyPr>
          <a:lstStyle/>
          <a:p>
            <a:pPr algn="l"/>
            <a:r>
              <a:rPr lang="en-US" dirty="0" smtClean="0"/>
              <a:t>3 - </a:t>
            </a:r>
            <a:r>
              <a:rPr lang="en-US" dirty="0"/>
              <a:t>Data Control </a:t>
            </a:r>
            <a:r>
              <a:rPr lang="en-US" dirty="0" smtClean="0"/>
              <a:t>Language (DCL)</a:t>
            </a:r>
            <a:endParaRPr lang="ar-EG" dirty="0"/>
          </a:p>
        </p:txBody>
      </p:sp>
      <p:sp>
        <p:nvSpPr>
          <p:cNvPr id="3" name="TextBox 2"/>
          <p:cNvSpPr txBox="1"/>
          <p:nvPr/>
        </p:nvSpPr>
        <p:spPr>
          <a:xfrm>
            <a:off x="2917269" y="1122479"/>
            <a:ext cx="6418755" cy="461665"/>
          </a:xfrm>
          <a:prstGeom prst="rect">
            <a:avLst/>
          </a:prstGeom>
          <a:noFill/>
        </p:spPr>
        <p:txBody>
          <a:bodyPr wrap="square" rtlCol="1">
            <a:spAutoFit/>
          </a:bodyPr>
          <a:lstStyle/>
          <a:p>
            <a:pPr algn="l"/>
            <a:r>
              <a:rPr lang="en-US" sz="2400" b="1" dirty="0" smtClean="0"/>
              <a:t>SQL Commands | DDL, DML,  DCL</a:t>
            </a:r>
            <a:endParaRPr lang="en-US" sz="2400" b="1" dirty="0"/>
          </a:p>
        </p:txBody>
      </p:sp>
    </p:spTree>
    <p:extLst>
      <p:ext uri="{BB962C8B-B14F-4D97-AF65-F5344CB8AC3E}">
        <p14:creationId xmlns:p14="http://schemas.microsoft.com/office/powerpoint/2010/main" val="33150496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3304" y="0"/>
            <a:ext cx="1758696" cy="1353312"/>
          </a:xfrm>
          <a:prstGeom prst="rect">
            <a:avLst/>
          </a:prstGeom>
        </p:spPr>
      </p:pic>
      <p:sp>
        <p:nvSpPr>
          <p:cNvPr id="6" name="TextBox 5"/>
          <p:cNvSpPr txBox="1"/>
          <p:nvPr/>
        </p:nvSpPr>
        <p:spPr>
          <a:xfrm>
            <a:off x="10309753" y="6488668"/>
            <a:ext cx="1882247" cy="369332"/>
          </a:xfrm>
          <a:prstGeom prst="rect">
            <a:avLst/>
          </a:prstGeom>
          <a:noFill/>
        </p:spPr>
        <p:txBody>
          <a:bodyPr wrap="none" rtlCol="1">
            <a:spAutoFit/>
          </a:bodyPr>
          <a:lstStyle/>
          <a:p>
            <a:r>
              <a:rPr lang="en-US" b="1" dirty="0" smtClean="0">
                <a:solidFill>
                  <a:schemeClr val="accent3">
                    <a:lumMod val="40000"/>
                    <a:lumOff val="60000"/>
                  </a:schemeClr>
                </a:solidFill>
              </a:rPr>
              <a:t>By </a:t>
            </a:r>
            <a:r>
              <a:rPr lang="en-US" b="1" dirty="0" err="1" smtClean="0">
                <a:solidFill>
                  <a:schemeClr val="accent3">
                    <a:lumMod val="40000"/>
                    <a:lumOff val="60000"/>
                  </a:schemeClr>
                </a:solidFill>
              </a:rPr>
              <a:t>Eslam</a:t>
            </a:r>
            <a:r>
              <a:rPr lang="en-US" b="1" dirty="0" smtClean="0">
                <a:solidFill>
                  <a:schemeClr val="accent3">
                    <a:lumMod val="40000"/>
                    <a:lumOff val="60000"/>
                  </a:schemeClr>
                </a:solidFill>
              </a:rPr>
              <a:t> </a:t>
            </a:r>
            <a:r>
              <a:rPr lang="en-US" b="1" dirty="0" err="1" smtClean="0">
                <a:solidFill>
                  <a:schemeClr val="accent3">
                    <a:lumMod val="40000"/>
                    <a:lumOff val="60000"/>
                  </a:schemeClr>
                </a:solidFill>
              </a:rPr>
              <a:t>Khder</a:t>
            </a:r>
            <a:endParaRPr lang="ar-EG" b="1" dirty="0">
              <a:solidFill>
                <a:schemeClr val="accent3">
                  <a:lumMod val="40000"/>
                  <a:lumOff val="60000"/>
                </a:schemeClr>
              </a:solidFill>
            </a:endParaRPr>
          </a:p>
        </p:txBody>
      </p:sp>
      <p:sp>
        <p:nvSpPr>
          <p:cNvPr id="3" name="TextBox 2"/>
          <p:cNvSpPr txBox="1"/>
          <p:nvPr/>
        </p:nvSpPr>
        <p:spPr>
          <a:xfrm>
            <a:off x="1545669" y="891647"/>
            <a:ext cx="7680627" cy="461665"/>
          </a:xfrm>
          <a:prstGeom prst="rect">
            <a:avLst/>
          </a:prstGeom>
          <a:noFill/>
        </p:spPr>
        <p:txBody>
          <a:bodyPr wrap="square" rtlCol="1">
            <a:spAutoFit/>
          </a:bodyPr>
          <a:lstStyle/>
          <a:p>
            <a:pPr algn="l"/>
            <a:r>
              <a:rPr lang="en-US" sz="2400" b="1" dirty="0" smtClean="0"/>
              <a:t>Data Manipulation Language (DML) Statements</a:t>
            </a:r>
            <a:endParaRPr lang="en-US" sz="2400" b="1" dirty="0"/>
          </a:p>
        </p:txBody>
      </p:sp>
      <p:sp>
        <p:nvSpPr>
          <p:cNvPr id="4" name="TextBox 3"/>
          <p:cNvSpPr txBox="1"/>
          <p:nvPr/>
        </p:nvSpPr>
        <p:spPr>
          <a:xfrm>
            <a:off x="948177" y="3079510"/>
            <a:ext cx="9078112" cy="923330"/>
          </a:xfrm>
          <a:prstGeom prst="rect">
            <a:avLst/>
          </a:prstGeom>
          <a:noFill/>
        </p:spPr>
        <p:txBody>
          <a:bodyPr wrap="square" rtlCol="1">
            <a:spAutoFit/>
          </a:bodyPr>
          <a:lstStyle/>
          <a:p>
            <a:pPr algn="l" rtl="0" fontAlgn="base"/>
            <a:r>
              <a:rPr lang="en-US" dirty="0" smtClean="0"/>
              <a:t>The SQL commands that deal with the manipulation of data present in the database belong to DML or Data Manipulation Language and this includes most of the SQL statements.</a:t>
            </a:r>
            <a:endParaRPr lang="en-US" dirty="0"/>
          </a:p>
        </p:txBody>
      </p:sp>
    </p:spTree>
    <p:extLst>
      <p:ext uri="{BB962C8B-B14F-4D97-AF65-F5344CB8AC3E}">
        <p14:creationId xmlns:p14="http://schemas.microsoft.com/office/powerpoint/2010/main" val="4147973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3304" y="0"/>
            <a:ext cx="1758696" cy="1353312"/>
          </a:xfrm>
          <a:prstGeom prst="rect">
            <a:avLst/>
          </a:prstGeom>
        </p:spPr>
      </p:pic>
      <p:sp>
        <p:nvSpPr>
          <p:cNvPr id="6" name="TextBox 5"/>
          <p:cNvSpPr txBox="1"/>
          <p:nvPr/>
        </p:nvSpPr>
        <p:spPr>
          <a:xfrm>
            <a:off x="10309753" y="6488668"/>
            <a:ext cx="1882247" cy="369332"/>
          </a:xfrm>
          <a:prstGeom prst="rect">
            <a:avLst/>
          </a:prstGeom>
          <a:noFill/>
        </p:spPr>
        <p:txBody>
          <a:bodyPr wrap="none" rtlCol="1">
            <a:spAutoFit/>
          </a:bodyPr>
          <a:lstStyle/>
          <a:p>
            <a:r>
              <a:rPr lang="en-US" b="1" dirty="0" smtClean="0">
                <a:solidFill>
                  <a:schemeClr val="accent3">
                    <a:lumMod val="40000"/>
                    <a:lumOff val="60000"/>
                  </a:schemeClr>
                </a:solidFill>
              </a:rPr>
              <a:t>By </a:t>
            </a:r>
            <a:r>
              <a:rPr lang="en-US" b="1" dirty="0" err="1" smtClean="0">
                <a:solidFill>
                  <a:schemeClr val="accent3">
                    <a:lumMod val="40000"/>
                    <a:lumOff val="60000"/>
                  </a:schemeClr>
                </a:solidFill>
              </a:rPr>
              <a:t>Eslam</a:t>
            </a:r>
            <a:r>
              <a:rPr lang="en-US" b="1" dirty="0" smtClean="0">
                <a:solidFill>
                  <a:schemeClr val="accent3">
                    <a:lumMod val="40000"/>
                    <a:lumOff val="60000"/>
                  </a:schemeClr>
                </a:solidFill>
              </a:rPr>
              <a:t> </a:t>
            </a:r>
            <a:r>
              <a:rPr lang="en-US" b="1" dirty="0" err="1" smtClean="0">
                <a:solidFill>
                  <a:schemeClr val="accent3">
                    <a:lumMod val="40000"/>
                    <a:lumOff val="60000"/>
                  </a:schemeClr>
                </a:solidFill>
              </a:rPr>
              <a:t>Khder</a:t>
            </a:r>
            <a:endParaRPr lang="ar-EG" b="1" dirty="0">
              <a:solidFill>
                <a:schemeClr val="accent3">
                  <a:lumMod val="40000"/>
                  <a:lumOff val="60000"/>
                </a:schemeClr>
              </a:solidFill>
            </a:endParaRPr>
          </a:p>
        </p:txBody>
      </p:sp>
      <p:graphicFrame>
        <p:nvGraphicFramePr>
          <p:cNvPr id="2" name="Table 1"/>
          <p:cNvGraphicFramePr>
            <a:graphicFrameLocks noGrp="1"/>
          </p:cNvGraphicFramePr>
          <p:nvPr>
            <p:extLst>
              <p:ext uri="{D42A27DB-BD31-4B8C-83A1-F6EECF244321}">
                <p14:modId xmlns:p14="http://schemas.microsoft.com/office/powerpoint/2010/main" val="2534567813"/>
              </p:ext>
            </p:extLst>
          </p:nvPr>
        </p:nvGraphicFramePr>
        <p:xfrm>
          <a:off x="966153" y="1897285"/>
          <a:ext cx="8947149" cy="4122420"/>
        </p:xfrm>
        <a:graphic>
          <a:graphicData uri="http://schemas.openxmlformats.org/drawingml/2006/table">
            <a:tbl>
              <a:tblPr/>
              <a:tblGrid>
                <a:gridCol w="2982383"/>
                <a:gridCol w="2982383"/>
                <a:gridCol w="2982383"/>
              </a:tblGrid>
              <a:tr h="0">
                <a:tc>
                  <a:txBody>
                    <a:bodyPr/>
                    <a:lstStyle/>
                    <a:p>
                      <a:pPr algn="ctr" fontAlgn="base"/>
                      <a:r>
                        <a:rPr lang="en-US" sz="1400" b="1">
                          <a:solidFill>
                            <a:schemeClr val="bg1">
                              <a:lumMod val="95000"/>
                              <a:lumOff val="5000"/>
                            </a:schemeClr>
                          </a:solidFill>
                          <a:effectLst/>
                        </a:rPr>
                        <a:t>Command</a:t>
                      </a:r>
                    </a:p>
                  </a:txBody>
                  <a:tcPr marL="38100" marR="38100" marT="76200" marB="7620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US" sz="1400" b="1">
                          <a:solidFill>
                            <a:schemeClr val="bg1">
                              <a:lumMod val="95000"/>
                              <a:lumOff val="5000"/>
                            </a:schemeClr>
                          </a:solidFill>
                          <a:effectLst/>
                        </a:rPr>
                        <a:t>Description</a:t>
                      </a:r>
                    </a:p>
                  </a:txBody>
                  <a:tcPr marL="76200" marR="76200" marT="76200" marB="7620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US" sz="1400" b="1">
                          <a:solidFill>
                            <a:schemeClr val="bg1">
                              <a:lumMod val="95000"/>
                              <a:lumOff val="5000"/>
                            </a:schemeClr>
                          </a:solidFill>
                          <a:effectLst/>
                        </a:rPr>
                        <a:t>Syntax</a:t>
                      </a:r>
                    </a:p>
                  </a:txBody>
                  <a:tcPr marL="76200" marR="76200" marT="76200" marB="7620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r>
              <a:tr h="0">
                <a:tc>
                  <a:txBody>
                    <a:bodyPr/>
                    <a:lstStyle/>
                    <a:p>
                      <a:pPr algn="ctr" fontAlgn="ctr"/>
                      <a:r>
                        <a:rPr lang="en-US" sz="1250" b="1" dirty="0" smtClean="0">
                          <a:solidFill>
                            <a:schemeClr val="bg1">
                              <a:lumMod val="95000"/>
                              <a:lumOff val="5000"/>
                            </a:schemeClr>
                          </a:solidFill>
                          <a:effectLst/>
                        </a:rPr>
                        <a:t>INSERT</a:t>
                      </a:r>
                      <a:endParaRPr lang="en-US" sz="1250" b="1" dirty="0">
                        <a:solidFill>
                          <a:schemeClr val="bg1">
                            <a:lumMod val="95000"/>
                            <a:lumOff val="5000"/>
                          </a:schemeClr>
                        </a:solidFill>
                        <a:effectLst/>
                      </a:endParaRP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1">
                          <a:solidFill>
                            <a:schemeClr val="bg1">
                              <a:lumMod val="95000"/>
                              <a:lumOff val="5000"/>
                            </a:schemeClr>
                          </a:solidFill>
                          <a:effectLst/>
                        </a:rPr>
                        <a:t>Insert data into a table</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1">
                          <a:solidFill>
                            <a:schemeClr val="bg1">
                              <a:lumMod val="95000"/>
                              <a:lumOff val="5000"/>
                            </a:schemeClr>
                          </a:solidFill>
                          <a:effectLst/>
                        </a:rPr>
                        <a:t>INSERT INTO table_name (column1, column2, ...) VALUES (value1, value2, ...);</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r>
              <a:tr h="0">
                <a:tc>
                  <a:txBody>
                    <a:bodyPr/>
                    <a:lstStyle/>
                    <a:p>
                      <a:pPr algn="ctr" fontAlgn="ctr"/>
                      <a:r>
                        <a:rPr lang="en-US" sz="1250" b="1" u="sng" dirty="0" smtClean="0">
                          <a:solidFill>
                            <a:schemeClr val="bg1">
                              <a:lumMod val="95000"/>
                              <a:lumOff val="5000"/>
                            </a:schemeClr>
                          </a:solidFill>
                          <a:effectLst/>
                        </a:rPr>
                        <a:t>UPDATE</a:t>
                      </a:r>
                      <a:endParaRPr lang="en-US" sz="1250" b="1" dirty="0">
                        <a:solidFill>
                          <a:schemeClr val="bg1">
                            <a:lumMod val="95000"/>
                            <a:lumOff val="5000"/>
                          </a:schemeClr>
                        </a:solidFill>
                        <a:effectLst/>
                      </a:endParaRP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1" dirty="0">
                          <a:solidFill>
                            <a:schemeClr val="bg1">
                              <a:lumMod val="95000"/>
                              <a:lumOff val="5000"/>
                            </a:schemeClr>
                          </a:solidFill>
                          <a:effectLst/>
                        </a:rPr>
                        <a:t>Update existing data within a table</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1" dirty="0">
                          <a:solidFill>
                            <a:schemeClr val="bg1">
                              <a:lumMod val="95000"/>
                              <a:lumOff val="5000"/>
                            </a:schemeClr>
                          </a:solidFill>
                          <a:effectLst/>
                        </a:rPr>
                        <a:t>UPDATE </a:t>
                      </a:r>
                      <a:r>
                        <a:rPr lang="en-US" sz="1250" b="1" dirty="0" err="1">
                          <a:solidFill>
                            <a:schemeClr val="bg1">
                              <a:lumMod val="95000"/>
                              <a:lumOff val="5000"/>
                            </a:schemeClr>
                          </a:solidFill>
                          <a:effectLst/>
                        </a:rPr>
                        <a:t>table_name</a:t>
                      </a:r>
                      <a:r>
                        <a:rPr lang="en-US" sz="1250" b="1" dirty="0">
                          <a:solidFill>
                            <a:schemeClr val="bg1">
                              <a:lumMod val="95000"/>
                              <a:lumOff val="5000"/>
                            </a:schemeClr>
                          </a:solidFill>
                          <a:effectLst/>
                        </a:rPr>
                        <a:t> SET column1 = value1, column2 = value2 WHERE condition;</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r>
              <a:tr h="0">
                <a:tc>
                  <a:txBody>
                    <a:bodyPr/>
                    <a:lstStyle/>
                    <a:p>
                      <a:pPr algn="ctr" fontAlgn="ctr"/>
                      <a:r>
                        <a:rPr lang="en-US" sz="1250" b="1" u="sng" dirty="0" smtClean="0">
                          <a:solidFill>
                            <a:schemeClr val="bg1">
                              <a:lumMod val="95000"/>
                              <a:lumOff val="5000"/>
                            </a:schemeClr>
                          </a:solidFill>
                          <a:effectLst/>
                        </a:rPr>
                        <a:t>DELETE</a:t>
                      </a:r>
                      <a:endParaRPr lang="en-US" sz="1250" b="1" dirty="0">
                        <a:solidFill>
                          <a:schemeClr val="bg1">
                            <a:lumMod val="95000"/>
                            <a:lumOff val="5000"/>
                          </a:schemeClr>
                        </a:solidFill>
                        <a:effectLst/>
                      </a:endParaRP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1" dirty="0">
                          <a:solidFill>
                            <a:schemeClr val="bg1">
                              <a:lumMod val="95000"/>
                              <a:lumOff val="5000"/>
                            </a:schemeClr>
                          </a:solidFill>
                          <a:effectLst/>
                        </a:rPr>
                        <a:t>Delete records from a database table</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1" dirty="0">
                          <a:solidFill>
                            <a:schemeClr val="bg1">
                              <a:lumMod val="95000"/>
                              <a:lumOff val="5000"/>
                            </a:schemeClr>
                          </a:solidFill>
                          <a:effectLst/>
                        </a:rPr>
                        <a:t>DELETE FROM </a:t>
                      </a:r>
                      <a:r>
                        <a:rPr lang="en-US" sz="1250" b="1" dirty="0" err="1">
                          <a:solidFill>
                            <a:schemeClr val="bg1">
                              <a:lumMod val="95000"/>
                              <a:lumOff val="5000"/>
                            </a:schemeClr>
                          </a:solidFill>
                          <a:effectLst/>
                        </a:rPr>
                        <a:t>table_name</a:t>
                      </a:r>
                      <a:r>
                        <a:rPr lang="en-US" sz="1250" b="1" dirty="0">
                          <a:solidFill>
                            <a:schemeClr val="bg1">
                              <a:lumMod val="95000"/>
                              <a:lumOff val="5000"/>
                            </a:schemeClr>
                          </a:solidFill>
                          <a:effectLst/>
                        </a:rPr>
                        <a:t> WHERE condition;</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r>
              <a:tr h="0">
                <a:tc>
                  <a:txBody>
                    <a:bodyPr/>
                    <a:lstStyle/>
                    <a:p>
                      <a:pPr algn="ctr" fontAlgn="ctr"/>
                      <a:r>
                        <a:rPr lang="en-US" sz="1250" b="1" u="sng" dirty="0" smtClean="0">
                          <a:solidFill>
                            <a:schemeClr val="bg1">
                              <a:lumMod val="95000"/>
                              <a:lumOff val="5000"/>
                            </a:schemeClr>
                          </a:solidFill>
                          <a:effectLst/>
                        </a:rPr>
                        <a:t>LOCK</a:t>
                      </a:r>
                      <a:endParaRPr lang="en-US" sz="1250" b="1" dirty="0">
                        <a:solidFill>
                          <a:schemeClr val="bg1">
                            <a:lumMod val="95000"/>
                            <a:lumOff val="5000"/>
                          </a:schemeClr>
                        </a:solidFill>
                        <a:effectLst/>
                      </a:endParaRP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1">
                          <a:solidFill>
                            <a:schemeClr val="bg1">
                              <a:lumMod val="95000"/>
                              <a:lumOff val="5000"/>
                            </a:schemeClr>
                          </a:solidFill>
                          <a:effectLst/>
                        </a:rPr>
                        <a:t>Table control concurrency</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1">
                          <a:solidFill>
                            <a:schemeClr val="bg1">
                              <a:lumMod val="95000"/>
                              <a:lumOff val="5000"/>
                            </a:schemeClr>
                          </a:solidFill>
                          <a:effectLst/>
                        </a:rPr>
                        <a:t>LOCK TABLE table_name IN lock_mode;</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r>
              <a:tr h="0">
                <a:tc>
                  <a:txBody>
                    <a:bodyPr/>
                    <a:lstStyle/>
                    <a:p>
                      <a:pPr algn="ctr" fontAlgn="ctr"/>
                      <a:r>
                        <a:rPr lang="en-US" sz="1250" b="1">
                          <a:solidFill>
                            <a:schemeClr val="bg1">
                              <a:lumMod val="95000"/>
                              <a:lumOff val="5000"/>
                            </a:schemeClr>
                          </a:solidFill>
                          <a:effectLst/>
                        </a:rPr>
                        <a:t>CALL</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1">
                          <a:solidFill>
                            <a:schemeClr val="bg1">
                              <a:lumMod val="95000"/>
                              <a:lumOff val="5000"/>
                            </a:schemeClr>
                          </a:solidFill>
                          <a:effectLst/>
                        </a:rPr>
                        <a:t>Call a PL/SQL or JAVA subprogram</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1" dirty="0">
                          <a:solidFill>
                            <a:schemeClr val="bg1">
                              <a:lumMod val="95000"/>
                              <a:lumOff val="5000"/>
                            </a:schemeClr>
                          </a:solidFill>
                          <a:effectLst/>
                        </a:rPr>
                        <a:t>CALL </a:t>
                      </a:r>
                      <a:r>
                        <a:rPr lang="en-US" sz="1250" b="1" dirty="0" err="1">
                          <a:solidFill>
                            <a:schemeClr val="bg1">
                              <a:lumMod val="95000"/>
                              <a:lumOff val="5000"/>
                            </a:schemeClr>
                          </a:solidFill>
                          <a:effectLst/>
                        </a:rPr>
                        <a:t>procedure_name</a:t>
                      </a:r>
                      <a:r>
                        <a:rPr lang="en-US" sz="1250" b="1" dirty="0">
                          <a:solidFill>
                            <a:schemeClr val="bg1">
                              <a:lumMod val="95000"/>
                              <a:lumOff val="5000"/>
                            </a:schemeClr>
                          </a:solidFill>
                          <a:effectLst/>
                        </a:rPr>
                        <a:t>(arguments);</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r>
              <a:tr h="0">
                <a:tc>
                  <a:txBody>
                    <a:bodyPr/>
                    <a:lstStyle/>
                    <a:p>
                      <a:pPr algn="ctr" fontAlgn="ctr"/>
                      <a:r>
                        <a:rPr lang="en-US" sz="1250" b="1">
                          <a:solidFill>
                            <a:schemeClr val="bg1">
                              <a:lumMod val="95000"/>
                              <a:lumOff val="5000"/>
                            </a:schemeClr>
                          </a:solidFill>
                          <a:effectLst/>
                        </a:rPr>
                        <a:t>EXPLAIN PLAN</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1">
                          <a:solidFill>
                            <a:schemeClr val="bg1">
                              <a:lumMod val="95000"/>
                              <a:lumOff val="5000"/>
                            </a:schemeClr>
                          </a:solidFill>
                          <a:effectLst/>
                        </a:rPr>
                        <a:t>Describe the access path to data</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1" dirty="0">
                          <a:solidFill>
                            <a:schemeClr val="bg1">
                              <a:lumMod val="95000"/>
                              <a:lumOff val="5000"/>
                            </a:schemeClr>
                          </a:solidFill>
                          <a:effectLst/>
                        </a:rPr>
                        <a:t>EXPLAIN PLAN FOR SELECT * FROM </a:t>
                      </a:r>
                      <a:r>
                        <a:rPr lang="en-US" sz="1250" b="1" dirty="0" err="1">
                          <a:solidFill>
                            <a:schemeClr val="bg1">
                              <a:lumMod val="95000"/>
                              <a:lumOff val="5000"/>
                            </a:schemeClr>
                          </a:solidFill>
                          <a:effectLst/>
                        </a:rPr>
                        <a:t>table_name</a:t>
                      </a:r>
                      <a:r>
                        <a:rPr lang="en-US" sz="1250" b="1" dirty="0">
                          <a:solidFill>
                            <a:schemeClr val="bg1">
                              <a:lumMod val="95000"/>
                              <a:lumOff val="5000"/>
                            </a:schemeClr>
                          </a:solidFill>
                          <a:effectLst/>
                        </a:rPr>
                        <a:t>;</a:t>
                      </a:r>
                    </a:p>
                  </a:txBody>
                  <a:tcPr marL="76200" marR="76200" marT="106680" marB="10668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r>
            </a:tbl>
          </a:graphicData>
        </a:graphic>
      </p:graphicFrame>
      <p:sp>
        <p:nvSpPr>
          <p:cNvPr id="7" name="TextBox 6"/>
          <p:cNvSpPr txBox="1"/>
          <p:nvPr/>
        </p:nvSpPr>
        <p:spPr>
          <a:xfrm>
            <a:off x="1545669" y="891647"/>
            <a:ext cx="7680627" cy="461665"/>
          </a:xfrm>
          <a:prstGeom prst="rect">
            <a:avLst/>
          </a:prstGeom>
          <a:noFill/>
        </p:spPr>
        <p:txBody>
          <a:bodyPr wrap="square" rtlCol="1">
            <a:spAutoFit/>
          </a:bodyPr>
          <a:lstStyle/>
          <a:p>
            <a:pPr algn="l"/>
            <a:r>
              <a:rPr lang="en-US" sz="2400" b="1" dirty="0" smtClean="0"/>
              <a:t>Data Manipulation Language (DML) Statements</a:t>
            </a:r>
            <a:endParaRPr lang="en-US" sz="2400" b="1" dirty="0"/>
          </a:p>
        </p:txBody>
      </p:sp>
    </p:spTree>
    <p:extLst>
      <p:ext uri="{BB962C8B-B14F-4D97-AF65-F5344CB8AC3E}">
        <p14:creationId xmlns:p14="http://schemas.microsoft.com/office/powerpoint/2010/main" val="38486294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3304" y="0"/>
            <a:ext cx="1758696" cy="1353312"/>
          </a:xfrm>
          <a:prstGeom prst="rect">
            <a:avLst/>
          </a:prstGeom>
        </p:spPr>
      </p:pic>
      <p:sp>
        <p:nvSpPr>
          <p:cNvPr id="6" name="TextBox 5"/>
          <p:cNvSpPr txBox="1"/>
          <p:nvPr/>
        </p:nvSpPr>
        <p:spPr>
          <a:xfrm>
            <a:off x="10309753" y="6488668"/>
            <a:ext cx="1882247" cy="369332"/>
          </a:xfrm>
          <a:prstGeom prst="rect">
            <a:avLst/>
          </a:prstGeom>
          <a:noFill/>
        </p:spPr>
        <p:txBody>
          <a:bodyPr wrap="none" rtlCol="1">
            <a:spAutoFit/>
          </a:bodyPr>
          <a:lstStyle/>
          <a:p>
            <a:r>
              <a:rPr lang="en-US" b="1" dirty="0" smtClean="0">
                <a:solidFill>
                  <a:schemeClr val="accent3">
                    <a:lumMod val="40000"/>
                    <a:lumOff val="60000"/>
                  </a:schemeClr>
                </a:solidFill>
              </a:rPr>
              <a:t>By </a:t>
            </a:r>
            <a:r>
              <a:rPr lang="en-US" b="1" dirty="0" err="1" smtClean="0">
                <a:solidFill>
                  <a:schemeClr val="accent3">
                    <a:lumMod val="40000"/>
                    <a:lumOff val="60000"/>
                  </a:schemeClr>
                </a:solidFill>
              </a:rPr>
              <a:t>Eslam</a:t>
            </a:r>
            <a:r>
              <a:rPr lang="en-US" b="1" dirty="0" smtClean="0">
                <a:solidFill>
                  <a:schemeClr val="accent3">
                    <a:lumMod val="40000"/>
                    <a:lumOff val="60000"/>
                  </a:schemeClr>
                </a:solidFill>
              </a:rPr>
              <a:t> </a:t>
            </a:r>
            <a:r>
              <a:rPr lang="en-US" b="1" dirty="0" err="1" smtClean="0">
                <a:solidFill>
                  <a:schemeClr val="accent3">
                    <a:lumMod val="40000"/>
                    <a:lumOff val="60000"/>
                  </a:schemeClr>
                </a:solidFill>
              </a:rPr>
              <a:t>Khder</a:t>
            </a:r>
            <a:endParaRPr lang="ar-EG" b="1" dirty="0">
              <a:solidFill>
                <a:schemeClr val="accent3">
                  <a:lumMod val="40000"/>
                  <a:lumOff val="60000"/>
                </a:schemeClr>
              </a:solidFill>
            </a:endParaRPr>
          </a:p>
        </p:txBody>
      </p:sp>
      <p:sp>
        <p:nvSpPr>
          <p:cNvPr id="3" name="TextBox 2"/>
          <p:cNvSpPr txBox="1"/>
          <p:nvPr/>
        </p:nvSpPr>
        <p:spPr>
          <a:xfrm>
            <a:off x="1545668" y="544175"/>
            <a:ext cx="7680627" cy="461665"/>
          </a:xfrm>
          <a:prstGeom prst="rect">
            <a:avLst/>
          </a:prstGeom>
          <a:noFill/>
        </p:spPr>
        <p:txBody>
          <a:bodyPr wrap="square" rtlCol="1">
            <a:spAutoFit/>
          </a:bodyPr>
          <a:lstStyle/>
          <a:p>
            <a:pPr algn="ctr" fontAlgn="base"/>
            <a:r>
              <a:rPr lang="en-US" sz="2400" b="1" dirty="0"/>
              <a:t>DCL (Data Control Language)</a:t>
            </a:r>
          </a:p>
        </p:txBody>
      </p:sp>
      <p:sp>
        <p:nvSpPr>
          <p:cNvPr id="4" name="TextBox 3"/>
          <p:cNvSpPr txBox="1"/>
          <p:nvPr/>
        </p:nvSpPr>
        <p:spPr>
          <a:xfrm>
            <a:off x="846925" y="1451878"/>
            <a:ext cx="9078112" cy="646331"/>
          </a:xfrm>
          <a:prstGeom prst="rect">
            <a:avLst/>
          </a:prstGeom>
          <a:noFill/>
        </p:spPr>
        <p:txBody>
          <a:bodyPr wrap="square" rtlCol="1">
            <a:spAutoFit/>
          </a:bodyPr>
          <a:lstStyle/>
          <a:p>
            <a:pPr algn="l" rtl="0" fontAlgn="base"/>
            <a:r>
              <a:rPr lang="en-US" dirty="0"/>
              <a:t>DCL includes commands such as GRANT and REVOKE which mainly deal with the rights, permissions, and other controls of the database system.</a:t>
            </a:r>
          </a:p>
        </p:txBody>
      </p:sp>
      <p:graphicFrame>
        <p:nvGraphicFramePr>
          <p:cNvPr id="2" name="Table 1"/>
          <p:cNvGraphicFramePr>
            <a:graphicFrameLocks noGrp="1"/>
          </p:cNvGraphicFramePr>
          <p:nvPr>
            <p:extLst>
              <p:ext uri="{D42A27DB-BD31-4B8C-83A1-F6EECF244321}">
                <p14:modId xmlns:p14="http://schemas.microsoft.com/office/powerpoint/2010/main" val="4001210691"/>
              </p:ext>
            </p:extLst>
          </p:nvPr>
        </p:nvGraphicFramePr>
        <p:xfrm>
          <a:off x="2070593" y="2505885"/>
          <a:ext cx="6762510" cy="3653368"/>
        </p:xfrm>
        <a:graphic>
          <a:graphicData uri="http://schemas.openxmlformats.org/drawingml/2006/table">
            <a:tbl>
              <a:tblPr/>
              <a:tblGrid>
                <a:gridCol w="1780556"/>
                <a:gridCol w="2490977"/>
                <a:gridCol w="2490977"/>
              </a:tblGrid>
              <a:tr h="402154">
                <a:tc>
                  <a:txBody>
                    <a:bodyPr/>
                    <a:lstStyle/>
                    <a:p>
                      <a:pPr algn="ctr" fontAlgn="base"/>
                      <a:r>
                        <a:rPr lang="en-US" sz="1100" b="1" dirty="0">
                          <a:solidFill>
                            <a:schemeClr val="bg1">
                              <a:lumMod val="95000"/>
                              <a:lumOff val="5000"/>
                            </a:schemeClr>
                          </a:solidFill>
                          <a:effectLst/>
                        </a:rPr>
                        <a:t>Command</a:t>
                      </a:r>
                    </a:p>
                  </a:txBody>
                  <a:tcPr marL="30761" marR="30761" marT="61521" marB="61521"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US" sz="1100" b="1">
                          <a:solidFill>
                            <a:schemeClr val="bg1">
                              <a:lumMod val="95000"/>
                              <a:lumOff val="5000"/>
                            </a:schemeClr>
                          </a:solidFill>
                          <a:effectLst/>
                        </a:rPr>
                        <a:t>Description</a:t>
                      </a:r>
                    </a:p>
                  </a:txBody>
                  <a:tcPr marL="61521" marR="61521" marT="61521" marB="61521"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US" sz="1100" b="1" dirty="0">
                          <a:solidFill>
                            <a:schemeClr val="bg1">
                              <a:lumMod val="95000"/>
                              <a:lumOff val="5000"/>
                            </a:schemeClr>
                          </a:solidFill>
                          <a:effectLst/>
                        </a:rPr>
                        <a:t>Syntax</a:t>
                      </a:r>
                    </a:p>
                  </a:txBody>
                  <a:tcPr marL="61521" marR="61521" marT="61521" marB="61521"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r>
              <a:tr h="1471036">
                <a:tc>
                  <a:txBody>
                    <a:bodyPr/>
                    <a:lstStyle/>
                    <a:p>
                      <a:pPr algn="ctr" fontAlgn="ctr"/>
                      <a:r>
                        <a:rPr lang="en-US" sz="1000" b="1" dirty="0" smtClean="0">
                          <a:solidFill>
                            <a:schemeClr val="bg1">
                              <a:lumMod val="95000"/>
                              <a:lumOff val="5000"/>
                            </a:schemeClr>
                          </a:solidFill>
                          <a:effectLst/>
                        </a:rPr>
                        <a:t>GRANT </a:t>
                      </a:r>
                      <a:endParaRPr lang="en-US" sz="1000" b="1" dirty="0">
                        <a:solidFill>
                          <a:schemeClr val="bg1">
                            <a:lumMod val="95000"/>
                            <a:lumOff val="5000"/>
                          </a:schemeClr>
                        </a:solidFill>
                        <a:effectLst/>
                      </a:endParaRPr>
                    </a:p>
                  </a:txBody>
                  <a:tcPr marL="61521" marR="61521" marT="86130" marB="8613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000" b="1">
                          <a:solidFill>
                            <a:schemeClr val="bg1">
                              <a:lumMod val="95000"/>
                              <a:lumOff val="5000"/>
                            </a:schemeClr>
                          </a:solidFill>
                          <a:effectLst/>
                        </a:rPr>
                        <a:t>Assigns new privileges to a user account, allowing access to specific database objects, actions, or functions.</a:t>
                      </a:r>
                    </a:p>
                  </a:txBody>
                  <a:tcPr marL="61521" marR="61521" marT="86130" marB="8613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000" b="1">
                          <a:solidFill>
                            <a:schemeClr val="bg1">
                              <a:lumMod val="95000"/>
                              <a:lumOff val="5000"/>
                            </a:schemeClr>
                          </a:solidFill>
                          <a:effectLst/>
                        </a:rPr>
                        <a:t>GRANT privilege_type [(column_list)] ON [object_type] object_name TO user [WITH GRANT OPTION];</a:t>
                      </a:r>
                    </a:p>
                  </a:txBody>
                  <a:tcPr marL="61521" marR="61521" marT="86130" marB="8613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r>
              <a:tr h="1780178">
                <a:tc>
                  <a:txBody>
                    <a:bodyPr/>
                    <a:lstStyle/>
                    <a:p>
                      <a:pPr algn="ctr" fontAlgn="ctr"/>
                      <a:r>
                        <a:rPr lang="en-US" sz="1000" b="1" dirty="0" smtClean="0">
                          <a:solidFill>
                            <a:schemeClr val="bg1">
                              <a:lumMod val="95000"/>
                              <a:lumOff val="5000"/>
                            </a:schemeClr>
                          </a:solidFill>
                          <a:effectLst/>
                        </a:rPr>
                        <a:t>REVOKE</a:t>
                      </a:r>
                      <a:endParaRPr lang="en-US" sz="1000" b="1" dirty="0">
                        <a:solidFill>
                          <a:schemeClr val="bg1">
                            <a:lumMod val="95000"/>
                            <a:lumOff val="5000"/>
                          </a:schemeClr>
                        </a:solidFill>
                        <a:effectLst/>
                      </a:endParaRPr>
                    </a:p>
                  </a:txBody>
                  <a:tcPr marL="61521" marR="61521" marT="86130" marB="8613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000" b="1" dirty="0">
                          <a:solidFill>
                            <a:schemeClr val="bg1">
                              <a:lumMod val="95000"/>
                              <a:lumOff val="5000"/>
                            </a:schemeClr>
                          </a:solidFill>
                          <a:effectLst/>
                        </a:rPr>
                        <a:t>Removes previously granted privileges from a user account, taking away their access to certain database objects or actions.</a:t>
                      </a:r>
                    </a:p>
                  </a:txBody>
                  <a:tcPr marL="61521" marR="61521" marT="86130" marB="8613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000" b="1" dirty="0">
                          <a:solidFill>
                            <a:schemeClr val="bg1">
                              <a:lumMod val="95000"/>
                              <a:lumOff val="5000"/>
                            </a:schemeClr>
                          </a:solidFill>
                          <a:effectLst/>
                        </a:rPr>
                        <a:t>REVOKE [GRANT OPTION FOR] </a:t>
                      </a:r>
                      <a:r>
                        <a:rPr lang="en-US" sz="1000" b="1" dirty="0" err="1">
                          <a:solidFill>
                            <a:schemeClr val="bg1">
                              <a:lumMod val="95000"/>
                              <a:lumOff val="5000"/>
                            </a:schemeClr>
                          </a:solidFill>
                          <a:effectLst/>
                        </a:rPr>
                        <a:t>privilege_type</a:t>
                      </a:r>
                      <a:r>
                        <a:rPr lang="en-US" sz="1000" b="1" dirty="0">
                          <a:solidFill>
                            <a:schemeClr val="bg1">
                              <a:lumMod val="95000"/>
                              <a:lumOff val="5000"/>
                            </a:schemeClr>
                          </a:solidFill>
                          <a:effectLst/>
                        </a:rPr>
                        <a:t> [(</a:t>
                      </a:r>
                      <a:r>
                        <a:rPr lang="en-US" sz="1000" b="1" dirty="0" err="1">
                          <a:solidFill>
                            <a:schemeClr val="bg1">
                              <a:lumMod val="95000"/>
                              <a:lumOff val="5000"/>
                            </a:schemeClr>
                          </a:solidFill>
                          <a:effectLst/>
                        </a:rPr>
                        <a:t>column_list</a:t>
                      </a:r>
                      <a:r>
                        <a:rPr lang="en-US" sz="1000" b="1" dirty="0">
                          <a:solidFill>
                            <a:schemeClr val="bg1">
                              <a:lumMod val="95000"/>
                              <a:lumOff val="5000"/>
                            </a:schemeClr>
                          </a:solidFill>
                          <a:effectLst/>
                        </a:rPr>
                        <a:t>)] ON [</a:t>
                      </a:r>
                      <a:r>
                        <a:rPr lang="en-US" sz="1000" b="1" dirty="0" err="1">
                          <a:solidFill>
                            <a:schemeClr val="bg1">
                              <a:lumMod val="95000"/>
                              <a:lumOff val="5000"/>
                            </a:schemeClr>
                          </a:solidFill>
                          <a:effectLst/>
                        </a:rPr>
                        <a:t>object_type</a:t>
                      </a:r>
                      <a:r>
                        <a:rPr lang="en-US" sz="1000" b="1" dirty="0">
                          <a:solidFill>
                            <a:schemeClr val="bg1">
                              <a:lumMod val="95000"/>
                              <a:lumOff val="5000"/>
                            </a:schemeClr>
                          </a:solidFill>
                          <a:effectLst/>
                        </a:rPr>
                        <a:t>] </a:t>
                      </a:r>
                      <a:r>
                        <a:rPr lang="en-US" sz="1000" b="1" dirty="0" err="1">
                          <a:solidFill>
                            <a:schemeClr val="bg1">
                              <a:lumMod val="95000"/>
                              <a:lumOff val="5000"/>
                            </a:schemeClr>
                          </a:solidFill>
                          <a:effectLst/>
                        </a:rPr>
                        <a:t>object_name</a:t>
                      </a:r>
                      <a:r>
                        <a:rPr lang="en-US" sz="1000" b="1" dirty="0">
                          <a:solidFill>
                            <a:schemeClr val="bg1">
                              <a:lumMod val="95000"/>
                              <a:lumOff val="5000"/>
                            </a:schemeClr>
                          </a:solidFill>
                          <a:effectLst/>
                        </a:rPr>
                        <a:t> FROM user [CASCADE];</a:t>
                      </a:r>
                    </a:p>
                  </a:txBody>
                  <a:tcPr marL="61521" marR="61521" marT="86130" marB="86130" anchor="ctr">
                    <a:lnL w="2286" cap="flat" cmpd="sng" algn="ctr">
                      <a:solidFill>
                        <a:srgbClr val="DFDFDF"/>
                      </a:solidFill>
                      <a:prstDash val="solid"/>
                      <a:round/>
                      <a:headEnd type="none" w="med" len="med"/>
                      <a:tailEnd type="none" w="med" len="med"/>
                    </a:lnL>
                    <a:lnR w="2286" cap="flat" cmpd="sng" algn="ctr">
                      <a:solidFill>
                        <a:srgbClr val="DFDFDF"/>
                      </a:solidFill>
                      <a:prstDash val="solid"/>
                      <a:round/>
                      <a:headEnd type="none" w="med" len="med"/>
                      <a:tailEnd type="none" w="med" len="med"/>
                    </a:lnR>
                    <a:lnT w="2286" cap="flat" cmpd="sng" algn="ctr">
                      <a:solidFill>
                        <a:srgbClr val="DFDFDF"/>
                      </a:solidFill>
                      <a:prstDash val="solid"/>
                      <a:round/>
                      <a:headEnd type="none" w="med" len="med"/>
                      <a:tailEnd type="none" w="med" len="med"/>
                    </a:lnT>
                    <a:lnB w="2286" cap="flat" cmpd="sng" algn="ctr">
                      <a:solidFill>
                        <a:srgbClr val="DFDFDF"/>
                      </a:solidFill>
                      <a:prstDash val="solid"/>
                      <a:round/>
                      <a:headEnd type="none" w="med" len="med"/>
                      <a:tailEnd type="none" w="med" len="med"/>
                    </a:lnB>
                    <a:solidFill>
                      <a:srgbClr val="FFFFFF"/>
                    </a:solidFill>
                  </a:tcPr>
                </a:tc>
              </a:tr>
            </a:tbl>
          </a:graphicData>
        </a:graphic>
      </p:graphicFrame>
    </p:spTree>
    <p:extLst>
      <p:ext uri="{BB962C8B-B14F-4D97-AF65-F5344CB8AC3E}">
        <p14:creationId xmlns:p14="http://schemas.microsoft.com/office/powerpoint/2010/main" val="9208106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3304" y="0"/>
            <a:ext cx="1758696" cy="1353312"/>
          </a:xfrm>
          <a:prstGeom prst="rect">
            <a:avLst/>
          </a:prstGeom>
        </p:spPr>
      </p:pic>
      <p:sp>
        <p:nvSpPr>
          <p:cNvPr id="6" name="TextBox 5"/>
          <p:cNvSpPr txBox="1"/>
          <p:nvPr/>
        </p:nvSpPr>
        <p:spPr>
          <a:xfrm>
            <a:off x="10309753" y="6488668"/>
            <a:ext cx="1882247" cy="369332"/>
          </a:xfrm>
          <a:prstGeom prst="rect">
            <a:avLst/>
          </a:prstGeom>
          <a:noFill/>
        </p:spPr>
        <p:txBody>
          <a:bodyPr wrap="none" rtlCol="1">
            <a:spAutoFit/>
          </a:bodyPr>
          <a:lstStyle/>
          <a:p>
            <a:r>
              <a:rPr lang="en-US" b="1" dirty="0" smtClean="0">
                <a:solidFill>
                  <a:schemeClr val="accent3">
                    <a:lumMod val="40000"/>
                    <a:lumOff val="60000"/>
                  </a:schemeClr>
                </a:solidFill>
              </a:rPr>
              <a:t>By </a:t>
            </a:r>
            <a:r>
              <a:rPr lang="en-US" b="1" dirty="0" err="1" smtClean="0">
                <a:solidFill>
                  <a:schemeClr val="accent3">
                    <a:lumMod val="40000"/>
                    <a:lumOff val="60000"/>
                  </a:schemeClr>
                </a:solidFill>
              </a:rPr>
              <a:t>Eslam</a:t>
            </a:r>
            <a:r>
              <a:rPr lang="en-US" b="1" dirty="0" smtClean="0">
                <a:solidFill>
                  <a:schemeClr val="accent3">
                    <a:lumMod val="40000"/>
                    <a:lumOff val="60000"/>
                  </a:schemeClr>
                </a:solidFill>
              </a:rPr>
              <a:t> </a:t>
            </a:r>
            <a:r>
              <a:rPr lang="en-US" b="1" dirty="0" err="1" smtClean="0">
                <a:solidFill>
                  <a:schemeClr val="accent3">
                    <a:lumMod val="40000"/>
                    <a:lumOff val="60000"/>
                  </a:schemeClr>
                </a:solidFill>
              </a:rPr>
              <a:t>Khder</a:t>
            </a:r>
            <a:endParaRPr lang="ar-EG" b="1" dirty="0">
              <a:solidFill>
                <a:schemeClr val="accent3">
                  <a:lumMod val="40000"/>
                  <a:lumOff val="60000"/>
                </a:schemeClr>
              </a:solidFill>
            </a:endParaRPr>
          </a:p>
        </p:txBody>
      </p:sp>
      <p:sp>
        <p:nvSpPr>
          <p:cNvPr id="4" name="TextBox 3"/>
          <p:cNvSpPr txBox="1"/>
          <p:nvPr/>
        </p:nvSpPr>
        <p:spPr>
          <a:xfrm>
            <a:off x="2405205" y="445823"/>
            <a:ext cx="7799499" cy="461665"/>
          </a:xfrm>
          <a:prstGeom prst="rect">
            <a:avLst/>
          </a:prstGeom>
          <a:noFill/>
        </p:spPr>
        <p:txBody>
          <a:bodyPr wrap="square" rtlCol="1">
            <a:spAutoFit/>
          </a:bodyPr>
          <a:lstStyle/>
          <a:p>
            <a:pPr algn="l"/>
            <a:r>
              <a:rPr lang="en-US" sz="2400" b="1" dirty="0" smtClean="0"/>
              <a:t>Data Definition Language (DDL) Statements</a:t>
            </a:r>
            <a:endParaRPr lang="en-US" sz="2400" b="1" dirty="0"/>
          </a:p>
        </p:txBody>
      </p:sp>
      <p:sp>
        <p:nvSpPr>
          <p:cNvPr id="7" name="TextBox 6"/>
          <p:cNvSpPr txBox="1"/>
          <p:nvPr/>
        </p:nvSpPr>
        <p:spPr>
          <a:xfrm>
            <a:off x="609933" y="907488"/>
            <a:ext cx="10143411" cy="5632311"/>
          </a:xfrm>
          <a:prstGeom prst="rect">
            <a:avLst/>
          </a:prstGeom>
          <a:noFill/>
        </p:spPr>
        <p:txBody>
          <a:bodyPr wrap="square" rtlCol="1">
            <a:spAutoFit/>
          </a:bodyPr>
          <a:lstStyle/>
          <a:p>
            <a:pPr algn="l"/>
            <a:r>
              <a:rPr lang="en-US" sz="2400" b="1" dirty="0" smtClean="0">
                <a:solidFill>
                  <a:srgbClr val="C00000"/>
                </a:solidFill>
              </a:rPr>
              <a:t>                            Database Object Naming Rules</a:t>
            </a:r>
          </a:p>
          <a:p>
            <a:pPr algn="l"/>
            <a:endParaRPr lang="en-US" sz="2400" b="1" dirty="0">
              <a:solidFill>
                <a:srgbClr val="C00000"/>
              </a:solidFill>
            </a:endParaRPr>
          </a:p>
          <a:p>
            <a:pPr algn="l"/>
            <a:r>
              <a:rPr lang="en-US" sz="2400" b="1" dirty="0" smtClean="0">
                <a:solidFill>
                  <a:srgbClr val="C00000"/>
                </a:solidFill>
              </a:rPr>
              <a:t> </a:t>
            </a:r>
          </a:p>
          <a:p>
            <a:pPr algn="l"/>
            <a:r>
              <a:rPr lang="en-US" sz="2400" b="1" dirty="0" smtClean="0"/>
              <a:t>Database object names must follow some standard rules</a:t>
            </a:r>
          </a:p>
          <a:p>
            <a:pPr algn="l"/>
            <a:endParaRPr lang="en-US" sz="2400" b="1" dirty="0" smtClean="0"/>
          </a:p>
          <a:p>
            <a:pPr algn="l"/>
            <a:r>
              <a:rPr lang="en-US" sz="2400" b="1" dirty="0" smtClean="0"/>
              <a:t>1. They should start with a letter.</a:t>
            </a:r>
            <a:endParaRPr lang="ar-EG" sz="2400" b="1" dirty="0" smtClean="0"/>
          </a:p>
          <a:p>
            <a:pPr algn="l"/>
            <a:endParaRPr lang="en-US" sz="2400" b="1" dirty="0" smtClean="0"/>
          </a:p>
          <a:p>
            <a:pPr algn="l"/>
            <a:r>
              <a:rPr lang="en-US" sz="2400" b="1" dirty="0" smtClean="0"/>
              <a:t>2. Can contain only A-Z, a-z, 0-9, -, $, and # characters.</a:t>
            </a:r>
          </a:p>
          <a:p>
            <a:pPr algn="l"/>
            <a:endParaRPr lang="en-US" sz="2400" b="1" dirty="0" smtClean="0"/>
          </a:p>
          <a:p>
            <a:pPr algn="l"/>
            <a:r>
              <a:rPr lang="en-US" sz="2400" b="1" dirty="0" smtClean="0"/>
              <a:t>3. Can be up to 128 characters in length.12c Release 2</a:t>
            </a:r>
          </a:p>
          <a:p>
            <a:pPr algn="l"/>
            <a:endParaRPr lang="en-US" sz="2400" b="1" dirty="0"/>
          </a:p>
          <a:p>
            <a:pPr algn="l"/>
            <a:r>
              <a:rPr lang="en-US" sz="2400" b="1" dirty="0" smtClean="0"/>
              <a:t>4. Cannot have the same name as another existing object in the same schema.</a:t>
            </a:r>
          </a:p>
          <a:p>
            <a:pPr algn="l"/>
            <a:r>
              <a:rPr lang="en-US" sz="2400" b="1" dirty="0" smtClean="0"/>
              <a:t>5. Cannot be a reserved word like SELECT, FROM, UPDATE, DELETE, WHERE, HAVING, etc.</a:t>
            </a:r>
            <a:endParaRPr lang="en-US" sz="2400" b="1" dirty="0"/>
          </a:p>
        </p:txBody>
      </p:sp>
    </p:spTree>
    <p:extLst>
      <p:ext uri="{BB962C8B-B14F-4D97-AF65-F5344CB8AC3E}">
        <p14:creationId xmlns:p14="http://schemas.microsoft.com/office/powerpoint/2010/main" val="3287890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3304" y="0"/>
            <a:ext cx="1758696" cy="1353312"/>
          </a:xfrm>
          <a:prstGeom prst="rect">
            <a:avLst/>
          </a:prstGeom>
        </p:spPr>
      </p:pic>
      <p:sp>
        <p:nvSpPr>
          <p:cNvPr id="6" name="TextBox 5"/>
          <p:cNvSpPr txBox="1"/>
          <p:nvPr/>
        </p:nvSpPr>
        <p:spPr>
          <a:xfrm>
            <a:off x="10309753" y="6488668"/>
            <a:ext cx="1882247" cy="369332"/>
          </a:xfrm>
          <a:prstGeom prst="rect">
            <a:avLst/>
          </a:prstGeom>
          <a:noFill/>
        </p:spPr>
        <p:txBody>
          <a:bodyPr wrap="none" rtlCol="1">
            <a:spAutoFit/>
          </a:bodyPr>
          <a:lstStyle/>
          <a:p>
            <a:r>
              <a:rPr lang="en-US" b="1" dirty="0" smtClean="0">
                <a:solidFill>
                  <a:schemeClr val="accent3">
                    <a:lumMod val="40000"/>
                    <a:lumOff val="60000"/>
                  </a:schemeClr>
                </a:solidFill>
              </a:rPr>
              <a:t>By </a:t>
            </a:r>
            <a:r>
              <a:rPr lang="en-US" b="1" dirty="0" err="1" smtClean="0">
                <a:solidFill>
                  <a:schemeClr val="accent3">
                    <a:lumMod val="40000"/>
                    <a:lumOff val="60000"/>
                  </a:schemeClr>
                </a:solidFill>
              </a:rPr>
              <a:t>Eslam</a:t>
            </a:r>
            <a:r>
              <a:rPr lang="en-US" b="1" dirty="0" smtClean="0">
                <a:solidFill>
                  <a:schemeClr val="accent3">
                    <a:lumMod val="40000"/>
                    <a:lumOff val="60000"/>
                  </a:schemeClr>
                </a:solidFill>
              </a:rPr>
              <a:t> </a:t>
            </a:r>
            <a:r>
              <a:rPr lang="en-US" b="1" dirty="0" err="1" smtClean="0">
                <a:solidFill>
                  <a:schemeClr val="accent3">
                    <a:lumMod val="40000"/>
                    <a:lumOff val="60000"/>
                  </a:schemeClr>
                </a:solidFill>
              </a:rPr>
              <a:t>Khder</a:t>
            </a:r>
            <a:endParaRPr lang="ar-EG" b="1" dirty="0">
              <a:solidFill>
                <a:schemeClr val="accent3">
                  <a:lumMod val="40000"/>
                  <a:lumOff val="60000"/>
                </a:schemeClr>
              </a:solidFill>
            </a:endParaRPr>
          </a:p>
        </p:txBody>
      </p:sp>
      <p:sp>
        <p:nvSpPr>
          <p:cNvPr id="4" name="TextBox 3"/>
          <p:cNvSpPr txBox="1"/>
          <p:nvPr/>
        </p:nvSpPr>
        <p:spPr>
          <a:xfrm>
            <a:off x="2510254" y="445823"/>
            <a:ext cx="7799499" cy="461665"/>
          </a:xfrm>
          <a:prstGeom prst="rect">
            <a:avLst/>
          </a:prstGeom>
          <a:noFill/>
        </p:spPr>
        <p:txBody>
          <a:bodyPr wrap="square" rtlCol="1">
            <a:spAutoFit/>
          </a:bodyPr>
          <a:lstStyle/>
          <a:p>
            <a:pPr algn="l"/>
            <a:r>
              <a:rPr lang="en-US" sz="2400" b="1" dirty="0" smtClean="0"/>
              <a:t>Data Definition Language (DDL) Statements</a:t>
            </a:r>
            <a:endParaRPr lang="en-US" sz="2400" b="1" dirty="0"/>
          </a:p>
        </p:txBody>
      </p:sp>
      <p:sp>
        <p:nvSpPr>
          <p:cNvPr id="7" name="TextBox 6"/>
          <p:cNvSpPr txBox="1"/>
          <p:nvPr/>
        </p:nvSpPr>
        <p:spPr>
          <a:xfrm>
            <a:off x="230124" y="1133856"/>
            <a:ext cx="11082528" cy="707886"/>
          </a:xfrm>
          <a:prstGeom prst="rect">
            <a:avLst/>
          </a:prstGeom>
          <a:noFill/>
        </p:spPr>
        <p:txBody>
          <a:bodyPr wrap="square" rtlCol="1">
            <a:spAutoFit/>
          </a:bodyPr>
          <a:lstStyle/>
          <a:p>
            <a:pPr algn="ctr"/>
            <a:r>
              <a:rPr lang="en-US" sz="4000" b="1" dirty="0" err="1" smtClean="0"/>
              <a:t>DataTypes</a:t>
            </a:r>
            <a:endParaRPr lang="en-US" sz="4000" b="1" dirty="0"/>
          </a:p>
        </p:txBody>
      </p:sp>
      <p:graphicFrame>
        <p:nvGraphicFramePr>
          <p:cNvPr id="10" name="Table 9"/>
          <p:cNvGraphicFramePr>
            <a:graphicFrameLocks noGrp="1"/>
          </p:cNvGraphicFramePr>
          <p:nvPr>
            <p:extLst>
              <p:ext uri="{D42A27DB-BD31-4B8C-83A1-F6EECF244321}">
                <p14:modId xmlns:p14="http://schemas.microsoft.com/office/powerpoint/2010/main" val="3990692199"/>
              </p:ext>
            </p:extLst>
          </p:nvPr>
        </p:nvGraphicFramePr>
        <p:xfrm>
          <a:off x="962152" y="2594186"/>
          <a:ext cx="10614152" cy="2225040"/>
        </p:xfrm>
        <a:graphic>
          <a:graphicData uri="http://schemas.openxmlformats.org/drawingml/2006/table">
            <a:tbl>
              <a:tblPr rtl="1" firstRow="1" bandRow="1">
                <a:tableStyleId>{5C22544A-7EE6-4342-B048-85BDC9FD1C3A}</a:tableStyleId>
              </a:tblPr>
              <a:tblGrid>
                <a:gridCol w="8065008"/>
                <a:gridCol w="2549144"/>
              </a:tblGrid>
              <a:tr h="370840">
                <a:tc>
                  <a:txBody>
                    <a:bodyPr/>
                    <a:lstStyle/>
                    <a:p>
                      <a:pPr algn="l" rtl="1"/>
                      <a:r>
                        <a:rPr lang="en-US" dirty="0" smtClean="0"/>
                        <a:t>DESC</a:t>
                      </a:r>
                      <a:endParaRPr lang="ar-EG" dirty="0"/>
                    </a:p>
                  </a:txBody>
                  <a:tcPr/>
                </a:tc>
                <a:tc>
                  <a:txBody>
                    <a:bodyPr/>
                    <a:lstStyle/>
                    <a:p>
                      <a:pPr algn="l" rtl="1"/>
                      <a:r>
                        <a:rPr lang="en-US" dirty="0" smtClean="0"/>
                        <a:t>Data types</a:t>
                      </a:r>
                      <a:endParaRPr lang="ar-EG" dirty="0"/>
                    </a:p>
                  </a:txBody>
                  <a:tcPr/>
                </a:tc>
              </a:tr>
              <a:tr h="370840">
                <a:tc>
                  <a:txBody>
                    <a:bodyPr/>
                    <a:lstStyle/>
                    <a:p>
                      <a:pPr algn="l" rtl="1"/>
                      <a:r>
                        <a:rPr lang="en-US" dirty="0" smtClean="0"/>
                        <a:t>Variable-length character data</a:t>
                      </a:r>
                      <a:endParaRPr lang="ar-EG" dirty="0"/>
                    </a:p>
                  </a:txBody>
                  <a:tcPr/>
                </a:tc>
                <a:tc>
                  <a:txBody>
                    <a:bodyPr/>
                    <a:lstStyle/>
                    <a:p>
                      <a:pPr algn="l" rtl="1"/>
                      <a:r>
                        <a:rPr lang="en-US" dirty="0" smtClean="0"/>
                        <a:t>VARCHAR2(size)</a:t>
                      </a:r>
                      <a:endParaRPr lang="ar-EG" dirty="0"/>
                    </a:p>
                  </a:txBody>
                  <a:tcPr/>
                </a:tc>
              </a:tr>
              <a:tr h="370840">
                <a:tc>
                  <a:txBody>
                    <a:bodyPr/>
                    <a:lstStyle/>
                    <a:p>
                      <a:pPr algn="l" rtl="1"/>
                      <a:r>
                        <a:rPr lang="en-US" dirty="0" smtClean="0"/>
                        <a:t>Fixed-length character data</a:t>
                      </a:r>
                      <a:endParaRPr lang="ar-EG" dirty="0"/>
                    </a:p>
                  </a:txBody>
                  <a:tcPr/>
                </a:tc>
                <a:tc>
                  <a:txBody>
                    <a:bodyPr/>
                    <a:lstStyle/>
                    <a:p>
                      <a:pPr algn="l" rtl="1"/>
                      <a:r>
                        <a:rPr lang="en-US" dirty="0" smtClean="0"/>
                        <a:t>CHAR(size)</a:t>
                      </a:r>
                      <a:endParaRPr lang="ar-EG" dirty="0"/>
                    </a:p>
                  </a:txBody>
                  <a:tcPr/>
                </a:tc>
              </a:tr>
              <a:tr h="370840">
                <a:tc>
                  <a:txBody>
                    <a:bodyPr/>
                    <a:lstStyle/>
                    <a:p>
                      <a:pPr algn="l" rtl="1"/>
                      <a:r>
                        <a:rPr lang="en-US" dirty="0" smtClean="0"/>
                        <a:t>numeric data  (precision</a:t>
                      </a:r>
                      <a:r>
                        <a:rPr lang="en-US" baseline="0" dirty="0" smtClean="0"/>
                        <a:t>, </a:t>
                      </a:r>
                      <a:r>
                        <a:rPr lang="en-US" dirty="0" smtClean="0"/>
                        <a:t>scale)</a:t>
                      </a:r>
                      <a:endParaRPr lang="ar-EG" dirty="0"/>
                    </a:p>
                  </a:txBody>
                  <a:tcPr/>
                </a:tc>
                <a:tc>
                  <a:txBody>
                    <a:bodyPr/>
                    <a:lstStyle/>
                    <a:p>
                      <a:pPr algn="l" rtl="1"/>
                      <a:r>
                        <a:rPr lang="en-US" dirty="0" smtClean="0"/>
                        <a:t>NUMBER(p, s)</a:t>
                      </a:r>
                      <a:endParaRPr lang="ar-EG" dirty="0"/>
                    </a:p>
                  </a:txBody>
                  <a:tcPr/>
                </a:tc>
              </a:tr>
              <a:tr h="370840">
                <a:tc>
                  <a:txBody>
                    <a:bodyPr/>
                    <a:lstStyle/>
                    <a:p>
                      <a:pPr algn="l" rtl="1"/>
                      <a:r>
                        <a:rPr lang="en-US" dirty="0" smtClean="0"/>
                        <a:t>Date and time values</a:t>
                      </a:r>
                      <a:endParaRPr lang="ar-EG" dirty="0"/>
                    </a:p>
                  </a:txBody>
                  <a:tcPr/>
                </a:tc>
                <a:tc>
                  <a:txBody>
                    <a:bodyPr/>
                    <a:lstStyle/>
                    <a:p>
                      <a:pPr algn="l" rtl="1"/>
                      <a:r>
                        <a:rPr lang="en-US" dirty="0" smtClean="0"/>
                        <a:t>DATE</a:t>
                      </a:r>
                      <a:endParaRPr lang="ar-EG" dirty="0"/>
                    </a:p>
                  </a:txBody>
                  <a:tcPr/>
                </a:tc>
              </a:tr>
              <a:tr h="370840">
                <a:tc>
                  <a:txBody>
                    <a:bodyPr/>
                    <a:lstStyle/>
                    <a:p>
                      <a:pPr algn="l" rtl="1"/>
                      <a:r>
                        <a:rPr lang="en-US" dirty="0" smtClean="0"/>
                        <a:t>TO</a:t>
                      </a:r>
                      <a:r>
                        <a:rPr lang="en-US" baseline="0" dirty="0" smtClean="0"/>
                        <a:t> Store </a:t>
                      </a:r>
                      <a:r>
                        <a:rPr lang="en-US" dirty="0" smtClean="0"/>
                        <a:t>FILE</a:t>
                      </a:r>
                      <a:endParaRPr lang="ar-EG" dirty="0"/>
                    </a:p>
                  </a:txBody>
                  <a:tcPr/>
                </a:tc>
                <a:tc>
                  <a:txBody>
                    <a:bodyPr/>
                    <a:lstStyle/>
                    <a:p>
                      <a:pPr algn="l" rtl="1"/>
                      <a:r>
                        <a:rPr lang="en-US" dirty="0" smtClean="0"/>
                        <a:t>CLOB</a:t>
                      </a:r>
                      <a:endParaRPr lang="ar-EG" dirty="0"/>
                    </a:p>
                  </a:txBody>
                  <a:tcPr/>
                </a:tc>
              </a:tr>
            </a:tbl>
          </a:graphicData>
        </a:graphic>
      </p:graphicFrame>
    </p:spTree>
    <p:extLst>
      <p:ext uri="{BB962C8B-B14F-4D97-AF65-F5344CB8AC3E}">
        <p14:creationId xmlns:p14="http://schemas.microsoft.com/office/powerpoint/2010/main" val="25404924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3304" y="0"/>
            <a:ext cx="1758696" cy="1353312"/>
          </a:xfrm>
          <a:prstGeom prst="rect">
            <a:avLst/>
          </a:prstGeom>
        </p:spPr>
      </p:pic>
      <p:sp>
        <p:nvSpPr>
          <p:cNvPr id="6" name="TextBox 5"/>
          <p:cNvSpPr txBox="1"/>
          <p:nvPr/>
        </p:nvSpPr>
        <p:spPr>
          <a:xfrm>
            <a:off x="10309753" y="6488668"/>
            <a:ext cx="1882247" cy="369332"/>
          </a:xfrm>
          <a:prstGeom prst="rect">
            <a:avLst/>
          </a:prstGeom>
          <a:noFill/>
        </p:spPr>
        <p:txBody>
          <a:bodyPr wrap="none" rtlCol="1">
            <a:spAutoFit/>
          </a:bodyPr>
          <a:lstStyle/>
          <a:p>
            <a:r>
              <a:rPr lang="en-US" b="1" dirty="0" smtClean="0">
                <a:solidFill>
                  <a:schemeClr val="accent3">
                    <a:lumMod val="40000"/>
                    <a:lumOff val="60000"/>
                  </a:schemeClr>
                </a:solidFill>
              </a:rPr>
              <a:t>By </a:t>
            </a:r>
            <a:r>
              <a:rPr lang="en-US" b="1" dirty="0" err="1" smtClean="0">
                <a:solidFill>
                  <a:schemeClr val="accent3">
                    <a:lumMod val="40000"/>
                    <a:lumOff val="60000"/>
                  </a:schemeClr>
                </a:solidFill>
              </a:rPr>
              <a:t>Eslam</a:t>
            </a:r>
            <a:r>
              <a:rPr lang="en-US" b="1" dirty="0" smtClean="0">
                <a:solidFill>
                  <a:schemeClr val="accent3">
                    <a:lumMod val="40000"/>
                    <a:lumOff val="60000"/>
                  </a:schemeClr>
                </a:solidFill>
              </a:rPr>
              <a:t> </a:t>
            </a:r>
            <a:r>
              <a:rPr lang="en-US" b="1" dirty="0" err="1" smtClean="0">
                <a:solidFill>
                  <a:schemeClr val="accent3">
                    <a:lumMod val="40000"/>
                    <a:lumOff val="60000"/>
                  </a:schemeClr>
                </a:solidFill>
              </a:rPr>
              <a:t>Khder</a:t>
            </a:r>
            <a:endParaRPr lang="ar-EG" b="1" dirty="0">
              <a:solidFill>
                <a:schemeClr val="accent3">
                  <a:lumMod val="40000"/>
                  <a:lumOff val="60000"/>
                </a:schemeClr>
              </a:solidFill>
            </a:endParaRPr>
          </a:p>
        </p:txBody>
      </p:sp>
      <p:sp>
        <p:nvSpPr>
          <p:cNvPr id="4" name="TextBox 3"/>
          <p:cNvSpPr txBox="1"/>
          <p:nvPr/>
        </p:nvSpPr>
        <p:spPr>
          <a:xfrm>
            <a:off x="2510254" y="445823"/>
            <a:ext cx="7799499" cy="461665"/>
          </a:xfrm>
          <a:prstGeom prst="rect">
            <a:avLst/>
          </a:prstGeom>
          <a:noFill/>
        </p:spPr>
        <p:txBody>
          <a:bodyPr wrap="square" rtlCol="1">
            <a:spAutoFit/>
          </a:bodyPr>
          <a:lstStyle/>
          <a:p>
            <a:pPr algn="l"/>
            <a:r>
              <a:rPr lang="en-US" sz="2400" b="1" dirty="0" smtClean="0"/>
              <a:t>Data Definition Language (DDL) Statements</a:t>
            </a:r>
            <a:endParaRPr lang="en-US" sz="2400" b="1" dirty="0"/>
          </a:p>
        </p:txBody>
      </p:sp>
      <p:sp>
        <p:nvSpPr>
          <p:cNvPr id="7" name="TextBox 6"/>
          <p:cNvSpPr txBox="1"/>
          <p:nvPr/>
        </p:nvSpPr>
        <p:spPr>
          <a:xfrm>
            <a:off x="230124" y="1133856"/>
            <a:ext cx="11082528" cy="707886"/>
          </a:xfrm>
          <a:prstGeom prst="rect">
            <a:avLst/>
          </a:prstGeom>
          <a:noFill/>
        </p:spPr>
        <p:txBody>
          <a:bodyPr wrap="square" rtlCol="1">
            <a:spAutoFit/>
          </a:bodyPr>
          <a:lstStyle/>
          <a:p>
            <a:pPr algn="ctr"/>
            <a:r>
              <a:rPr lang="en-US" sz="4000" b="1" dirty="0" err="1" smtClean="0"/>
              <a:t>DataTypes</a:t>
            </a:r>
            <a:endParaRPr lang="en-US" sz="4000" b="1" dirty="0"/>
          </a:p>
        </p:txBody>
      </p:sp>
      <p:pic>
        <p:nvPicPr>
          <p:cNvPr id="2" name="Picture 1"/>
          <p:cNvPicPr>
            <a:picLocks noChangeAspect="1"/>
          </p:cNvPicPr>
          <p:nvPr/>
        </p:nvPicPr>
        <p:blipFill>
          <a:blip r:embed="rId3"/>
          <a:stretch>
            <a:fillRect/>
          </a:stretch>
        </p:blipFill>
        <p:spPr>
          <a:xfrm>
            <a:off x="2677561" y="2035540"/>
            <a:ext cx="6379759" cy="4453128"/>
          </a:xfrm>
          <a:prstGeom prst="rect">
            <a:avLst/>
          </a:prstGeom>
        </p:spPr>
      </p:pic>
    </p:spTree>
    <p:extLst>
      <p:ext uri="{BB962C8B-B14F-4D97-AF65-F5344CB8AC3E}">
        <p14:creationId xmlns:p14="http://schemas.microsoft.com/office/powerpoint/2010/main" val="33958962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33304" y="0"/>
            <a:ext cx="1758696" cy="1353312"/>
          </a:xfrm>
          <a:prstGeom prst="rect">
            <a:avLst/>
          </a:prstGeom>
        </p:spPr>
      </p:pic>
      <p:sp>
        <p:nvSpPr>
          <p:cNvPr id="6" name="TextBox 5"/>
          <p:cNvSpPr txBox="1"/>
          <p:nvPr/>
        </p:nvSpPr>
        <p:spPr>
          <a:xfrm>
            <a:off x="10309753" y="6488668"/>
            <a:ext cx="1882247" cy="369332"/>
          </a:xfrm>
          <a:prstGeom prst="rect">
            <a:avLst/>
          </a:prstGeom>
          <a:noFill/>
        </p:spPr>
        <p:txBody>
          <a:bodyPr wrap="none" rtlCol="1">
            <a:spAutoFit/>
          </a:bodyPr>
          <a:lstStyle/>
          <a:p>
            <a:r>
              <a:rPr lang="en-US" b="1" dirty="0" smtClean="0">
                <a:solidFill>
                  <a:schemeClr val="accent3">
                    <a:lumMod val="40000"/>
                    <a:lumOff val="60000"/>
                  </a:schemeClr>
                </a:solidFill>
              </a:rPr>
              <a:t>By </a:t>
            </a:r>
            <a:r>
              <a:rPr lang="en-US" b="1" dirty="0" err="1" smtClean="0">
                <a:solidFill>
                  <a:schemeClr val="accent3">
                    <a:lumMod val="40000"/>
                    <a:lumOff val="60000"/>
                  </a:schemeClr>
                </a:solidFill>
              </a:rPr>
              <a:t>Eslam</a:t>
            </a:r>
            <a:r>
              <a:rPr lang="en-US" b="1" dirty="0" smtClean="0">
                <a:solidFill>
                  <a:schemeClr val="accent3">
                    <a:lumMod val="40000"/>
                    <a:lumOff val="60000"/>
                  </a:schemeClr>
                </a:solidFill>
              </a:rPr>
              <a:t> </a:t>
            </a:r>
            <a:r>
              <a:rPr lang="en-US" b="1" dirty="0" err="1" smtClean="0">
                <a:solidFill>
                  <a:schemeClr val="accent3">
                    <a:lumMod val="40000"/>
                    <a:lumOff val="60000"/>
                  </a:schemeClr>
                </a:solidFill>
              </a:rPr>
              <a:t>Khder</a:t>
            </a:r>
            <a:endParaRPr lang="ar-EG" b="1" dirty="0">
              <a:solidFill>
                <a:schemeClr val="accent3">
                  <a:lumMod val="40000"/>
                  <a:lumOff val="60000"/>
                </a:schemeClr>
              </a:solidFill>
            </a:endParaRPr>
          </a:p>
        </p:txBody>
      </p:sp>
      <p:sp>
        <p:nvSpPr>
          <p:cNvPr id="4" name="TextBox 3"/>
          <p:cNvSpPr txBox="1"/>
          <p:nvPr/>
        </p:nvSpPr>
        <p:spPr>
          <a:xfrm>
            <a:off x="1911429" y="308663"/>
            <a:ext cx="7799499" cy="461665"/>
          </a:xfrm>
          <a:prstGeom prst="rect">
            <a:avLst/>
          </a:prstGeom>
          <a:noFill/>
        </p:spPr>
        <p:txBody>
          <a:bodyPr wrap="square" rtlCol="1">
            <a:spAutoFit/>
          </a:bodyPr>
          <a:lstStyle/>
          <a:p>
            <a:pPr algn="l"/>
            <a:r>
              <a:rPr lang="en-US" sz="2400" b="1" dirty="0" smtClean="0"/>
              <a:t>Data Definition Language (DDL) Statements</a:t>
            </a:r>
            <a:endParaRPr lang="en-US" sz="2400" b="1" dirty="0"/>
          </a:p>
        </p:txBody>
      </p:sp>
      <p:sp>
        <p:nvSpPr>
          <p:cNvPr id="7" name="TextBox 6"/>
          <p:cNvSpPr txBox="1"/>
          <p:nvPr/>
        </p:nvSpPr>
        <p:spPr>
          <a:xfrm>
            <a:off x="429769" y="1520548"/>
            <a:ext cx="11082528" cy="1569660"/>
          </a:xfrm>
          <a:prstGeom prst="rect">
            <a:avLst/>
          </a:prstGeom>
          <a:noFill/>
        </p:spPr>
        <p:txBody>
          <a:bodyPr wrap="square" rtlCol="1">
            <a:spAutoFit/>
          </a:bodyPr>
          <a:lstStyle/>
          <a:p>
            <a:pPr algn="l"/>
            <a:r>
              <a:rPr lang="en-US" sz="2400" b="1" dirty="0" smtClean="0"/>
              <a:t>                                     CREATE TABLE Statement</a:t>
            </a:r>
          </a:p>
          <a:p>
            <a:pPr algn="l"/>
            <a:r>
              <a:rPr lang="en-US" sz="2400" b="1" dirty="0" smtClean="0"/>
              <a:t> The CREATE TABLE statement is used to create a new table</a:t>
            </a:r>
          </a:p>
          <a:p>
            <a:pPr algn="l"/>
            <a:r>
              <a:rPr lang="en-US" sz="2400" b="1" dirty="0" smtClean="0"/>
              <a:t> To create a table you must have the CREATE TABLE privilege.</a:t>
            </a:r>
          </a:p>
          <a:p>
            <a:pPr algn="l"/>
            <a:endParaRPr lang="en-US" sz="2400" b="1" dirty="0"/>
          </a:p>
        </p:txBody>
      </p:sp>
      <p:pic>
        <p:nvPicPr>
          <p:cNvPr id="2" name="Picture 1"/>
          <p:cNvPicPr>
            <a:picLocks noChangeAspect="1"/>
          </p:cNvPicPr>
          <p:nvPr/>
        </p:nvPicPr>
        <p:blipFill>
          <a:blip r:embed="rId4"/>
          <a:stretch>
            <a:fillRect/>
          </a:stretch>
        </p:blipFill>
        <p:spPr>
          <a:xfrm>
            <a:off x="670535" y="5118592"/>
            <a:ext cx="9458325" cy="1333500"/>
          </a:xfrm>
          <a:prstGeom prst="rect">
            <a:avLst/>
          </a:prstGeom>
        </p:spPr>
      </p:pic>
      <p:pic>
        <p:nvPicPr>
          <p:cNvPr id="3" name="Picture 2"/>
          <p:cNvPicPr>
            <a:picLocks noChangeAspect="1"/>
          </p:cNvPicPr>
          <p:nvPr/>
        </p:nvPicPr>
        <p:blipFill>
          <a:blip r:embed="rId5"/>
          <a:stretch>
            <a:fillRect/>
          </a:stretch>
        </p:blipFill>
        <p:spPr>
          <a:xfrm>
            <a:off x="647840" y="3257444"/>
            <a:ext cx="9481020" cy="1652884"/>
          </a:xfrm>
          <a:prstGeom prst="rect">
            <a:avLst/>
          </a:prstGeom>
        </p:spPr>
      </p:pic>
      <p:graphicFrame>
        <p:nvGraphicFramePr>
          <p:cNvPr id="8" name="Object 7"/>
          <p:cNvGraphicFramePr>
            <a:graphicFrameLocks noChangeAspect="1"/>
          </p:cNvGraphicFramePr>
          <p:nvPr>
            <p:extLst>
              <p:ext uri="{D42A27DB-BD31-4B8C-83A1-F6EECF244321}">
                <p14:modId xmlns:p14="http://schemas.microsoft.com/office/powerpoint/2010/main" val="3358615639"/>
              </p:ext>
            </p:extLst>
          </p:nvPr>
        </p:nvGraphicFramePr>
        <p:xfrm>
          <a:off x="670535" y="6010387"/>
          <a:ext cx="2728913" cy="439738"/>
        </p:xfrm>
        <a:graphic>
          <a:graphicData uri="http://schemas.openxmlformats.org/presentationml/2006/ole">
            <mc:AlternateContent xmlns:mc="http://schemas.openxmlformats.org/markup-compatibility/2006">
              <mc:Choice xmlns:v="urn:schemas-microsoft-com:vml" Requires="v">
                <p:oleObj spid="_x0000_s18575" name="Packager Shell Object" showAsIcon="1" r:id="rId6" imgW="2728440" imgH="439560" progId="Package">
                  <p:embed/>
                </p:oleObj>
              </mc:Choice>
              <mc:Fallback>
                <p:oleObj name="Packager Shell Object" showAsIcon="1" r:id="rId6" imgW="2728440" imgH="439560" progId="Package">
                  <p:embed/>
                  <p:pic>
                    <p:nvPicPr>
                      <p:cNvPr id="0" name=""/>
                      <p:cNvPicPr/>
                      <p:nvPr/>
                    </p:nvPicPr>
                    <p:blipFill>
                      <a:blip r:embed="rId7"/>
                      <a:stretch>
                        <a:fillRect/>
                      </a:stretch>
                    </p:blipFill>
                    <p:spPr>
                      <a:xfrm>
                        <a:off x="670535" y="6010387"/>
                        <a:ext cx="2728913" cy="439738"/>
                      </a:xfrm>
                      <a:prstGeom prst="rect">
                        <a:avLst/>
                      </a:prstGeom>
                    </p:spPr>
                  </p:pic>
                </p:oleObj>
              </mc:Fallback>
            </mc:AlternateContent>
          </a:graphicData>
        </a:graphic>
      </p:graphicFrame>
    </p:spTree>
    <p:extLst>
      <p:ext uri="{BB962C8B-B14F-4D97-AF65-F5344CB8AC3E}">
        <p14:creationId xmlns:p14="http://schemas.microsoft.com/office/powerpoint/2010/main" val="18427231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0309753" y="6488668"/>
            <a:ext cx="1882247" cy="369332"/>
          </a:xfrm>
          <a:prstGeom prst="rect">
            <a:avLst/>
          </a:prstGeom>
          <a:noFill/>
        </p:spPr>
        <p:txBody>
          <a:bodyPr wrap="none" rtlCol="1">
            <a:spAutoFit/>
          </a:bodyPr>
          <a:lstStyle/>
          <a:p>
            <a:r>
              <a:rPr lang="en-US" b="1" dirty="0" smtClean="0">
                <a:solidFill>
                  <a:schemeClr val="accent3">
                    <a:lumMod val="40000"/>
                    <a:lumOff val="60000"/>
                  </a:schemeClr>
                </a:solidFill>
              </a:rPr>
              <a:t>By </a:t>
            </a:r>
            <a:r>
              <a:rPr lang="en-US" b="1" dirty="0" err="1" smtClean="0">
                <a:solidFill>
                  <a:schemeClr val="accent3">
                    <a:lumMod val="40000"/>
                    <a:lumOff val="60000"/>
                  </a:schemeClr>
                </a:solidFill>
              </a:rPr>
              <a:t>Eslam</a:t>
            </a:r>
            <a:r>
              <a:rPr lang="en-US" b="1" dirty="0" smtClean="0">
                <a:solidFill>
                  <a:schemeClr val="accent3">
                    <a:lumMod val="40000"/>
                    <a:lumOff val="60000"/>
                  </a:schemeClr>
                </a:solidFill>
              </a:rPr>
              <a:t> </a:t>
            </a:r>
            <a:r>
              <a:rPr lang="en-US" b="1" dirty="0" err="1" smtClean="0">
                <a:solidFill>
                  <a:schemeClr val="accent3">
                    <a:lumMod val="40000"/>
                    <a:lumOff val="60000"/>
                  </a:schemeClr>
                </a:solidFill>
              </a:rPr>
              <a:t>Khder</a:t>
            </a:r>
            <a:endParaRPr lang="ar-EG" b="1" dirty="0">
              <a:solidFill>
                <a:schemeClr val="accent3">
                  <a:lumMod val="40000"/>
                  <a:lumOff val="60000"/>
                </a:schemeClr>
              </a:solidFill>
            </a:endParaRPr>
          </a:p>
        </p:txBody>
      </p:sp>
      <p:sp>
        <p:nvSpPr>
          <p:cNvPr id="4" name="TextBox 3"/>
          <p:cNvSpPr txBox="1"/>
          <p:nvPr/>
        </p:nvSpPr>
        <p:spPr>
          <a:xfrm>
            <a:off x="1911429" y="308663"/>
            <a:ext cx="7799499" cy="461665"/>
          </a:xfrm>
          <a:prstGeom prst="rect">
            <a:avLst/>
          </a:prstGeom>
          <a:noFill/>
        </p:spPr>
        <p:txBody>
          <a:bodyPr wrap="square" rtlCol="1">
            <a:spAutoFit/>
          </a:bodyPr>
          <a:lstStyle/>
          <a:p>
            <a:pPr algn="l"/>
            <a:r>
              <a:rPr lang="en-US" sz="2400" b="1" dirty="0" smtClean="0"/>
              <a:t>Data Definition Language (DDL) Statements</a:t>
            </a:r>
            <a:endParaRPr lang="en-US" sz="2400" b="1" dirty="0"/>
          </a:p>
        </p:txBody>
      </p:sp>
      <p:pic>
        <p:nvPicPr>
          <p:cNvPr id="2" name="Picture 1"/>
          <p:cNvPicPr>
            <a:picLocks noChangeAspect="1"/>
          </p:cNvPicPr>
          <p:nvPr/>
        </p:nvPicPr>
        <p:blipFill>
          <a:blip r:embed="rId3"/>
          <a:stretch>
            <a:fillRect/>
          </a:stretch>
        </p:blipFill>
        <p:spPr>
          <a:xfrm>
            <a:off x="230124" y="896112"/>
            <a:ext cx="10907268" cy="5777222"/>
          </a:xfrm>
          <a:prstGeom prst="rect">
            <a:avLst/>
          </a:prstGeom>
        </p:spPr>
      </p:pic>
      <p:graphicFrame>
        <p:nvGraphicFramePr>
          <p:cNvPr id="3" name="Object 2"/>
          <p:cNvGraphicFramePr>
            <a:graphicFrameLocks noChangeAspect="1"/>
          </p:cNvGraphicFramePr>
          <p:nvPr>
            <p:extLst>
              <p:ext uri="{D42A27DB-BD31-4B8C-83A1-F6EECF244321}">
                <p14:modId xmlns:p14="http://schemas.microsoft.com/office/powerpoint/2010/main" val="1103506900"/>
              </p:ext>
            </p:extLst>
          </p:nvPr>
        </p:nvGraphicFramePr>
        <p:xfrm>
          <a:off x="7770304" y="6076102"/>
          <a:ext cx="3367088" cy="546655"/>
        </p:xfrm>
        <a:graphic>
          <a:graphicData uri="http://schemas.openxmlformats.org/presentationml/2006/ole">
            <mc:AlternateContent xmlns:mc="http://schemas.openxmlformats.org/markup-compatibility/2006">
              <mc:Choice xmlns:v="urn:schemas-microsoft-com:vml" Requires="v">
                <p:oleObj spid="_x0000_s24716" name="Packager Shell Object" showAsIcon="1" r:id="rId4" imgW="3367080" imgH="439560" progId="Package">
                  <p:embed/>
                </p:oleObj>
              </mc:Choice>
              <mc:Fallback>
                <p:oleObj name="Packager Shell Object" showAsIcon="1" r:id="rId4" imgW="3367080" imgH="439560" progId="Package">
                  <p:embed/>
                  <p:pic>
                    <p:nvPicPr>
                      <p:cNvPr id="0" name=""/>
                      <p:cNvPicPr/>
                      <p:nvPr/>
                    </p:nvPicPr>
                    <p:blipFill>
                      <a:blip r:embed="rId5"/>
                      <a:stretch>
                        <a:fillRect/>
                      </a:stretch>
                    </p:blipFill>
                    <p:spPr>
                      <a:xfrm>
                        <a:off x="7770304" y="6076102"/>
                        <a:ext cx="3367088" cy="546655"/>
                      </a:xfrm>
                      <a:prstGeom prst="rect">
                        <a:avLst/>
                      </a:prstGeom>
                    </p:spPr>
                  </p:pic>
                </p:oleObj>
              </mc:Fallback>
            </mc:AlternateContent>
          </a:graphicData>
        </a:graphic>
      </p:graphicFrame>
      <p:pic>
        <p:nvPicPr>
          <p:cNvPr id="7" name="Picture 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433304" y="0"/>
            <a:ext cx="1758696" cy="1353312"/>
          </a:xfrm>
          <a:prstGeom prst="rect">
            <a:avLst/>
          </a:prstGeom>
        </p:spPr>
      </p:pic>
    </p:spTree>
    <p:extLst>
      <p:ext uri="{BB962C8B-B14F-4D97-AF65-F5344CB8AC3E}">
        <p14:creationId xmlns:p14="http://schemas.microsoft.com/office/powerpoint/2010/main" val="2379249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3304" y="0"/>
            <a:ext cx="1758696" cy="1353312"/>
          </a:xfrm>
          <a:prstGeom prst="rect">
            <a:avLst/>
          </a:prstGeom>
        </p:spPr>
      </p:pic>
      <p:sp>
        <p:nvSpPr>
          <p:cNvPr id="6" name="TextBox 5"/>
          <p:cNvSpPr txBox="1"/>
          <p:nvPr/>
        </p:nvSpPr>
        <p:spPr>
          <a:xfrm>
            <a:off x="10309753" y="6488668"/>
            <a:ext cx="1882247" cy="369332"/>
          </a:xfrm>
          <a:prstGeom prst="rect">
            <a:avLst/>
          </a:prstGeom>
          <a:noFill/>
        </p:spPr>
        <p:txBody>
          <a:bodyPr wrap="none" rtlCol="1">
            <a:spAutoFit/>
          </a:bodyPr>
          <a:lstStyle/>
          <a:p>
            <a:r>
              <a:rPr lang="en-US" b="1" dirty="0" smtClean="0">
                <a:solidFill>
                  <a:schemeClr val="accent3">
                    <a:lumMod val="40000"/>
                    <a:lumOff val="60000"/>
                  </a:schemeClr>
                </a:solidFill>
              </a:rPr>
              <a:t>By </a:t>
            </a:r>
            <a:r>
              <a:rPr lang="en-US" b="1" dirty="0" err="1" smtClean="0">
                <a:solidFill>
                  <a:schemeClr val="accent3">
                    <a:lumMod val="40000"/>
                    <a:lumOff val="60000"/>
                  </a:schemeClr>
                </a:solidFill>
              </a:rPr>
              <a:t>Eslam</a:t>
            </a:r>
            <a:r>
              <a:rPr lang="en-US" b="1" dirty="0" smtClean="0">
                <a:solidFill>
                  <a:schemeClr val="accent3">
                    <a:lumMod val="40000"/>
                    <a:lumOff val="60000"/>
                  </a:schemeClr>
                </a:solidFill>
              </a:rPr>
              <a:t> </a:t>
            </a:r>
            <a:r>
              <a:rPr lang="en-US" b="1" dirty="0" err="1" smtClean="0">
                <a:solidFill>
                  <a:schemeClr val="accent3">
                    <a:lumMod val="40000"/>
                    <a:lumOff val="60000"/>
                  </a:schemeClr>
                </a:solidFill>
              </a:rPr>
              <a:t>Khder</a:t>
            </a:r>
            <a:endParaRPr lang="ar-EG" b="1" dirty="0">
              <a:solidFill>
                <a:schemeClr val="accent3">
                  <a:lumMod val="40000"/>
                  <a:lumOff val="60000"/>
                </a:schemeClr>
              </a:solidFill>
            </a:endParaRPr>
          </a:p>
        </p:txBody>
      </p:sp>
      <p:sp>
        <p:nvSpPr>
          <p:cNvPr id="4" name="TextBox 3"/>
          <p:cNvSpPr txBox="1"/>
          <p:nvPr/>
        </p:nvSpPr>
        <p:spPr>
          <a:xfrm>
            <a:off x="1911429" y="308663"/>
            <a:ext cx="7799499" cy="461665"/>
          </a:xfrm>
          <a:prstGeom prst="rect">
            <a:avLst/>
          </a:prstGeom>
          <a:noFill/>
        </p:spPr>
        <p:txBody>
          <a:bodyPr wrap="square" rtlCol="1">
            <a:spAutoFit/>
          </a:bodyPr>
          <a:lstStyle/>
          <a:p>
            <a:pPr algn="l"/>
            <a:r>
              <a:rPr lang="en-US" sz="2400" b="1" dirty="0" smtClean="0"/>
              <a:t>Data Definition Language (DDL) Statements</a:t>
            </a:r>
            <a:endParaRPr lang="en-US" sz="2400" b="1" dirty="0"/>
          </a:p>
        </p:txBody>
      </p:sp>
      <p:sp>
        <p:nvSpPr>
          <p:cNvPr id="7" name="TextBox 6"/>
          <p:cNvSpPr txBox="1"/>
          <p:nvPr/>
        </p:nvSpPr>
        <p:spPr>
          <a:xfrm>
            <a:off x="429769" y="1520548"/>
            <a:ext cx="11082528" cy="3046988"/>
          </a:xfrm>
          <a:prstGeom prst="rect">
            <a:avLst/>
          </a:prstGeom>
          <a:noFill/>
        </p:spPr>
        <p:txBody>
          <a:bodyPr wrap="square" rtlCol="1">
            <a:spAutoFit/>
          </a:bodyPr>
          <a:lstStyle/>
          <a:p>
            <a:pPr algn="l"/>
            <a:r>
              <a:rPr lang="en-US" sz="2400" b="1" dirty="0" smtClean="0">
                <a:solidFill>
                  <a:schemeClr val="accent3">
                    <a:lumMod val="40000"/>
                    <a:lumOff val="60000"/>
                  </a:schemeClr>
                </a:solidFill>
              </a:rPr>
              <a:t>ALTER TABLE Statements</a:t>
            </a:r>
          </a:p>
          <a:p>
            <a:pPr algn="l"/>
            <a:r>
              <a:rPr lang="en-US" sz="2400" b="1" dirty="0" smtClean="0"/>
              <a:t>The ALTER TABLE statement changes the structure of an existing table.</a:t>
            </a:r>
          </a:p>
          <a:p>
            <a:pPr algn="l"/>
            <a:r>
              <a:rPr lang="en-US" sz="2400" b="1" dirty="0" smtClean="0"/>
              <a:t>With the ALTER TABLE command, you can:</a:t>
            </a:r>
          </a:p>
          <a:p>
            <a:pPr algn="l"/>
            <a:r>
              <a:rPr lang="en-US" sz="2400" b="1" dirty="0" smtClean="0">
                <a:solidFill>
                  <a:schemeClr val="accent3"/>
                </a:solidFill>
              </a:rPr>
              <a:t>* Add one or more new columns to a table.</a:t>
            </a:r>
          </a:p>
          <a:p>
            <a:pPr algn="l"/>
            <a:r>
              <a:rPr lang="en-US" sz="2400" b="1" dirty="0" smtClean="0">
                <a:solidFill>
                  <a:schemeClr val="accent3"/>
                </a:solidFill>
              </a:rPr>
              <a:t>* Modify the data type of one or more existing columns.</a:t>
            </a:r>
          </a:p>
          <a:p>
            <a:pPr algn="l"/>
            <a:r>
              <a:rPr lang="en-US" sz="2400" b="1" dirty="0" smtClean="0">
                <a:solidFill>
                  <a:schemeClr val="accent3"/>
                </a:solidFill>
              </a:rPr>
              <a:t>* Drop one or more columns from a table.</a:t>
            </a:r>
          </a:p>
          <a:p>
            <a:pPr algn="l"/>
            <a:r>
              <a:rPr lang="en-US" sz="2400" b="1" dirty="0" smtClean="0">
                <a:solidFill>
                  <a:schemeClr val="accent3"/>
                </a:solidFill>
              </a:rPr>
              <a:t>* Rename a column or a table.</a:t>
            </a:r>
          </a:p>
          <a:p>
            <a:pPr algn="l"/>
            <a:r>
              <a:rPr lang="en-US" sz="2400" b="1" dirty="0" smtClean="0">
                <a:solidFill>
                  <a:schemeClr val="accent3"/>
                </a:solidFill>
              </a:rPr>
              <a:t>Much more..</a:t>
            </a:r>
            <a:endParaRPr lang="en-US" sz="2400" b="1" dirty="0">
              <a:solidFill>
                <a:schemeClr val="accent3"/>
              </a:solidFill>
            </a:endParaRPr>
          </a:p>
        </p:txBody>
      </p:sp>
    </p:spTree>
    <p:extLst>
      <p:ext uri="{BB962C8B-B14F-4D97-AF65-F5344CB8AC3E}">
        <p14:creationId xmlns:p14="http://schemas.microsoft.com/office/powerpoint/2010/main" val="40503604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33304" y="0"/>
            <a:ext cx="1758696" cy="1353312"/>
          </a:xfrm>
          <a:prstGeom prst="rect">
            <a:avLst/>
          </a:prstGeom>
        </p:spPr>
      </p:pic>
      <p:sp>
        <p:nvSpPr>
          <p:cNvPr id="6" name="TextBox 5"/>
          <p:cNvSpPr txBox="1"/>
          <p:nvPr/>
        </p:nvSpPr>
        <p:spPr>
          <a:xfrm>
            <a:off x="10309753" y="6488668"/>
            <a:ext cx="1882247" cy="369332"/>
          </a:xfrm>
          <a:prstGeom prst="rect">
            <a:avLst/>
          </a:prstGeom>
          <a:noFill/>
        </p:spPr>
        <p:txBody>
          <a:bodyPr wrap="none" rtlCol="1">
            <a:spAutoFit/>
          </a:bodyPr>
          <a:lstStyle/>
          <a:p>
            <a:r>
              <a:rPr lang="en-US" b="1" dirty="0" smtClean="0">
                <a:solidFill>
                  <a:schemeClr val="accent3">
                    <a:lumMod val="40000"/>
                    <a:lumOff val="60000"/>
                  </a:schemeClr>
                </a:solidFill>
              </a:rPr>
              <a:t>By </a:t>
            </a:r>
            <a:r>
              <a:rPr lang="en-US" b="1" dirty="0" err="1" smtClean="0">
                <a:solidFill>
                  <a:schemeClr val="accent3">
                    <a:lumMod val="40000"/>
                    <a:lumOff val="60000"/>
                  </a:schemeClr>
                </a:solidFill>
              </a:rPr>
              <a:t>Eslam</a:t>
            </a:r>
            <a:r>
              <a:rPr lang="en-US" b="1" dirty="0" smtClean="0">
                <a:solidFill>
                  <a:schemeClr val="accent3">
                    <a:lumMod val="40000"/>
                    <a:lumOff val="60000"/>
                  </a:schemeClr>
                </a:solidFill>
              </a:rPr>
              <a:t> </a:t>
            </a:r>
            <a:r>
              <a:rPr lang="en-US" b="1" dirty="0" err="1" smtClean="0">
                <a:solidFill>
                  <a:schemeClr val="accent3">
                    <a:lumMod val="40000"/>
                    <a:lumOff val="60000"/>
                  </a:schemeClr>
                </a:solidFill>
              </a:rPr>
              <a:t>Khder</a:t>
            </a:r>
            <a:endParaRPr lang="ar-EG" b="1" dirty="0">
              <a:solidFill>
                <a:schemeClr val="accent3">
                  <a:lumMod val="40000"/>
                  <a:lumOff val="60000"/>
                </a:schemeClr>
              </a:solidFill>
            </a:endParaRPr>
          </a:p>
        </p:txBody>
      </p:sp>
      <p:sp>
        <p:nvSpPr>
          <p:cNvPr id="4" name="TextBox 3"/>
          <p:cNvSpPr txBox="1"/>
          <p:nvPr/>
        </p:nvSpPr>
        <p:spPr>
          <a:xfrm>
            <a:off x="1911429" y="308663"/>
            <a:ext cx="7799499" cy="461665"/>
          </a:xfrm>
          <a:prstGeom prst="rect">
            <a:avLst/>
          </a:prstGeom>
          <a:noFill/>
        </p:spPr>
        <p:txBody>
          <a:bodyPr wrap="square" rtlCol="1">
            <a:spAutoFit/>
          </a:bodyPr>
          <a:lstStyle/>
          <a:p>
            <a:pPr algn="l"/>
            <a:r>
              <a:rPr lang="en-US" sz="2400" b="1" dirty="0" smtClean="0"/>
              <a:t>Data Definition Language (DDL) Statements</a:t>
            </a:r>
            <a:endParaRPr lang="en-US" sz="2400" b="1" dirty="0"/>
          </a:p>
        </p:txBody>
      </p:sp>
      <p:pic>
        <p:nvPicPr>
          <p:cNvPr id="2" name="Picture 1"/>
          <p:cNvPicPr>
            <a:picLocks noChangeAspect="1"/>
          </p:cNvPicPr>
          <p:nvPr/>
        </p:nvPicPr>
        <p:blipFill>
          <a:blip r:embed="rId4"/>
          <a:stretch>
            <a:fillRect/>
          </a:stretch>
        </p:blipFill>
        <p:spPr>
          <a:xfrm>
            <a:off x="690265" y="1353312"/>
            <a:ext cx="9619488" cy="5003892"/>
          </a:xfrm>
          <a:prstGeom prst="rect">
            <a:avLst/>
          </a:prstGeom>
        </p:spPr>
      </p:pic>
      <p:graphicFrame>
        <p:nvGraphicFramePr>
          <p:cNvPr id="8" name="Object 7"/>
          <p:cNvGraphicFramePr>
            <a:graphicFrameLocks noChangeAspect="1"/>
          </p:cNvGraphicFramePr>
          <p:nvPr>
            <p:extLst>
              <p:ext uri="{D42A27DB-BD31-4B8C-83A1-F6EECF244321}">
                <p14:modId xmlns:p14="http://schemas.microsoft.com/office/powerpoint/2010/main" val="1101157769"/>
              </p:ext>
            </p:extLst>
          </p:nvPr>
        </p:nvGraphicFramePr>
        <p:xfrm>
          <a:off x="7780865" y="5763329"/>
          <a:ext cx="2528888" cy="439738"/>
        </p:xfrm>
        <a:graphic>
          <a:graphicData uri="http://schemas.openxmlformats.org/presentationml/2006/ole">
            <mc:AlternateContent xmlns:mc="http://schemas.openxmlformats.org/markup-compatibility/2006">
              <mc:Choice xmlns:v="urn:schemas-microsoft-com:vml" Requires="v">
                <p:oleObj spid="_x0000_s22671" name="Packager Shell Object" showAsIcon="1" r:id="rId5" imgW="2528280" imgH="439560" progId="Package">
                  <p:embed/>
                </p:oleObj>
              </mc:Choice>
              <mc:Fallback>
                <p:oleObj name="Packager Shell Object" showAsIcon="1" r:id="rId5" imgW="2528280" imgH="439560" progId="Package">
                  <p:embed/>
                  <p:pic>
                    <p:nvPicPr>
                      <p:cNvPr id="0" name=""/>
                      <p:cNvPicPr/>
                      <p:nvPr/>
                    </p:nvPicPr>
                    <p:blipFill>
                      <a:blip r:embed="rId6"/>
                      <a:stretch>
                        <a:fillRect/>
                      </a:stretch>
                    </p:blipFill>
                    <p:spPr>
                      <a:xfrm>
                        <a:off x="7780865" y="5763329"/>
                        <a:ext cx="2528888" cy="439738"/>
                      </a:xfrm>
                      <a:prstGeom prst="rect">
                        <a:avLst/>
                      </a:prstGeom>
                    </p:spPr>
                  </p:pic>
                </p:oleObj>
              </mc:Fallback>
            </mc:AlternateContent>
          </a:graphicData>
        </a:graphic>
      </p:graphicFrame>
    </p:spTree>
    <p:extLst>
      <p:ext uri="{BB962C8B-B14F-4D97-AF65-F5344CB8AC3E}">
        <p14:creationId xmlns:p14="http://schemas.microsoft.com/office/powerpoint/2010/main" val="1784170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433304" y="0"/>
            <a:ext cx="1758696" cy="1353312"/>
          </a:xfrm>
          <a:prstGeom prst="rect">
            <a:avLst/>
          </a:prstGeom>
        </p:spPr>
      </p:pic>
      <p:sp>
        <p:nvSpPr>
          <p:cNvPr id="6" name="TextBox 5"/>
          <p:cNvSpPr txBox="1"/>
          <p:nvPr/>
        </p:nvSpPr>
        <p:spPr>
          <a:xfrm>
            <a:off x="10309753" y="6488668"/>
            <a:ext cx="1882247" cy="369332"/>
          </a:xfrm>
          <a:prstGeom prst="rect">
            <a:avLst/>
          </a:prstGeom>
          <a:noFill/>
        </p:spPr>
        <p:txBody>
          <a:bodyPr wrap="none" rtlCol="1">
            <a:spAutoFit/>
          </a:bodyPr>
          <a:lstStyle/>
          <a:p>
            <a:r>
              <a:rPr lang="en-US" b="1" dirty="0" smtClean="0">
                <a:solidFill>
                  <a:schemeClr val="accent3">
                    <a:lumMod val="40000"/>
                    <a:lumOff val="60000"/>
                  </a:schemeClr>
                </a:solidFill>
              </a:rPr>
              <a:t>By </a:t>
            </a:r>
            <a:r>
              <a:rPr lang="en-US" b="1" dirty="0" err="1" smtClean="0">
                <a:solidFill>
                  <a:schemeClr val="accent3">
                    <a:lumMod val="40000"/>
                    <a:lumOff val="60000"/>
                  </a:schemeClr>
                </a:solidFill>
              </a:rPr>
              <a:t>Eslam</a:t>
            </a:r>
            <a:r>
              <a:rPr lang="en-US" b="1" dirty="0" smtClean="0">
                <a:solidFill>
                  <a:schemeClr val="accent3">
                    <a:lumMod val="40000"/>
                    <a:lumOff val="60000"/>
                  </a:schemeClr>
                </a:solidFill>
              </a:rPr>
              <a:t> </a:t>
            </a:r>
            <a:r>
              <a:rPr lang="en-US" b="1" dirty="0" err="1" smtClean="0">
                <a:solidFill>
                  <a:schemeClr val="accent3">
                    <a:lumMod val="40000"/>
                    <a:lumOff val="60000"/>
                  </a:schemeClr>
                </a:solidFill>
              </a:rPr>
              <a:t>Khder</a:t>
            </a:r>
            <a:endParaRPr lang="ar-EG" b="1" dirty="0">
              <a:solidFill>
                <a:schemeClr val="accent3">
                  <a:lumMod val="40000"/>
                  <a:lumOff val="60000"/>
                </a:schemeClr>
              </a:solidFill>
            </a:endParaRPr>
          </a:p>
        </p:txBody>
      </p:sp>
      <p:sp>
        <p:nvSpPr>
          <p:cNvPr id="4" name="TextBox 3"/>
          <p:cNvSpPr txBox="1"/>
          <p:nvPr/>
        </p:nvSpPr>
        <p:spPr>
          <a:xfrm>
            <a:off x="1911429" y="308663"/>
            <a:ext cx="7799499" cy="461665"/>
          </a:xfrm>
          <a:prstGeom prst="rect">
            <a:avLst/>
          </a:prstGeom>
          <a:noFill/>
        </p:spPr>
        <p:txBody>
          <a:bodyPr wrap="square" rtlCol="1">
            <a:spAutoFit/>
          </a:bodyPr>
          <a:lstStyle/>
          <a:p>
            <a:pPr algn="l"/>
            <a:r>
              <a:rPr lang="en-US" sz="2400" b="1" dirty="0" smtClean="0"/>
              <a:t>Data Definition Language (DDL) Statements</a:t>
            </a:r>
            <a:endParaRPr lang="en-US" sz="2400" b="1" dirty="0"/>
          </a:p>
        </p:txBody>
      </p:sp>
      <p:sp>
        <p:nvSpPr>
          <p:cNvPr id="2" name="Rectangle 1"/>
          <p:cNvSpPr/>
          <p:nvPr/>
        </p:nvSpPr>
        <p:spPr>
          <a:xfrm>
            <a:off x="155448" y="770328"/>
            <a:ext cx="11548872" cy="4832092"/>
          </a:xfrm>
          <a:prstGeom prst="rect">
            <a:avLst/>
          </a:prstGeom>
        </p:spPr>
        <p:txBody>
          <a:bodyPr wrap="square">
            <a:spAutoFit/>
          </a:bodyPr>
          <a:lstStyle/>
          <a:p>
            <a:pPr algn="l"/>
            <a:r>
              <a:rPr lang="ar-EG" sz="2800" b="1" dirty="0" smtClean="0"/>
              <a:t>  READ ONLY Tables </a:t>
            </a:r>
          </a:p>
          <a:p>
            <a:pPr algn="l"/>
            <a:r>
              <a:rPr lang="ar-EG" sz="2800" dirty="0" smtClean="0"/>
              <a:t> Read-only means allowing users to read, but not modify, data</a:t>
            </a:r>
          </a:p>
          <a:p>
            <a:pPr algn="l"/>
            <a:r>
              <a:rPr lang="ar-EG" sz="2800" dirty="0" smtClean="0"/>
              <a:t>We need to do maintenance on some tables</a:t>
            </a:r>
          </a:p>
          <a:p>
            <a:pPr algn="l"/>
            <a:r>
              <a:rPr lang="ar-EG" sz="2800" dirty="0" smtClean="0"/>
              <a:t>During these times, we may want to prevent any DML operations and certain DDL statements that affect the data on those tables against any accidental changes</a:t>
            </a:r>
          </a:p>
          <a:p>
            <a:pPr algn="l"/>
            <a:r>
              <a:rPr lang="ar-EG" sz="2800" dirty="0" smtClean="0"/>
              <a:t>Oracle allows us to create such tables using the "READ-ONLY" feature.The READ ONLY clause is used at the end of the ALTER TABLE syntax to set a table to read-only</a:t>
            </a:r>
          </a:p>
          <a:p>
            <a:pPr algn="l"/>
            <a:r>
              <a:rPr lang="en-US" sz="2800" dirty="0" smtClean="0"/>
              <a:t>To change a read-only table to read-write again, the READ WRITE clause is used at the end of the ALTER TABLE statement.</a:t>
            </a:r>
            <a:endParaRPr lang="ar-EG" sz="2800" dirty="0"/>
          </a:p>
        </p:txBody>
      </p:sp>
      <p:pic>
        <p:nvPicPr>
          <p:cNvPr id="3" name="Picture 2"/>
          <p:cNvPicPr>
            <a:picLocks noChangeAspect="1"/>
          </p:cNvPicPr>
          <p:nvPr/>
        </p:nvPicPr>
        <p:blipFill>
          <a:blip r:embed="rId5"/>
          <a:stretch>
            <a:fillRect/>
          </a:stretch>
        </p:blipFill>
        <p:spPr>
          <a:xfrm>
            <a:off x="374332" y="5602420"/>
            <a:ext cx="6492812" cy="1200341"/>
          </a:xfrm>
          <a:prstGeom prst="rect">
            <a:avLst/>
          </a:prstGeom>
        </p:spPr>
      </p:pic>
      <p:sp>
        <p:nvSpPr>
          <p:cNvPr id="8" name="Rectangle 7"/>
          <p:cNvSpPr/>
          <p:nvPr/>
        </p:nvSpPr>
        <p:spPr>
          <a:xfrm>
            <a:off x="7221420" y="5602420"/>
            <a:ext cx="4866948" cy="886248"/>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1" anchor="ctr"/>
          <a:lstStyle/>
          <a:p>
            <a:pPr algn="ctr"/>
            <a:endParaRPr lang="ar-EG"/>
          </a:p>
        </p:txBody>
      </p:sp>
      <p:graphicFrame>
        <p:nvGraphicFramePr>
          <p:cNvPr id="9" name="Object 8"/>
          <p:cNvGraphicFramePr>
            <a:graphicFrameLocks noChangeAspect="1"/>
          </p:cNvGraphicFramePr>
          <p:nvPr>
            <p:extLst>
              <p:ext uri="{D42A27DB-BD31-4B8C-83A1-F6EECF244321}">
                <p14:modId xmlns:p14="http://schemas.microsoft.com/office/powerpoint/2010/main" val="1423011524"/>
              </p:ext>
            </p:extLst>
          </p:nvPr>
        </p:nvGraphicFramePr>
        <p:xfrm>
          <a:off x="7488403" y="5687487"/>
          <a:ext cx="4219234" cy="691554"/>
        </p:xfrm>
        <a:graphic>
          <a:graphicData uri="http://schemas.openxmlformats.org/presentationml/2006/ole">
            <mc:AlternateContent xmlns:mc="http://schemas.openxmlformats.org/markup-compatibility/2006">
              <mc:Choice xmlns:v="urn:schemas-microsoft-com:vml" Requires="v">
                <p:oleObj spid="_x0000_s23696" name="Packager Shell Object" showAsIcon="1" r:id="rId6" imgW="2683080" imgH="439560" progId="Package">
                  <p:embed/>
                </p:oleObj>
              </mc:Choice>
              <mc:Fallback>
                <p:oleObj name="Packager Shell Object" showAsIcon="1" r:id="rId6" imgW="2683080" imgH="439560" progId="Package">
                  <p:embed/>
                  <p:pic>
                    <p:nvPicPr>
                      <p:cNvPr id="0" name=""/>
                      <p:cNvPicPr/>
                      <p:nvPr/>
                    </p:nvPicPr>
                    <p:blipFill>
                      <a:blip r:embed="rId7"/>
                      <a:stretch>
                        <a:fillRect/>
                      </a:stretch>
                    </p:blipFill>
                    <p:spPr>
                      <a:xfrm>
                        <a:off x="7488403" y="5687487"/>
                        <a:ext cx="4219234" cy="691554"/>
                      </a:xfrm>
                      <a:prstGeom prst="rect">
                        <a:avLst/>
                      </a:prstGeom>
                    </p:spPr>
                  </p:pic>
                </p:oleObj>
              </mc:Fallback>
            </mc:AlternateContent>
          </a:graphicData>
        </a:graphic>
      </p:graphicFrame>
    </p:spTree>
    <p:extLst>
      <p:ext uri="{BB962C8B-B14F-4D97-AF65-F5344CB8AC3E}">
        <p14:creationId xmlns:p14="http://schemas.microsoft.com/office/powerpoint/2010/main" val="4501014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33304" y="0"/>
            <a:ext cx="1758696" cy="1353312"/>
          </a:xfrm>
          <a:prstGeom prst="rect">
            <a:avLst/>
          </a:prstGeom>
        </p:spPr>
      </p:pic>
      <p:sp>
        <p:nvSpPr>
          <p:cNvPr id="6" name="TextBox 5"/>
          <p:cNvSpPr txBox="1"/>
          <p:nvPr/>
        </p:nvSpPr>
        <p:spPr>
          <a:xfrm>
            <a:off x="10309753" y="6488668"/>
            <a:ext cx="1882247" cy="369332"/>
          </a:xfrm>
          <a:prstGeom prst="rect">
            <a:avLst/>
          </a:prstGeom>
          <a:noFill/>
        </p:spPr>
        <p:txBody>
          <a:bodyPr wrap="none" rtlCol="1">
            <a:spAutoFit/>
          </a:bodyPr>
          <a:lstStyle/>
          <a:p>
            <a:r>
              <a:rPr lang="en-US" b="1" dirty="0" smtClean="0">
                <a:solidFill>
                  <a:schemeClr val="accent3">
                    <a:lumMod val="40000"/>
                    <a:lumOff val="60000"/>
                  </a:schemeClr>
                </a:solidFill>
              </a:rPr>
              <a:t>By </a:t>
            </a:r>
            <a:r>
              <a:rPr lang="en-US" b="1" dirty="0" err="1" smtClean="0">
                <a:solidFill>
                  <a:schemeClr val="accent3">
                    <a:lumMod val="40000"/>
                    <a:lumOff val="60000"/>
                  </a:schemeClr>
                </a:solidFill>
              </a:rPr>
              <a:t>Eslam</a:t>
            </a:r>
            <a:r>
              <a:rPr lang="en-US" b="1" dirty="0" smtClean="0">
                <a:solidFill>
                  <a:schemeClr val="accent3">
                    <a:lumMod val="40000"/>
                    <a:lumOff val="60000"/>
                  </a:schemeClr>
                </a:solidFill>
              </a:rPr>
              <a:t> </a:t>
            </a:r>
            <a:r>
              <a:rPr lang="en-US" b="1" dirty="0" err="1" smtClean="0">
                <a:solidFill>
                  <a:schemeClr val="accent3">
                    <a:lumMod val="40000"/>
                    <a:lumOff val="60000"/>
                  </a:schemeClr>
                </a:solidFill>
              </a:rPr>
              <a:t>Khder</a:t>
            </a:r>
            <a:endParaRPr lang="ar-EG" b="1" dirty="0">
              <a:solidFill>
                <a:schemeClr val="accent3">
                  <a:lumMod val="40000"/>
                  <a:lumOff val="60000"/>
                </a:schemeClr>
              </a:solidFill>
            </a:endParaRPr>
          </a:p>
        </p:txBody>
      </p:sp>
      <p:sp>
        <p:nvSpPr>
          <p:cNvPr id="4" name="TextBox 3"/>
          <p:cNvSpPr txBox="1"/>
          <p:nvPr/>
        </p:nvSpPr>
        <p:spPr>
          <a:xfrm>
            <a:off x="1911429" y="308663"/>
            <a:ext cx="7799499" cy="461665"/>
          </a:xfrm>
          <a:prstGeom prst="rect">
            <a:avLst/>
          </a:prstGeom>
          <a:noFill/>
        </p:spPr>
        <p:txBody>
          <a:bodyPr wrap="square" rtlCol="1">
            <a:spAutoFit/>
          </a:bodyPr>
          <a:lstStyle/>
          <a:p>
            <a:pPr algn="l"/>
            <a:r>
              <a:rPr lang="en-US" sz="2400" b="1" dirty="0" smtClean="0"/>
              <a:t>Data Definition Language (DDL) Statements</a:t>
            </a:r>
            <a:endParaRPr lang="en-US" sz="2400" b="1" dirty="0"/>
          </a:p>
        </p:txBody>
      </p:sp>
      <p:pic>
        <p:nvPicPr>
          <p:cNvPr id="2" name="Picture 1"/>
          <p:cNvPicPr>
            <a:picLocks noChangeAspect="1"/>
          </p:cNvPicPr>
          <p:nvPr/>
        </p:nvPicPr>
        <p:blipFill>
          <a:blip r:embed="rId4"/>
          <a:stretch>
            <a:fillRect/>
          </a:stretch>
        </p:blipFill>
        <p:spPr>
          <a:xfrm>
            <a:off x="95250" y="4728400"/>
            <a:ext cx="12096750" cy="1552575"/>
          </a:xfrm>
          <a:prstGeom prst="rect">
            <a:avLst/>
          </a:prstGeom>
        </p:spPr>
      </p:pic>
      <p:graphicFrame>
        <p:nvGraphicFramePr>
          <p:cNvPr id="3" name="Object 2"/>
          <p:cNvGraphicFramePr>
            <a:graphicFrameLocks noChangeAspect="1"/>
          </p:cNvGraphicFramePr>
          <p:nvPr>
            <p:extLst>
              <p:ext uri="{D42A27DB-BD31-4B8C-83A1-F6EECF244321}">
                <p14:modId xmlns:p14="http://schemas.microsoft.com/office/powerpoint/2010/main" val="1606546396"/>
              </p:ext>
            </p:extLst>
          </p:nvPr>
        </p:nvGraphicFramePr>
        <p:xfrm>
          <a:off x="7995019" y="5494898"/>
          <a:ext cx="4347540" cy="786077"/>
        </p:xfrm>
        <a:graphic>
          <a:graphicData uri="http://schemas.openxmlformats.org/presentationml/2006/ole">
            <mc:AlternateContent xmlns:mc="http://schemas.openxmlformats.org/markup-compatibility/2006">
              <mc:Choice xmlns:v="urn:schemas-microsoft-com:vml" Requires="v">
                <p:oleObj spid="_x0000_s25738" name="Packager Shell Object" showAsIcon="1" r:id="rId5" imgW="2431800" imgH="439560" progId="Package">
                  <p:embed/>
                </p:oleObj>
              </mc:Choice>
              <mc:Fallback>
                <p:oleObj name="Packager Shell Object" showAsIcon="1" r:id="rId5" imgW="2431800" imgH="439560" progId="Package">
                  <p:embed/>
                  <p:pic>
                    <p:nvPicPr>
                      <p:cNvPr id="0" name=""/>
                      <p:cNvPicPr/>
                      <p:nvPr/>
                    </p:nvPicPr>
                    <p:blipFill>
                      <a:blip r:embed="rId6"/>
                      <a:stretch>
                        <a:fillRect/>
                      </a:stretch>
                    </p:blipFill>
                    <p:spPr>
                      <a:xfrm>
                        <a:off x="7995019" y="5494898"/>
                        <a:ext cx="4347540" cy="786077"/>
                      </a:xfrm>
                      <a:prstGeom prst="rect">
                        <a:avLst/>
                      </a:prstGeom>
                    </p:spPr>
                  </p:pic>
                </p:oleObj>
              </mc:Fallback>
            </mc:AlternateContent>
          </a:graphicData>
        </a:graphic>
      </p:graphicFrame>
      <p:sp>
        <p:nvSpPr>
          <p:cNvPr id="7" name="Rectangle 6"/>
          <p:cNvSpPr/>
          <p:nvPr/>
        </p:nvSpPr>
        <p:spPr>
          <a:xfrm>
            <a:off x="201168" y="1915775"/>
            <a:ext cx="11738229" cy="1200329"/>
          </a:xfrm>
          <a:prstGeom prst="rect">
            <a:avLst/>
          </a:prstGeom>
        </p:spPr>
        <p:txBody>
          <a:bodyPr wrap="square">
            <a:spAutoFit/>
          </a:bodyPr>
          <a:lstStyle/>
          <a:p>
            <a:pPr algn="l"/>
            <a:r>
              <a:rPr lang="ar-EG" dirty="0" smtClean="0"/>
              <a:t>The DROP TABLE statement removes an existing table with all its data from the database and moves it to the recycle bin</a:t>
            </a:r>
          </a:p>
          <a:p>
            <a:pPr algn="l"/>
            <a:r>
              <a:rPr lang="en-US" dirty="0" smtClean="0"/>
              <a:t>After dropping a table, we can restore it for a short time using the FLASHBACK TABLE statement.</a:t>
            </a:r>
            <a:endParaRPr lang="ar-EG" dirty="0" smtClean="0"/>
          </a:p>
          <a:p>
            <a:pPr algn="l"/>
            <a:r>
              <a:rPr lang="en-US" dirty="0" smtClean="0"/>
              <a:t>After dropping a table, all the objects related to that table will also be deleted or become invalid.</a:t>
            </a:r>
            <a:endParaRPr lang="ar-EG" dirty="0"/>
          </a:p>
        </p:txBody>
      </p:sp>
    </p:spTree>
    <p:extLst>
      <p:ext uri="{BB962C8B-B14F-4D97-AF65-F5344CB8AC3E}">
        <p14:creationId xmlns:p14="http://schemas.microsoft.com/office/powerpoint/2010/main" val="5339004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3304" y="0"/>
            <a:ext cx="1758696" cy="1353312"/>
          </a:xfrm>
          <a:prstGeom prst="rect">
            <a:avLst/>
          </a:prstGeom>
        </p:spPr>
      </p:pic>
      <p:sp>
        <p:nvSpPr>
          <p:cNvPr id="6" name="TextBox 5"/>
          <p:cNvSpPr txBox="1"/>
          <p:nvPr/>
        </p:nvSpPr>
        <p:spPr>
          <a:xfrm>
            <a:off x="10309753" y="6488668"/>
            <a:ext cx="1882247" cy="369332"/>
          </a:xfrm>
          <a:prstGeom prst="rect">
            <a:avLst/>
          </a:prstGeom>
          <a:noFill/>
        </p:spPr>
        <p:txBody>
          <a:bodyPr wrap="none" rtlCol="1">
            <a:spAutoFit/>
          </a:bodyPr>
          <a:lstStyle/>
          <a:p>
            <a:r>
              <a:rPr lang="en-US" b="1" dirty="0" smtClean="0">
                <a:solidFill>
                  <a:schemeClr val="accent3">
                    <a:lumMod val="40000"/>
                    <a:lumOff val="60000"/>
                  </a:schemeClr>
                </a:solidFill>
              </a:rPr>
              <a:t>By </a:t>
            </a:r>
            <a:r>
              <a:rPr lang="en-US" b="1" dirty="0" err="1" smtClean="0">
                <a:solidFill>
                  <a:schemeClr val="accent3">
                    <a:lumMod val="40000"/>
                    <a:lumOff val="60000"/>
                  </a:schemeClr>
                </a:solidFill>
              </a:rPr>
              <a:t>Eslam</a:t>
            </a:r>
            <a:r>
              <a:rPr lang="en-US" b="1" dirty="0" smtClean="0">
                <a:solidFill>
                  <a:schemeClr val="accent3">
                    <a:lumMod val="40000"/>
                    <a:lumOff val="60000"/>
                  </a:schemeClr>
                </a:solidFill>
              </a:rPr>
              <a:t> </a:t>
            </a:r>
            <a:r>
              <a:rPr lang="en-US" b="1" dirty="0" err="1" smtClean="0">
                <a:solidFill>
                  <a:schemeClr val="accent3">
                    <a:lumMod val="40000"/>
                    <a:lumOff val="60000"/>
                  </a:schemeClr>
                </a:solidFill>
              </a:rPr>
              <a:t>Khder</a:t>
            </a:r>
            <a:endParaRPr lang="ar-EG" b="1" dirty="0">
              <a:solidFill>
                <a:schemeClr val="accent3">
                  <a:lumMod val="40000"/>
                  <a:lumOff val="60000"/>
                </a:schemeClr>
              </a:solidFill>
            </a:endParaRPr>
          </a:p>
        </p:txBody>
      </p:sp>
      <p:sp>
        <p:nvSpPr>
          <p:cNvPr id="2" name="Rectangle 1"/>
          <p:cNvSpPr/>
          <p:nvPr/>
        </p:nvSpPr>
        <p:spPr>
          <a:xfrm>
            <a:off x="332231" y="1410355"/>
            <a:ext cx="11591545" cy="5262979"/>
          </a:xfrm>
          <a:prstGeom prst="rect">
            <a:avLst/>
          </a:prstGeom>
        </p:spPr>
        <p:txBody>
          <a:bodyPr wrap="square">
            <a:spAutoFit/>
          </a:bodyPr>
          <a:lstStyle/>
          <a:p>
            <a:pPr algn="l"/>
            <a:r>
              <a:rPr lang="en-US" sz="2400" dirty="0" smtClean="0"/>
              <a:t>- </a:t>
            </a:r>
            <a:r>
              <a:rPr lang="ar-EG" sz="2400" dirty="0" smtClean="0"/>
              <a:t>TRUNCATE TABLE Statement&amp; The DELETE statement deletes all data row by  row whereas the TRUNCATE statement deletes all rowfrom a table more quickly</a:t>
            </a:r>
          </a:p>
          <a:p>
            <a:pPr algn="l"/>
            <a:endParaRPr lang="ar-EG" sz="2400" dirty="0" smtClean="0"/>
          </a:p>
          <a:p>
            <a:pPr algn="l"/>
            <a:r>
              <a:rPr lang="en-US" sz="2400" dirty="0" smtClean="0"/>
              <a:t>- The TRUNCATE statement is one of the DDL (</a:t>
            </a:r>
            <a:r>
              <a:rPr lang="en-US" sz="2400" dirty="0" err="1" smtClean="0"/>
              <a:t>DataDefinition</a:t>
            </a:r>
            <a:r>
              <a:rPr lang="en-US" sz="2400" dirty="0" smtClean="0"/>
              <a:t> Language) statements so it </a:t>
            </a:r>
            <a:r>
              <a:rPr lang="en-US" sz="2400" dirty="0" err="1" smtClean="0"/>
              <a:t>willauto</a:t>
            </a:r>
            <a:r>
              <a:rPr lang="en-US" sz="2400" dirty="0" smtClean="0"/>
              <a:t>-commit changes immediately after removing data.</a:t>
            </a:r>
          </a:p>
          <a:p>
            <a:pPr algn="l"/>
            <a:endParaRPr lang="en-US" sz="2400" dirty="0" smtClean="0"/>
          </a:p>
          <a:p>
            <a:pPr algn="l"/>
            <a:r>
              <a:rPr lang="en-US" sz="2400" dirty="0" smtClean="0"/>
              <a:t>- TRUNCATE does not allow rollback.</a:t>
            </a:r>
          </a:p>
          <a:p>
            <a:pPr algn="l"/>
            <a:endParaRPr lang="en-US" sz="2400" dirty="0" smtClean="0"/>
          </a:p>
          <a:p>
            <a:pPr algn="l"/>
            <a:r>
              <a:rPr lang="en-US" sz="2400" dirty="0" smtClean="0"/>
              <a:t>- The data deleted using the TRUNCATE statement cannot easily be restored     (FLASHBACK) </a:t>
            </a:r>
            <a:r>
              <a:rPr lang="en-US" sz="2400" dirty="0" err="1" smtClean="0"/>
              <a:t>becauseTRUNCATE</a:t>
            </a:r>
            <a:r>
              <a:rPr lang="en-US" sz="2400" dirty="0" smtClean="0"/>
              <a:t> does not generate any undo information or    		log data.</a:t>
            </a:r>
          </a:p>
          <a:p>
            <a:pPr algn="l"/>
            <a:endParaRPr lang="en-US" sz="2400" dirty="0" smtClean="0"/>
          </a:p>
          <a:p>
            <a:pPr algn="l"/>
            <a:r>
              <a:rPr lang="en-US" sz="2400" dirty="0" smtClean="0"/>
              <a:t>- The TRUNCATE statement works faster than the DELETE statement.</a:t>
            </a:r>
            <a:endParaRPr lang="ar-EG" sz="2400" dirty="0"/>
          </a:p>
        </p:txBody>
      </p:sp>
      <p:sp>
        <p:nvSpPr>
          <p:cNvPr id="7" name="TextBox 6"/>
          <p:cNvSpPr txBox="1"/>
          <p:nvPr/>
        </p:nvSpPr>
        <p:spPr>
          <a:xfrm>
            <a:off x="1893141" y="546407"/>
            <a:ext cx="7799499" cy="461665"/>
          </a:xfrm>
          <a:prstGeom prst="rect">
            <a:avLst/>
          </a:prstGeom>
          <a:noFill/>
        </p:spPr>
        <p:txBody>
          <a:bodyPr wrap="square" rtlCol="1">
            <a:spAutoFit/>
          </a:bodyPr>
          <a:lstStyle/>
          <a:p>
            <a:pPr algn="l"/>
            <a:r>
              <a:rPr lang="en-US" sz="2400" b="1" dirty="0" smtClean="0"/>
              <a:t>Data Definition Language (DDL) Statements</a:t>
            </a:r>
            <a:endParaRPr lang="en-US" sz="2400" b="1" dirty="0"/>
          </a:p>
        </p:txBody>
      </p:sp>
    </p:spTree>
    <p:extLst>
      <p:ext uri="{BB962C8B-B14F-4D97-AF65-F5344CB8AC3E}">
        <p14:creationId xmlns:p14="http://schemas.microsoft.com/office/powerpoint/2010/main" val="30104324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3304" y="0"/>
            <a:ext cx="1758696" cy="1353312"/>
          </a:xfrm>
          <a:prstGeom prst="rect">
            <a:avLst/>
          </a:prstGeom>
        </p:spPr>
      </p:pic>
      <p:sp>
        <p:nvSpPr>
          <p:cNvPr id="6" name="TextBox 5"/>
          <p:cNvSpPr txBox="1"/>
          <p:nvPr/>
        </p:nvSpPr>
        <p:spPr>
          <a:xfrm>
            <a:off x="10309753" y="6488668"/>
            <a:ext cx="1882247" cy="369332"/>
          </a:xfrm>
          <a:prstGeom prst="rect">
            <a:avLst/>
          </a:prstGeom>
          <a:noFill/>
        </p:spPr>
        <p:txBody>
          <a:bodyPr wrap="none" rtlCol="1">
            <a:spAutoFit/>
          </a:bodyPr>
          <a:lstStyle/>
          <a:p>
            <a:r>
              <a:rPr lang="en-US" b="1" dirty="0" smtClean="0">
                <a:solidFill>
                  <a:schemeClr val="accent3">
                    <a:lumMod val="40000"/>
                    <a:lumOff val="60000"/>
                  </a:schemeClr>
                </a:solidFill>
              </a:rPr>
              <a:t>By </a:t>
            </a:r>
            <a:r>
              <a:rPr lang="en-US" b="1" dirty="0" err="1" smtClean="0">
                <a:solidFill>
                  <a:schemeClr val="accent3">
                    <a:lumMod val="40000"/>
                    <a:lumOff val="60000"/>
                  </a:schemeClr>
                </a:solidFill>
              </a:rPr>
              <a:t>Eslam</a:t>
            </a:r>
            <a:r>
              <a:rPr lang="en-US" b="1" dirty="0" smtClean="0">
                <a:solidFill>
                  <a:schemeClr val="accent3">
                    <a:lumMod val="40000"/>
                    <a:lumOff val="60000"/>
                  </a:schemeClr>
                </a:solidFill>
              </a:rPr>
              <a:t> </a:t>
            </a:r>
            <a:r>
              <a:rPr lang="en-US" b="1" dirty="0" err="1" smtClean="0">
                <a:solidFill>
                  <a:schemeClr val="accent3">
                    <a:lumMod val="40000"/>
                    <a:lumOff val="60000"/>
                  </a:schemeClr>
                </a:solidFill>
              </a:rPr>
              <a:t>Khder</a:t>
            </a:r>
            <a:endParaRPr lang="ar-EG" b="1" dirty="0">
              <a:solidFill>
                <a:schemeClr val="accent3">
                  <a:lumMod val="40000"/>
                  <a:lumOff val="60000"/>
                </a:schemeClr>
              </a:solidFill>
            </a:endParaRPr>
          </a:p>
        </p:txBody>
      </p:sp>
      <p:sp>
        <p:nvSpPr>
          <p:cNvPr id="2" name="Rectangle 1"/>
          <p:cNvSpPr/>
          <p:nvPr/>
        </p:nvSpPr>
        <p:spPr>
          <a:xfrm>
            <a:off x="332231" y="1410355"/>
            <a:ext cx="11591545" cy="461665"/>
          </a:xfrm>
          <a:prstGeom prst="rect">
            <a:avLst/>
          </a:prstGeom>
        </p:spPr>
        <p:txBody>
          <a:bodyPr wrap="square">
            <a:spAutoFit/>
          </a:bodyPr>
          <a:lstStyle/>
          <a:p>
            <a:pPr algn="l"/>
            <a:r>
              <a:rPr lang="en-US" sz="2400" dirty="0" smtClean="0"/>
              <a:t>Why The </a:t>
            </a:r>
            <a:r>
              <a:rPr lang="en-US" sz="2400" dirty="0"/>
              <a:t>TRUNCATE statement works faster than the DELETE </a:t>
            </a:r>
            <a:r>
              <a:rPr lang="en-US" sz="2400" dirty="0" smtClean="0"/>
              <a:t>statement?</a:t>
            </a:r>
            <a:endParaRPr lang="ar-EG" sz="2400" dirty="0"/>
          </a:p>
        </p:txBody>
      </p:sp>
      <p:sp>
        <p:nvSpPr>
          <p:cNvPr id="7" name="TextBox 6"/>
          <p:cNvSpPr txBox="1"/>
          <p:nvPr/>
        </p:nvSpPr>
        <p:spPr>
          <a:xfrm>
            <a:off x="1893141" y="546407"/>
            <a:ext cx="7799499" cy="461665"/>
          </a:xfrm>
          <a:prstGeom prst="rect">
            <a:avLst/>
          </a:prstGeom>
          <a:noFill/>
        </p:spPr>
        <p:txBody>
          <a:bodyPr wrap="square" rtlCol="1">
            <a:spAutoFit/>
          </a:bodyPr>
          <a:lstStyle/>
          <a:p>
            <a:pPr algn="l"/>
            <a:r>
              <a:rPr lang="en-US" sz="2400" b="1" dirty="0" smtClean="0"/>
              <a:t>Data Definition Language (DDL) Statements</a:t>
            </a:r>
            <a:endParaRPr lang="en-US" sz="2400" b="1" dirty="0"/>
          </a:p>
        </p:txBody>
      </p:sp>
    </p:spTree>
    <p:extLst>
      <p:ext uri="{BB962C8B-B14F-4D97-AF65-F5344CB8AC3E}">
        <p14:creationId xmlns:p14="http://schemas.microsoft.com/office/powerpoint/2010/main" val="39663306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0309753" y="6488668"/>
            <a:ext cx="1882247" cy="369332"/>
          </a:xfrm>
          <a:prstGeom prst="rect">
            <a:avLst/>
          </a:prstGeom>
          <a:noFill/>
        </p:spPr>
        <p:txBody>
          <a:bodyPr wrap="none" rtlCol="1">
            <a:spAutoFit/>
          </a:bodyPr>
          <a:lstStyle/>
          <a:p>
            <a:r>
              <a:rPr lang="en-US" b="1" dirty="0" smtClean="0">
                <a:solidFill>
                  <a:schemeClr val="accent3">
                    <a:lumMod val="40000"/>
                    <a:lumOff val="60000"/>
                  </a:schemeClr>
                </a:solidFill>
              </a:rPr>
              <a:t>By </a:t>
            </a:r>
            <a:r>
              <a:rPr lang="en-US" b="1" dirty="0" err="1" smtClean="0">
                <a:solidFill>
                  <a:schemeClr val="accent3">
                    <a:lumMod val="40000"/>
                    <a:lumOff val="60000"/>
                  </a:schemeClr>
                </a:solidFill>
              </a:rPr>
              <a:t>Eslam</a:t>
            </a:r>
            <a:r>
              <a:rPr lang="en-US" b="1" dirty="0" smtClean="0">
                <a:solidFill>
                  <a:schemeClr val="accent3">
                    <a:lumMod val="40000"/>
                    <a:lumOff val="60000"/>
                  </a:schemeClr>
                </a:solidFill>
              </a:rPr>
              <a:t> </a:t>
            </a:r>
            <a:r>
              <a:rPr lang="en-US" b="1" dirty="0" err="1" smtClean="0">
                <a:solidFill>
                  <a:schemeClr val="accent3">
                    <a:lumMod val="40000"/>
                    <a:lumOff val="60000"/>
                  </a:schemeClr>
                </a:solidFill>
              </a:rPr>
              <a:t>Khder</a:t>
            </a:r>
            <a:endParaRPr lang="ar-EG" b="1" dirty="0">
              <a:solidFill>
                <a:schemeClr val="accent3">
                  <a:lumMod val="40000"/>
                  <a:lumOff val="60000"/>
                </a:schemeClr>
              </a:solidFill>
            </a:endParaRP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33304" y="0"/>
            <a:ext cx="1758696" cy="1353312"/>
          </a:xfrm>
          <a:prstGeom prst="rect">
            <a:avLst/>
          </a:prstGeom>
        </p:spPr>
      </p:pic>
      <p:sp>
        <p:nvSpPr>
          <p:cNvPr id="8" name="TextBox 7"/>
          <p:cNvSpPr txBox="1"/>
          <p:nvPr/>
        </p:nvSpPr>
        <p:spPr>
          <a:xfrm>
            <a:off x="1637109" y="320527"/>
            <a:ext cx="7799499" cy="461665"/>
          </a:xfrm>
          <a:prstGeom prst="rect">
            <a:avLst/>
          </a:prstGeom>
          <a:noFill/>
        </p:spPr>
        <p:txBody>
          <a:bodyPr wrap="square" rtlCol="1">
            <a:spAutoFit/>
          </a:bodyPr>
          <a:lstStyle/>
          <a:p>
            <a:pPr algn="l"/>
            <a:r>
              <a:rPr lang="en-US" sz="2400" b="1" dirty="0" smtClean="0"/>
              <a:t>Data Definition Language (DDL) Statements</a:t>
            </a:r>
            <a:endParaRPr lang="en-US" sz="2400" b="1" dirty="0"/>
          </a:p>
        </p:txBody>
      </p:sp>
      <p:pic>
        <p:nvPicPr>
          <p:cNvPr id="4" name="Picture 3"/>
          <p:cNvPicPr>
            <a:picLocks noChangeAspect="1"/>
          </p:cNvPicPr>
          <p:nvPr/>
        </p:nvPicPr>
        <p:blipFill>
          <a:blip r:embed="rId4"/>
          <a:stretch>
            <a:fillRect/>
          </a:stretch>
        </p:blipFill>
        <p:spPr>
          <a:xfrm>
            <a:off x="489478" y="954643"/>
            <a:ext cx="9820275" cy="5534025"/>
          </a:xfrm>
          <a:prstGeom prst="rect">
            <a:avLst/>
          </a:prstGeom>
        </p:spPr>
      </p:pic>
      <p:graphicFrame>
        <p:nvGraphicFramePr>
          <p:cNvPr id="10" name="Object 9"/>
          <p:cNvGraphicFramePr>
            <a:graphicFrameLocks noChangeAspect="1"/>
          </p:cNvGraphicFramePr>
          <p:nvPr>
            <p:extLst>
              <p:ext uri="{D42A27DB-BD31-4B8C-83A1-F6EECF244321}">
                <p14:modId xmlns:p14="http://schemas.microsoft.com/office/powerpoint/2010/main" val="2651434197"/>
              </p:ext>
            </p:extLst>
          </p:nvPr>
        </p:nvGraphicFramePr>
        <p:xfrm>
          <a:off x="5536858" y="5462889"/>
          <a:ext cx="4634589" cy="733171"/>
        </p:xfrm>
        <a:graphic>
          <a:graphicData uri="http://schemas.openxmlformats.org/presentationml/2006/ole">
            <mc:AlternateContent xmlns:mc="http://schemas.openxmlformats.org/markup-compatibility/2006">
              <mc:Choice xmlns:v="urn:schemas-microsoft-com:vml" Requires="v">
                <p:oleObj spid="_x0000_s16518" name="Packager Shell Object" showAsIcon="1" r:id="rId5" imgW="2779920" imgH="439560" progId="Package">
                  <p:embed/>
                </p:oleObj>
              </mc:Choice>
              <mc:Fallback>
                <p:oleObj name="Packager Shell Object" showAsIcon="1" r:id="rId5" imgW="2779920" imgH="439560" progId="Package">
                  <p:embed/>
                  <p:pic>
                    <p:nvPicPr>
                      <p:cNvPr id="0" name=""/>
                      <p:cNvPicPr/>
                      <p:nvPr/>
                    </p:nvPicPr>
                    <p:blipFill>
                      <a:blip r:embed="rId6"/>
                      <a:stretch>
                        <a:fillRect/>
                      </a:stretch>
                    </p:blipFill>
                    <p:spPr>
                      <a:xfrm>
                        <a:off x="5536858" y="5462889"/>
                        <a:ext cx="4634589" cy="733171"/>
                      </a:xfrm>
                      <a:prstGeom prst="rect">
                        <a:avLst/>
                      </a:prstGeom>
                    </p:spPr>
                  </p:pic>
                </p:oleObj>
              </mc:Fallback>
            </mc:AlternateContent>
          </a:graphicData>
        </a:graphic>
      </p:graphicFrame>
    </p:spTree>
    <p:extLst>
      <p:ext uri="{BB962C8B-B14F-4D97-AF65-F5344CB8AC3E}">
        <p14:creationId xmlns:p14="http://schemas.microsoft.com/office/powerpoint/2010/main" val="16159399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3304" y="0"/>
            <a:ext cx="1758696" cy="1353312"/>
          </a:xfrm>
          <a:prstGeom prst="rect">
            <a:avLst/>
          </a:prstGeom>
        </p:spPr>
      </p:pic>
      <p:sp>
        <p:nvSpPr>
          <p:cNvPr id="6" name="TextBox 5"/>
          <p:cNvSpPr txBox="1"/>
          <p:nvPr/>
        </p:nvSpPr>
        <p:spPr>
          <a:xfrm>
            <a:off x="10309753" y="6488668"/>
            <a:ext cx="1882247" cy="369332"/>
          </a:xfrm>
          <a:prstGeom prst="rect">
            <a:avLst/>
          </a:prstGeom>
          <a:noFill/>
        </p:spPr>
        <p:txBody>
          <a:bodyPr wrap="none" rtlCol="1">
            <a:spAutoFit/>
          </a:bodyPr>
          <a:lstStyle/>
          <a:p>
            <a:r>
              <a:rPr lang="en-US" b="1" dirty="0" smtClean="0">
                <a:solidFill>
                  <a:schemeClr val="accent3">
                    <a:lumMod val="40000"/>
                    <a:lumOff val="60000"/>
                  </a:schemeClr>
                </a:solidFill>
              </a:rPr>
              <a:t>By </a:t>
            </a:r>
            <a:r>
              <a:rPr lang="en-US" b="1" dirty="0" err="1" smtClean="0">
                <a:solidFill>
                  <a:schemeClr val="accent3">
                    <a:lumMod val="40000"/>
                    <a:lumOff val="60000"/>
                  </a:schemeClr>
                </a:solidFill>
              </a:rPr>
              <a:t>Eslam</a:t>
            </a:r>
            <a:r>
              <a:rPr lang="en-US" b="1" dirty="0" smtClean="0">
                <a:solidFill>
                  <a:schemeClr val="accent3">
                    <a:lumMod val="40000"/>
                    <a:lumOff val="60000"/>
                  </a:schemeClr>
                </a:solidFill>
              </a:rPr>
              <a:t> </a:t>
            </a:r>
            <a:r>
              <a:rPr lang="en-US" b="1" dirty="0" err="1" smtClean="0">
                <a:solidFill>
                  <a:schemeClr val="accent3">
                    <a:lumMod val="40000"/>
                    <a:lumOff val="60000"/>
                  </a:schemeClr>
                </a:solidFill>
              </a:rPr>
              <a:t>Khder</a:t>
            </a:r>
            <a:endParaRPr lang="ar-EG" b="1" dirty="0">
              <a:solidFill>
                <a:schemeClr val="accent3">
                  <a:lumMod val="40000"/>
                  <a:lumOff val="60000"/>
                </a:schemeClr>
              </a:solidFill>
            </a:endParaRPr>
          </a:p>
        </p:txBody>
      </p:sp>
      <p:sp>
        <p:nvSpPr>
          <p:cNvPr id="2" name="Rectangle 1"/>
          <p:cNvSpPr/>
          <p:nvPr/>
        </p:nvSpPr>
        <p:spPr>
          <a:xfrm>
            <a:off x="359664" y="1554480"/>
            <a:ext cx="11554968" cy="3539430"/>
          </a:xfrm>
          <a:prstGeom prst="rect">
            <a:avLst/>
          </a:prstGeom>
        </p:spPr>
        <p:txBody>
          <a:bodyPr wrap="square">
            <a:spAutoFit/>
          </a:bodyPr>
          <a:lstStyle/>
          <a:p>
            <a:pPr algn="ctr"/>
            <a:r>
              <a:rPr lang="ar-EG" sz="2800" b="1" dirty="0" smtClean="0"/>
              <a:t> RENAME Statement</a:t>
            </a:r>
          </a:p>
          <a:p>
            <a:pPr algn="l"/>
            <a:endParaRPr lang="ar-EG" sz="2800" dirty="0" smtClean="0"/>
          </a:p>
          <a:p>
            <a:pPr algn="l"/>
            <a:r>
              <a:rPr lang="ar-EG" sz="2800" dirty="0" smtClean="0"/>
              <a:t>The RENAME statement is used to change the name of an existing column or table</a:t>
            </a:r>
          </a:p>
          <a:p>
            <a:pPr algn="l"/>
            <a:endParaRPr lang="ar-EG" sz="2800" dirty="0"/>
          </a:p>
          <a:p>
            <a:pPr algn="l"/>
            <a:r>
              <a:rPr lang="en-US" sz="2800" dirty="0" smtClean="0"/>
              <a:t>We can change the name of a column.</a:t>
            </a:r>
            <a:endParaRPr lang="ar-EG" sz="2800" dirty="0" smtClean="0"/>
          </a:p>
          <a:p>
            <a:pPr algn="l"/>
            <a:endParaRPr lang="ar-EG" sz="2800" dirty="0"/>
          </a:p>
          <a:p>
            <a:pPr algn="l"/>
            <a:r>
              <a:rPr lang="en-US" sz="2800" dirty="0" smtClean="0"/>
              <a:t>We can change the name of a table.</a:t>
            </a:r>
            <a:endParaRPr lang="ar-EG" sz="2800" dirty="0"/>
          </a:p>
        </p:txBody>
      </p:sp>
      <p:sp>
        <p:nvSpPr>
          <p:cNvPr id="7" name="TextBox 6"/>
          <p:cNvSpPr txBox="1"/>
          <p:nvPr/>
        </p:nvSpPr>
        <p:spPr>
          <a:xfrm>
            <a:off x="1984581" y="676656"/>
            <a:ext cx="7799499" cy="461665"/>
          </a:xfrm>
          <a:prstGeom prst="rect">
            <a:avLst/>
          </a:prstGeom>
          <a:noFill/>
        </p:spPr>
        <p:txBody>
          <a:bodyPr wrap="square" rtlCol="1">
            <a:spAutoFit/>
          </a:bodyPr>
          <a:lstStyle/>
          <a:p>
            <a:pPr algn="l"/>
            <a:r>
              <a:rPr lang="en-US" sz="2400" b="1" dirty="0" smtClean="0"/>
              <a:t>Data Definition Language (DDL) Statements</a:t>
            </a:r>
            <a:endParaRPr lang="en-US" sz="2400" b="1" dirty="0"/>
          </a:p>
        </p:txBody>
      </p:sp>
    </p:spTree>
    <p:extLst>
      <p:ext uri="{BB962C8B-B14F-4D97-AF65-F5344CB8AC3E}">
        <p14:creationId xmlns:p14="http://schemas.microsoft.com/office/powerpoint/2010/main" val="40575041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33304" y="0"/>
            <a:ext cx="1758696" cy="1353312"/>
          </a:xfrm>
          <a:prstGeom prst="rect">
            <a:avLst/>
          </a:prstGeom>
        </p:spPr>
      </p:pic>
      <p:sp>
        <p:nvSpPr>
          <p:cNvPr id="6" name="TextBox 5"/>
          <p:cNvSpPr txBox="1"/>
          <p:nvPr/>
        </p:nvSpPr>
        <p:spPr>
          <a:xfrm>
            <a:off x="10309753" y="6488668"/>
            <a:ext cx="1882247" cy="369332"/>
          </a:xfrm>
          <a:prstGeom prst="rect">
            <a:avLst/>
          </a:prstGeom>
          <a:noFill/>
        </p:spPr>
        <p:txBody>
          <a:bodyPr wrap="none" rtlCol="1">
            <a:spAutoFit/>
          </a:bodyPr>
          <a:lstStyle/>
          <a:p>
            <a:r>
              <a:rPr lang="en-US" b="1" dirty="0" smtClean="0">
                <a:solidFill>
                  <a:schemeClr val="accent3">
                    <a:lumMod val="40000"/>
                    <a:lumOff val="60000"/>
                  </a:schemeClr>
                </a:solidFill>
              </a:rPr>
              <a:t>By </a:t>
            </a:r>
            <a:r>
              <a:rPr lang="en-US" b="1" dirty="0" err="1" smtClean="0">
                <a:solidFill>
                  <a:schemeClr val="accent3">
                    <a:lumMod val="40000"/>
                    <a:lumOff val="60000"/>
                  </a:schemeClr>
                </a:solidFill>
              </a:rPr>
              <a:t>Eslam</a:t>
            </a:r>
            <a:r>
              <a:rPr lang="en-US" b="1" dirty="0" smtClean="0">
                <a:solidFill>
                  <a:schemeClr val="accent3">
                    <a:lumMod val="40000"/>
                    <a:lumOff val="60000"/>
                  </a:schemeClr>
                </a:solidFill>
              </a:rPr>
              <a:t> </a:t>
            </a:r>
            <a:r>
              <a:rPr lang="en-US" b="1" dirty="0" err="1" smtClean="0">
                <a:solidFill>
                  <a:schemeClr val="accent3">
                    <a:lumMod val="40000"/>
                    <a:lumOff val="60000"/>
                  </a:schemeClr>
                </a:solidFill>
              </a:rPr>
              <a:t>Khder</a:t>
            </a:r>
            <a:endParaRPr lang="ar-EG" b="1" dirty="0">
              <a:solidFill>
                <a:schemeClr val="accent3">
                  <a:lumMod val="40000"/>
                  <a:lumOff val="60000"/>
                </a:schemeClr>
              </a:solidFill>
            </a:endParaRPr>
          </a:p>
        </p:txBody>
      </p:sp>
      <p:pic>
        <p:nvPicPr>
          <p:cNvPr id="2" name="Picture 1"/>
          <p:cNvPicPr>
            <a:picLocks noChangeAspect="1"/>
          </p:cNvPicPr>
          <p:nvPr/>
        </p:nvPicPr>
        <p:blipFill>
          <a:blip r:embed="rId4"/>
          <a:stretch>
            <a:fillRect/>
          </a:stretch>
        </p:blipFill>
        <p:spPr>
          <a:xfrm>
            <a:off x="230451" y="2279523"/>
            <a:ext cx="11020425" cy="3981450"/>
          </a:xfrm>
          <a:prstGeom prst="rect">
            <a:avLst/>
          </a:prstGeom>
        </p:spPr>
      </p:pic>
      <p:sp>
        <p:nvSpPr>
          <p:cNvPr id="7" name="TextBox 6"/>
          <p:cNvSpPr txBox="1"/>
          <p:nvPr/>
        </p:nvSpPr>
        <p:spPr>
          <a:xfrm>
            <a:off x="1637109" y="777727"/>
            <a:ext cx="7799499" cy="461665"/>
          </a:xfrm>
          <a:prstGeom prst="rect">
            <a:avLst/>
          </a:prstGeom>
          <a:noFill/>
        </p:spPr>
        <p:txBody>
          <a:bodyPr wrap="square" rtlCol="1">
            <a:spAutoFit/>
          </a:bodyPr>
          <a:lstStyle/>
          <a:p>
            <a:pPr algn="l"/>
            <a:r>
              <a:rPr lang="en-US" sz="2400" b="1" dirty="0" smtClean="0"/>
              <a:t>Data Definition Language (DDL) Statements</a:t>
            </a:r>
            <a:endParaRPr lang="en-US" sz="2400" b="1" dirty="0"/>
          </a:p>
        </p:txBody>
      </p:sp>
      <p:graphicFrame>
        <p:nvGraphicFramePr>
          <p:cNvPr id="4" name="Object 3"/>
          <p:cNvGraphicFramePr>
            <a:graphicFrameLocks noChangeAspect="1"/>
          </p:cNvGraphicFramePr>
          <p:nvPr>
            <p:extLst>
              <p:ext uri="{D42A27DB-BD31-4B8C-83A1-F6EECF244321}">
                <p14:modId xmlns:p14="http://schemas.microsoft.com/office/powerpoint/2010/main" val="1705640523"/>
              </p:ext>
            </p:extLst>
          </p:nvPr>
        </p:nvGraphicFramePr>
        <p:xfrm>
          <a:off x="7914874" y="5612955"/>
          <a:ext cx="3336002" cy="648018"/>
        </p:xfrm>
        <a:graphic>
          <a:graphicData uri="http://schemas.openxmlformats.org/presentationml/2006/ole">
            <mc:AlternateContent xmlns:mc="http://schemas.openxmlformats.org/markup-compatibility/2006">
              <mc:Choice xmlns:v="urn:schemas-microsoft-com:vml" Requires="v">
                <p:oleObj spid="_x0000_s14466" name="Packager Shell Object" showAsIcon="1" r:id="rId5" imgW="2264040" imgH="439560" progId="Package">
                  <p:embed/>
                </p:oleObj>
              </mc:Choice>
              <mc:Fallback>
                <p:oleObj name="Packager Shell Object" showAsIcon="1" r:id="rId5" imgW="2264040" imgH="439560" progId="Package">
                  <p:embed/>
                  <p:pic>
                    <p:nvPicPr>
                      <p:cNvPr id="0" name=""/>
                      <p:cNvPicPr/>
                      <p:nvPr/>
                    </p:nvPicPr>
                    <p:blipFill>
                      <a:blip r:embed="rId6"/>
                      <a:stretch>
                        <a:fillRect/>
                      </a:stretch>
                    </p:blipFill>
                    <p:spPr>
                      <a:xfrm>
                        <a:off x="7914874" y="5612955"/>
                        <a:ext cx="3336002" cy="648018"/>
                      </a:xfrm>
                      <a:prstGeom prst="rect">
                        <a:avLst/>
                      </a:prstGeom>
                    </p:spPr>
                  </p:pic>
                </p:oleObj>
              </mc:Fallback>
            </mc:AlternateContent>
          </a:graphicData>
        </a:graphic>
      </p:graphicFrame>
    </p:spTree>
    <p:extLst>
      <p:ext uri="{BB962C8B-B14F-4D97-AF65-F5344CB8AC3E}">
        <p14:creationId xmlns:p14="http://schemas.microsoft.com/office/powerpoint/2010/main" val="37932332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3304" y="0"/>
            <a:ext cx="1758696" cy="1353312"/>
          </a:xfrm>
          <a:prstGeom prst="rect">
            <a:avLst/>
          </a:prstGeom>
        </p:spPr>
      </p:pic>
      <p:sp>
        <p:nvSpPr>
          <p:cNvPr id="6" name="TextBox 5"/>
          <p:cNvSpPr txBox="1"/>
          <p:nvPr/>
        </p:nvSpPr>
        <p:spPr>
          <a:xfrm>
            <a:off x="10309753" y="6488668"/>
            <a:ext cx="1882247" cy="369332"/>
          </a:xfrm>
          <a:prstGeom prst="rect">
            <a:avLst/>
          </a:prstGeom>
          <a:noFill/>
        </p:spPr>
        <p:txBody>
          <a:bodyPr wrap="none" rtlCol="1">
            <a:spAutoFit/>
          </a:bodyPr>
          <a:lstStyle/>
          <a:p>
            <a:r>
              <a:rPr lang="en-US" b="1" dirty="0" smtClean="0">
                <a:solidFill>
                  <a:schemeClr val="accent3">
                    <a:lumMod val="40000"/>
                    <a:lumOff val="60000"/>
                  </a:schemeClr>
                </a:solidFill>
              </a:rPr>
              <a:t>By </a:t>
            </a:r>
            <a:r>
              <a:rPr lang="en-US" b="1" dirty="0" err="1" smtClean="0">
                <a:solidFill>
                  <a:schemeClr val="accent3">
                    <a:lumMod val="40000"/>
                    <a:lumOff val="60000"/>
                  </a:schemeClr>
                </a:solidFill>
              </a:rPr>
              <a:t>Eslam</a:t>
            </a:r>
            <a:r>
              <a:rPr lang="en-US" b="1" dirty="0" smtClean="0">
                <a:solidFill>
                  <a:schemeClr val="accent3">
                    <a:lumMod val="40000"/>
                    <a:lumOff val="60000"/>
                  </a:schemeClr>
                </a:solidFill>
              </a:rPr>
              <a:t> </a:t>
            </a:r>
            <a:r>
              <a:rPr lang="en-US" b="1" dirty="0" err="1" smtClean="0">
                <a:solidFill>
                  <a:schemeClr val="accent3">
                    <a:lumMod val="40000"/>
                    <a:lumOff val="60000"/>
                  </a:schemeClr>
                </a:solidFill>
              </a:rPr>
              <a:t>Khder</a:t>
            </a:r>
            <a:endParaRPr lang="ar-EG" b="1" dirty="0">
              <a:solidFill>
                <a:schemeClr val="accent3">
                  <a:lumMod val="40000"/>
                  <a:lumOff val="60000"/>
                </a:schemeClr>
              </a:solidFill>
            </a:endParaRPr>
          </a:p>
        </p:txBody>
      </p:sp>
      <p:sp>
        <p:nvSpPr>
          <p:cNvPr id="4" name="TextBox 3"/>
          <p:cNvSpPr txBox="1"/>
          <p:nvPr/>
        </p:nvSpPr>
        <p:spPr>
          <a:xfrm>
            <a:off x="1637109" y="777727"/>
            <a:ext cx="7799499" cy="461665"/>
          </a:xfrm>
          <a:prstGeom prst="rect">
            <a:avLst/>
          </a:prstGeom>
          <a:noFill/>
        </p:spPr>
        <p:txBody>
          <a:bodyPr wrap="square" rtlCol="1">
            <a:spAutoFit/>
          </a:bodyPr>
          <a:lstStyle/>
          <a:p>
            <a:pPr algn="l"/>
            <a:r>
              <a:rPr lang="en-US" sz="2400" b="1" dirty="0" smtClean="0"/>
              <a:t>Data Definition Language (DML) Statements</a:t>
            </a:r>
            <a:endParaRPr lang="en-US" sz="2400" b="1" dirty="0"/>
          </a:p>
        </p:txBody>
      </p:sp>
      <p:sp>
        <p:nvSpPr>
          <p:cNvPr id="2" name="Rectangle 1"/>
          <p:cNvSpPr/>
          <p:nvPr/>
        </p:nvSpPr>
        <p:spPr>
          <a:xfrm>
            <a:off x="697118" y="2841998"/>
            <a:ext cx="10083658" cy="1938992"/>
          </a:xfrm>
          <a:prstGeom prst="rect">
            <a:avLst/>
          </a:prstGeom>
        </p:spPr>
        <p:txBody>
          <a:bodyPr wrap="square">
            <a:spAutoFit/>
          </a:bodyPr>
          <a:lstStyle/>
          <a:p>
            <a:pPr algn="l"/>
            <a:r>
              <a:rPr lang="ar-EG" sz="2000" b="1" dirty="0" smtClean="0"/>
              <a:t>DML is used to add, update, and delete data</a:t>
            </a:r>
            <a:r>
              <a:rPr lang="en-US" sz="2000" b="1" dirty="0" smtClean="0"/>
              <a:t>.</a:t>
            </a:r>
          </a:p>
          <a:p>
            <a:pPr algn="l"/>
            <a:endParaRPr lang="en-US" sz="2000" b="1" dirty="0"/>
          </a:p>
          <a:p>
            <a:pPr algn="l"/>
            <a:r>
              <a:rPr lang="en-US" sz="2000" b="1" dirty="0" smtClean="0"/>
              <a:t>A collection of DML statements is called a transaction.</a:t>
            </a:r>
          </a:p>
          <a:p>
            <a:pPr algn="l"/>
            <a:endParaRPr lang="en-US" sz="2000" b="1" dirty="0"/>
          </a:p>
          <a:p>
            <a:pPr algn="l"/>
            <a:r>
              <a:rPr lang="en-US" sz="2000" b="1" dirty="0" smtClean="0"/>
              <a:t>A transaction starts with the first execution of a DML statement and finishes with a commit or rollback.</a:t>
            </a:r>
            <a:r>
              <a:rPr lang="ar-EG" sz="2000" b="1" dirty="0" smtClean="0"/>
              <a:t> </a:t>
            </a:r>
            <a:endParaRPr lang="ar-EG" sz="2000" b="1" dirty="0"/>
          </a:p>
        </p:txBody>
      </p:sp>
    </p:spTree>
    <p:extLst>
      <p:ext uri="{BB962C8B-B14F-4D97-AF65-F5344CB8AC3E}">
        <p14:creationId xmlns:p14="http://schemas.microsoft.com/office/powerpoint/2010/main" val="31615268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3304" y="0"/>
            <a:ext cx="1758696" cy="1353312"/>
          </a:xfrm>
          <a:prstGeom prst="rect">
            <a:avLst/>
          </a:prstGeom>
        </p:spPr>
      </p:pic>
      <p:sp>
        <p:nvSpPr>
          <p:cNvPr id="6" name="TextBox 5"/>
          <p:cNvSpPr txBox="1"/>
          <p:nvPr/>
        </p:nvSpPr>
        <p:spPr>
          <a:xfrm>
            <a:off x="10309753" y="6488668"/>
            <a:ext cx="1882247" cy="369332"/>
          </a:xfrm>
          <a:prstGeom prst="rect">
            <a:avLst/>
          </a:prstGeom>
          <a:noFill/>
        </p:spPr>
        <p:txBody>
          <a:bodyPr wrap="none" rtlCol="1">
            <a:spAutoFit/>
          </a:bodyPr>
          <a:lstStyle/>
          <a:p>
            <a:r>
              <a:rPr lang="en-US" b="1" dirty="0" smtClean="0">
                <a:solidFill>
                  <a:schemeClr val="accent3">
                    <a:lumMod val="40000"/>
                    <a:lumOff val="60000"/>
                  </a:schemeClr>
                </a:solidFill>
              </a:rPr>
              <a:t>By </a:t>
            </a:r>
            <a:r>
              <a:rPr lang="en-US" b="1" dirty="0" err="1" smtClean="0">
                <a:solidFill>
                  <a:schemeClr val="accent3">
                    <a:lumMod val="40000"/>
                    <a:lumOff val="60000"/>
                  </a:schemeClr>
                </a:solidFill>
              </a:rPr>
              <a:t>Eslam</a:t>
            </a:r>
            <a:r>
              <a:rPr lang="en-US" b="1" dirty="0" smtClean="0">
                <a:solidFill>
                  <a:schemeClr val="accent3">
                    <a:lumMod val="40000"/>
                    <a:lumOff val="60000"/>
                  </a:schemeClr>
                </a:solidFill>
              </a:rPr>
              <a:t> </a:t>
            </a:r>
            <a:r>
              <a:rPr lang="en-US" b="1" dirty="0" err="1" smtClean="0">
                <a:solidFill>
                  <a:schemeClr val="accent3">
                    <a:lumMod val="40000"/>
                    <a:lumOff val="60000"/>
                  </a:schemeClr>
                </a:solidFill>
              </a:rPr>
              <a:t>Khder</a:t>
            </a:r>
            <a:endParaRPr lang="ar-EG" b="1" dirty="0">
              <a:solidFill>
                <a:schemeClr val="accent3">
                  <a:lumMod val="40000"/>
                  <a:lumOff val="60000"/>
                </a:schemeClr>
              </a:solidFill>
            </a:endParaRPr>
          </a:p>
        </p:txBody>
      </p:sp>
      <p:sp>
        <p:nvSpPr>
          <p:cNvPr id="4" name="TextBox 3"/>
          <p:cNvSpPr txBox="1"/>
          <p:nvPr/>
        </p:nvSpPr>
        <p:spPr>
          <a:xfrm>
            <a:off x="1637109" y="777727"/>
            <a:ext cx="7799499" cy="461665"/>
          </a:xfrm>
          <a:prstGeom prst="rect">
            <a:avLst/>
          </a:prstGeom>
          <a:noFill/>
        </p:spPr>
        <p:txBody>
          <a:bodyPr wrap="square" rtlCol="1">
            <a:spAutoFit/>
          </a:bodyPr>
          <a:lstStyle/>
          <a:p>
            <a:pPr algn="l"/>
            <a:r>
              <a:rPr lang="en-US" sz="2400" b="1" dirty="0" smtClean="0"/>
              <a:t>Data Definition Language (DML) Statements</a:t>
            </a:r>
            <a:endParaRPr lang="en-US" sz="2400" b="1" dirty="0"/>
          </a:p>
        </p:txBody>
      </p:sp>
      <p:sp>
        <p:nvSpPr>
          <p:cNvPr id="2" name="Rectangle 1"/>
          <p:cNvSpPr/>
          <p:nvPr/>
        </p:nvSpPr>
        <p:spPr>
          <a:xfrm>
            <a:off x="717438" y="2059678"/>
            <a:ext cx="10083658" cy="707886"/>
          </a:xfrm>
          <a:prstGeom prst="rect">
            <a:avLst/>
          </a:prstGeom>
        </p:spPr>
        <p:txBody>
          <a:bodyPr wrap="square">
            <a:spAutoFit/>
          </a:bodyPr>
          <a:lstStyle/>
          <a:p>
            <a:pPr algn="l"/>
            <a:r>
              <a:rPr lang="en-US" sz="2000" b="1" dirty="0"/>
              <a:t>transaction is a sequence of one or more SQL operations (such as INSERT, UPDATE, DELETE) executed as a single unit of work.</a:t>
            </a:r>
            <a:endParaRPr lang="ar-EG" sz="2000" b="1" dirty="0"/>
          </a:p>
        </p:txBody>
      </p:sp>
      <p:pic>
        <p:nvPicPr>
          <p:cNvPr id="7" name="Picture 6"/>
          <p:cNvPicPr>
            <a:picLocks noChangeAspect="1"/>
          </p:cNvPicPr>
          <p:nvPr/>
        </p:nvPicPr>
        <p:blipFill>
          <a:blip r:embed="rId3"/>
          <a:stretch>
            <a:fillRect/>
          </a:stretch>
        </p:blipFill>
        <p:spPr>
          <a:xfrm>
            <a:off x="997902" y="3473930"/>
            <a:ext cx="8735378" cy="2733675"/>
          </a:xfrm>
          <a:prstGeom prst="rect">
            <a:avLst/>
          </a:prstGeom>
        </p:spPr>
      </p:pic>
    </p:spTree>
    <p:extLst>
      <p:ext uri="{BB962C8B-B14F-4D97-AF65-F5344CB8AC3E}">
        <p14:creationId xmlns:p14="http://schemas.microsoft.com/office/powerpoint/2010/main" val="11667546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3304" y="0"/>
            <a:ext cx="1758696" cy="1353312"/>
          </a:xfrm>
          <a:prstGeom prst="rect">
            <a:avLst/>
          </a:prstGeom>
        </p:spPr>
      </p:pic>
      <p:sp>
        <p:nvSpPr>
          <p:cNvPr id="6" name="TextBox 5"/>
          <p:cNvSpPr txBox="1"/>
          <p:nvPr/>
        </p:nvSpPr>
        <p:spPr>
          <a:xfrm>
            <a:off x="10309753" y="6488668"/>
            <a:ext cx="1882247" cy="369332"/>
          </a:xfrm>
          <a:prstGeom prst="rect">
            <a:avLst/>
          </a:prstGeom>
          <a:noFill/>
        </p:spPr>
        <p:txBody>
          <a:bodyPr wrap="none" rtlCol="1">
            <a:spAutoFit/>
          </a:bodyPr>
          <a:lstStyle/>
          <a:p>
            <a:r>
              <a:rPr lang="en-US" b="1" dirty="0" smtClean="0">
                <a:solidFill>
                  <a:schemeClr val="accent3">
                    <a:lumMod val="40000"/>
                    <a:lumOff val="60000"/>
                  </a:schemeClr>
                </a:solidFill>
              </a:rPr>
              <a:t>By </a:t>
            </a:r>
            <a:r>
              <a:rPr lang="en-US" b="1" dirty="0" err="1" smtClean="0">
                <a:solidFill>
                  <a:schemeClr val="accent3">
                    <a:lumMod val="40000"/>
                    <a:lumOff val="60000"/>
                  </a:schemeClr>
                </a:solidFill>
              </a:rPr>
              <a:t>Eslam</a:t>
            </a:r>
            <a:r>
              <a:rPr lang="en-US" b="1" dirty="0" smtClean="0">
                <a:solidFill>
                  <a:schemeClr val="accent3">
                    <a:lumMod val="40000"/>
                    <a:lumOff val="60000"/>
                  </a:schemeClr>
                </a:solidFill>
              </a:rPr>
              <a:t> </a:t>
            </a:r>
            <a:r>
              <a:rPr lang="en-US" b="1" dirty="0" err="1" smtClean="0">
                <a:solidFill>
                  <a:schemeClr val="accent3">
                    <a:lumMod val="40000"/>
                    <a:lumOff val="60000"/>
                  </a:schemeClr>
                </a:solidFill>
              </a:rPr>
              <a:t>Khder</a:t>
            </a:r>
            <a:endParaRPr lang="ar-EG" b="1" dirty="0">
              <a:solidFill>
                <a:schemeClr val="accent3">
                  <a:lumMod val="40000"/>
                  <a:lumOff val="60000"/>
                </a:schemeClr>
              </a:solidFill>
            </a:endParaRPr>
          </a:p>
        </p:txBody>
      </p:sp>
      <p:sp>
        <p:nvSpPr>
          <p:cNvPr id="4" name="TextBox 3"/>
          <p:cNvSpPr txBox="1"/>
          <p:nvPr/>
        </p:nvSpPr>
        <p:spPr>
          <a:xfrm>
            <a:off x="1637109" y="777727"/>
            <a:ext cx="7799499" cy="461665"/>
          </a:xfrm>
          <a:prstGeom prst="rect">
            <a:avLst/>
          </a:prstGeom>
          <a:noFill/>
        </p:spPr>
        <p:txBody>
          <a:bodyPr wrap="square" rtlCol="1">
            <a:spAutoFit/>
          </a:bodyPr>
          <a:lstStyle/>
          <a:p>
            <a:pPr algn="l"/>
            <a:r>
              <a:rPr lang="en-US" sz="2400" b="1" dirty="0" smtClean="0"/>
              <a:t>Data Definition Language (DML) Statements</a:t>
            </a:r>
            <a:endParaRPr lang="en-US" sz="2400" b="1" dirty="0"/>
          </a:p>
        </p:txBody>
      </p:sp>
      <p:sp>
        <p:nvSpPr>
          <p:cNvPr id="2" name="TextBox 1"/>
          <p:cNvSpPr txBox="1"/>
          <p:nvPr/>
        </p:nvSpPr>
        <p:spPr>
          <a:xfrm>
            <a:off x="2477014" y="1874520"/>
            <a:ext cx="6119687" cy="646331"/>
          </a:xfrm>
          <a:prstGeom prst="rect">
            <a:avLst/>
          </a:prstGeom>
          <a:noFill/>
        </p:spPr>
        <p:txBody>
          <a:bodyPr wrap="square" rtlCol="1">
            <a:spAutoFit/>
          </a:bodyPr>
          <a:lstStyle/>
          <a:p>
            <a:pPr algn="ctr"/>
            <a:r>
              <a:rPr lang="en-US" sz="3600" b="1" dirty="0" smtClean="0"/>
              <a:t>INSERT STATEMENT</a:t>
            </a:r>
            <a:endParaRPr lang="ar-EG" sz="3600" b="1" dirty="0"/>
          </a:p>
        </p:txBody>
      </p:sp>
      <p:sp>
        <p:nvSpPr>
          <p:cNvPr id="3" name="TextBox 2"/>
          <p:cNvSpPr txBox="1"/>
          <p:nvPr/>
        </p:nvSpPr>
        <p:spPr>
          <a:xfrm>
            <a:off x="1637109" y="3536269"/>
            <a:ext cx="9189387" cy="769441"/>
          </a:xfrm>
          <a:prstGeom prst="rect">
            <a:avLst/>
          </a:prstGeom>
          <a:noFill/>
        </p:spPr>
        <p:txBody>
          <a:bodyPr wrap="square" rtlCol="1">
            <a:spAutoFit/>
          </a:bodyPr>
          <a:lstStyle/>
          <a:p>
            <a:pPr algn="l"/>
            <a:r>
              <a:rPr lang="en-US" sz="4400" b="1" dirty="0" smtClean="0"/>
              <a:t>Use to insert row in table.</a:t>
            </a:r>
            <a:endParaRPr lang="ar-EG" sz="4400" b="1" dirty="0"/>
          </a:p>
        </p:txBody>
      </p:sp>
    </p:spTree>
    <p:extLst>
      <p:ext uri="{BB962C8B-B14F-4D97-AF65-F5344CB8AC3E}">
        <p14:creationId xmlns:p14="http://schemas.microsoft.com/office/powerpoint/2010/main" val="9074266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33304" y="0"/>
            <a:ext cx="1758696" cy="1353312"/>
          </a:xfrm>
          <a:prstGeom prst="rect">
            <a:avLst/>
          </a:prstGeom>
        </p:spPr>
      </p:pic>
      <p:sp>
        <p:nvSpPr>
          <p:cNvPr id="6" name="TextBox 5"/>
          <p:cNvSpPr txBox="1"/>
          <p:nvPr/>
        </p:nvSpPr>
        <p:spPr>
          <a:xfrm>
            <a:off x="10309753" y="6488668"/>
            <a:ext cx="1882247" cy="369332"/>
          </a:xfrm>
          <a:prstGeom prst="rect">
            <a:avLst/>
          </a:prstGeom>
          <a:noFill/>
        </p:spPr>
        <p:txBody>
          <a:bodyPr wrap="none" rtlCol="1">
            <a:spAutoFit/>
          </a:bodyPr>
          <a:lstStyle/>
          <a:p>
            <a:r>
              <a:rPr lang="en-US" b="1" dirty="0" smtClean="0">
                <a:solidFill>
                  <a:schemeClr val="accent3">
                    <a:lumMod val="40000"/>
                    <a:lumOff val="60000"/>
                  </a:schemeClr>
                </a:solidFill>
              </a:rPr>
              <a:t>By </a:t>
            </a:r>
            <a:r>
              <a:rPr lang="en-US" b="1" dirty="0" err="1" smtClean="0">
                <a:solidFill>
                  <a:schemeClr val="accent3">
                    <a:lumMod val="40000"/>
                    <a:lumOff val="60000"/>
                  </a:schemeClr>
                </a:solidFill>
              </a:rPr>
              <a:t>Eslam</a:t>
            </a:r>
            <a:r>
              <a:rPr lang="en-US" b="1" dirty="0" smtClean="0">
                <a:solidFill>
                  <a:schemeClr val="accent3">
                    <a:lumMod val="40000"/>
                    <a:lumOff val="60000"/>
                  </a:schemeClr>
                </a:solidFill>
              </a:rPr>
              <a:t> </a:t>
            </a:r>
            <a:r>
              <a:rPr lang="en-US" b="1" dirty="0" err="1" smtClean="0">
                <a:solidFill>
                  <a:schemeClr val="accent3">
                    <a:lumMod val="40000"/>
                    <a:lumOff val="60000"/>
                  </a:schemeClr>
                </a:solidFill>
              </a:rPr>
              <a:t>Khder</a:t>
            </a:r>
            <a:endParaRPr lang="ar-EG" b="1" dirty="0">
              <a:solidFill>
                <a:schemeClr val="accent3">
                  <a:lumMod val="40000"/>
                  <a:lumOff val="60000"/>
                </a:schemeClr>
              </a:solidFill>
            </a:endParaRPr>
          </a:p>
        </p:txBody>
      </p:sp>
      <p:sp>
        <p:nvSpPr>
          <p:cNvPr id="4" name="TextBox 3"/>
          <p:cNvSpPr txBox="1"/>
          <p:nvPr/>
        </p:nvSpPr>
        <p:spPr>
          <a:xfrm>
            <a:off x="1655397" y="445823"/>
            <a:ext cx="7799499" cy="461665"/>
          </a:xfrm>
          <a:prstGeom prst="rect">
            <a:avLst/>
          </a:prstGeom>
          <a:noFill/>
        </p:spPr>
        <p:txBody>
          <a:bodyPr wrap="square" rtlCol="1">
            <a:spAutoFit/>
          </a:bodyPr>
          <a:lstStyle/>
          <a:p>
            <a:pPr algn="l"/>
            <a:r>
              <a:rPr lang="en-US" sz="2400" b="1" dirty="0" smtClean="0"/>
              <a:t>Data Definition Language (DML) Statements</a:t>
            </a:r>
            <a:endParaRPr lang="en-US" sz="2400" b="1" dirty="0"/>
          </a:p>
        </p:txBody>
      </p:sp>
      <p:pic>
        <p:nvPicPr>
          <p:cNvPr id="7" name="Picture 6"/>
          <p:cNvPicPr>
            <a:picLocks noChangeAspect="1"/>
          </p:cNvPicPr>
          <p:nvPr/>
        </p:nvPicPr>
        <p:blipFill>
          <a:blip r:embed="rId4"/>
          <a:stretch>
            <a:fillRect/>
          </a:stretch>
        </p:blipFill>
        <p:spPr>
          <a:xfrm>
            <a:off x="418718" y="1149977"/>
            <a:ext cx="9657969" cy="5523357"/>
          </a:xfrm>
          <a:prstGeom prst="rect">
            <a:avLst/>
          </a:prstGeom>
        </p:spPr>
      </p:pic>
      <p:graphicFrame>
        <p:nvGraphicFramePr>
          <p:cNvPr id="8" name="Object 7"/>
          <p:cNvGraphicFramePr>
            <a:graphicFrameLocks noChangeAspect="1"/>
          </p:cNvGraphicFramePr>
          <p:nvPr>
            <p:extLst>
              <p:ext uri="{D42A27DB-BD31-4B8C-83A1-F6EECF244321}">
                <p14:modId xmlns:p14="http://schemas.microsoft.com/office/powerpoint/2010/main" val="658215084"/>
              </p:ext>
            </p:extLst>
          </p:nvPr>
        </p:nvGraphicFramePr>
        <p:xfrm>
          <a:off x="6524064" y="5978144"/>
          <a:ext cx="3552623" cy="583676"/>
        </p:xfrm>
        <a:graphic>
          <a:graphicData uri="http://schemas.openxmlformats.org/presentationml/2006/ole">
            <mc:AlternateContent xmlns:mc="http://schemas.openxmlformats.org/markup-compatibility/2006">
              <mc:Choice xmlns:v="urn:schemas-microsoft-com:vml" Requires="v">
                <p:oleObj spid="_x0000_s26753" name="Packager Shell Object" showAsIcon="1" r:id="rId5" imgW="2676600" imgH="439560" progId="Package">
                  <p:embed/>
                </p:oleObj>
              </mc:Choice>
              <mc:Fallback>
                <p:oleObj name="Packager Shell Object" showAsIcon="1" r:id="rId5" imgW="2676600" imgH="439560" progId="Package">
                  <p:embed/>
                  <p:pic>
                    <p:nvPicPr>
                      <p:cNvPr id="0" name=""/>
                      <p:cNvPicPr/>
                      <p:nvPr/>
                    </p:nvPicPr>
                    <p:blipFill>
                      <a:blip r:embed="rId6"/>
                      <a:stretch>
                        <a:fillRect/>
                      </a:stretch>
                    </p:blipFill>
                    <p:spPr>
                      <a:xfrm>
                        <a:off x="6524064" y="5978144"/>
                        <a:ext cx="3552623" cy="583676"/>
                      </a:xfrm>
                      <a:prstGeom prst="rect">
                        <a:avLst/>
                      </a:prstGeom>
                    </p:spPr>
                  </p:pic>
                </p:oleObj>
              </mc:Fallback>
            </mc:AlternateContent>
          </a:graphicData>
        </a:graphic>
      </p:graphicFrame>
    </p:spTree>
    <p:extLst>
      <p:ext uri="{BB962C8B-B14F-4D97-AF65-F5344CB8AC3E}">
        <p14:creationId xmlns:p14="http://schemas.microsoft.com/office/powerpoint/2010/main" val="32618329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33304" y="0"/>
            <a:ext cx="1758696" cy="1353312"/>
          </a:xfrm>
          <a:prstGeom prst="rect">
            <a:avLst/>
          </a:prstGeom>
        </p:spPr>
      </p:pic>
      <p:sp>
        <p:nvSpPr>
          <p:cNvPr id="6" name="TextBox 5"/>
          <p:cNvSpPr txBox="1"/>
          <p:nvPr/>
        </p:nvSpPr>
        <p:spPr>
          <a:xfrm>
            <a:off x="10309753" y="6488668"/>
            <a:ext cx="1882247" cy="369332"/>
          </a:xfrm>
          <a:prstGeom prst="rect">
            <a:avLst/>
          </a:prstGeom>
          <a:noFill/>
        </p:spPr>
        <p:txBody>
          <a:bodyPr wrap="none" rtlCol="1">
            <a:spAutoFit/>
          </a:bodyPr>
          <a:lstStyle/>
          <a:p>
            <a:r>
              <a:rPr lang="en-US" b="1" dirty="0" smtClean="0">
                <a:solidFill>
                  <a:schemeClr val="accent3">
                    <a:lumMod val="40000"/>
                    <a:lumOff val="60000"/>
                  </a:schemeClr>
                </a:solidFill>
              </a:rPr>
              <a:t>By </a:t>
            </a:r>
            <a:r>
              <a:rPr lang="en-US" b="1" dirty="0" err="1" smtClean="0">
                <a:solidFill>
                  <a:schemeClr val="accent3">
                    <a:lumMod val="40000"/>
                    <a:lumOff val="60000"/>
                  </a:schemeClr>
                </a:solidFill>
              </a:rPr>
              <a:t>Eslam</a:t>
            </a:r>
            <a:r>
              <a:rPr lang="en-US" b="1" dirty="0" smtClean="0">
                <a:solidFill>
                  <a:schemeClr val="accent3">
                    <a:lumMod val="40000"/>
                    <a:lumOff val="60000"/>
                  </a:schemeClr>
                </a:solidFill>
              </a:rPr>
              <a:t> </a:t>
            </a:r>
            <a:r>
              <a:rPr lang="en-US" b="1" dirty="0" err="1" smtClean="0">
                <a:solidFill>
                  <a:schemeClr val="accent3">
                    <a:lumMod val="40000"/>
                    <a:lumOff val="60000"/>
                  </a:schemeClr>
                </a:solidFill>
              </a:rPr>
              <a:t>Khder</a:t>
            </a:r>
            <a:endParaRPr lang="ar-EG" b="1" dirty="0">
              <a:solidFill>
                <a:schemeClr val="accent3">
                  <a:lumMod val="40000"/>
                  <a:lumOff val="60000"/>
                </a:schemeClr>
              </a:solidFill>
            </a:endParaRPr>
          </a:p>
        </p:txBody>
      </p:sp>
      <p:sp>
        <p:nvSpPr>
          <p:cNvPr id="4" name="TextBox 3"/>
          <p:cNvSpPr txBox="1"/>
          <p:nvPr/>
        </p:nvSpPr>
        <p:spPr>
          <a:xfrm>
            <a:off x="1637109" y="777727"/>
            <a:ext cx="7799499" cy="461665"/>
          </a:xfrm>
          <a:prstGeom prst="rect">
            <a:avLst/>
          </a:prstGeom>
          <a:noFill/>
        </p:spPr>
        <p:txBody>
          <a:bodyPr wrap="square" rtlCol="1">
            <a:spAutoFit/>
          </a:bodyPr>
          <a:lstStyle/>
          <a:p>
            <a:pPr algn="l"/>
            <a:r>
              <a:rPr lang="en-US" sz="2400" b="1" dirty="0" smtClean="0"/>
              <a:t>Data Definition Language (DML) Statements</a:t>
            </a:r>
            <a:endParaRPr lang="en-US" sz="2400" b="1" dirty="0"/>
          </a:p>
        </p:txBody>
      </p:sp>
      <p:pic>
        <p:nvPicPr>
          <p:cNvPr id="2" name="Picture 1"/>
          <p:cNvPicPr>
            <a:picLocks noChangeAspect="1"/>
          </p:cNvPicPr>
          <p:nvPr/>
        </p:nvPicPr>
        <p:blipFill>
          <a:blip r:embed="rId4"/>
          <a:stretch>
            <a:fillRect/>
          </a:stretch>
        </p:blipFill>
        <p:spPr>
          <a:xfrm>
            <a:off x="342900" y="2488168"/>
            <a:ext cx="11506200" cy="4000500"/>
          </a:xfrm>
          <a:prstGeom prst="rect">
            <a:avLst/>
          </a:prstGeom>
        </p:spPr>
      </p:pic>
      <p:graphicFrame>
        <p:nvGraphicFramePr>
          <p:cNvPr id="3" name="Object 2"/>
          <p:cNvGraphicFramePr>
            <a:graphicFrameLocks noChangeAspect="1"/>
          </p:cNvGraphicFramePr>
          <p:nvPr>
            <p:extLst>
              <p:ext uri="{D42A27DB-BD31-4B8C-83A1-F6EECF244321}">
                <p14:modId xmlns:p14="http://schemas.microsoft.com/office/powerpoint/2010/main" val="1543398247"/>
              </p:ext>
            </p:extLst>
          </p:nvPr>
        </p:nvGraphicFramePr>
        <p:xfrm>
          <a:off x="7715462" y="2902292"/>
          <a:ext cx="4133638" cy="679132"/>
        </p:xfrm>
        <a:graphic>
          <a:graphicData uri="http://schemas.openxmlformats.org/presentationml/2006/ole">
            <mc:AlternateContent xmlns:mc="http://schemas.openxmlformats.org/markup-compatibility/2006">
              <mc:Choice xmlns:v="urn:schemas-microsoft-com:vml" Requires="v">
                <p:oleObj spid="_x0000_s27776" name="Packager Shell Object" showAsIcon="1" r:id="rId5" imgW="2676600" imgH="439560" progId="Package">
                  <p:embed/>
                </p:oleObj>
              </mc:Choice>
              <mc:Fallback>
                <p:oleObj name="Packager Shell Object" showAsIcon="1" r:id="rId5" imgW="2676600" imgH="439560" progId="Package">
                  <p:embed/>
                  <p:pic>
                    <p:nvPicPr>
                      <p:cNvPr id="0" name=""/>
                      <p:cNvPicPr/>
                      <p:nvPr/>
                    </p:nvPicPr>
                    <p:blipFill>
                      <a:blip r:embed="rId6"/>
                      <a:stretch>
                        <a:fillRect/>
                      </a:stretch>
                    </p:blipFill>
                    <p:spPr>
                      <a:xfrm>
                        <a:off x="7715462" y="2902292"/>
                        <a:ext cx="4133638" cy="679132"/>
                      </a:xfrm>
                      <a:prstGeom prst="rect">
                        <a:avLst/>
                      </a:prstGeom>
                    </p:spPr>
                  </p:pic>
                </p:oleObj>
              </mc:Fallback>
            </mc:AlternateContent>
          </a:graphicData>
        </a:graphic>
      </p:graphicFrame>
    </p:spTree>
    <p:extLst>
      <p:ext uri="{BB962C8B-B14F-4D97-AF65-F5344CB8AC3E}">
        <p14:creationId xmlns:p14="http://schemas.microsoft.com/office/powerpoint/2010/main" val="15204757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3304" y="0"/>
            <a:ext cx="1758696" cy="1353312"/>
          </a:xfrm>
          <a:prstGeom prst="rect">
            <a:avLst/>
          </a:prstGeom>
        </p:spPr>
      </p:pic>
      <p:sp>
        <p:nvSpPr>
          <p:cNvPr id="6" name="TextBox 5"/>
          <p:cNvSpPr txBox="1"/>
          <p:nvPr/>
        </p:nvSpPr>
        <p:spPr>
          <a:xfrm>
            <a:off x="10309753" y="6488668"/>
            <a:ext cx="1882247" cy="369332"/>
          </a:xfrm>
          <a:prstGeom prst="rect">
            <a:avLst/>
          </a:prstGeom>
          <a:noFill/>
        </p:spPr>
        <p:txBody>
          <a:bodyPr wrap="none" rtlCol="1">
            <a:spAutoFit/>
          </a:bodyPr>
          <a:lstStyle/>
          <a:p>
            <a:r>
              <a:rPr lang="en-US" b="1" dirty="0" smtClean="0">
                <a:solidFill>
                  <a:schemeClr val="accent3">
                    <a:lumMod val="40000"/>
                    <a:lumOff val="60000"/>
                  </a:schemeClr>
                </a:solidFill>
              </a:rPr>
              <a:t>By </a:t>
            </a:r>
            <a:r>
              <a:rPr lang="en-US" b="1" dirty="0" err="1" smtClean="0">
                <a:solidFill>
                  <a:schemeClr val="accent3">
                    <a:lumMod val="40000"/>
                    <a:lumOff val="60000"/>
                  </a:schemeClr>
                </a:solidFill>
              </a:rPr>
              <a:t>Eslam</a:t>
            </a:r>
            <a:r>
              <a:rPr lang="en-US" b="1" dirty="0" smtClean="0">
                <a:solidFill>
                  <a:schemeClr val="accent3">
                    <a:lumMod val="40000"/>
                    <a:lumOff val="60000"/>
                  </a:schemeClr>
                </a:solidFill>
              </a:rPr>
              <a:t> </a:t>
            </a:r>
            <a:r>
              <a:rPr lang="en-US" b="1" dirty="0" err="1" smtClean="0">
                <a:solidFill>
                  <a:schemeClr val="accent3">
                    <a:lumMod val="40000"/>
                    <a:lumOff val="60000"/>
                  </a:schemeClr>
                </a:solidFill>
              </a:rPr>
              <a:t>Khder</a:t>
            </a:r>
            <a:endParaRPr lang="ar-EG" b="1" dirty="0">
              <a:solidFill>
                <a:schemeClr val="accent3">
                  <a:lumMod val="40000"/>
                  <a:lumOff val="60000"/>
                </a:schemeClr>
              </a:solidFill>
            </a:endParaRPr>
          </a:p>
        </p:txBody>
      </p:sp>
      <p:sp>
        <p:nvSpPr>
          <p:cNvPr id="4" name="TextBox 3"/>
          <p:cNvSpPr txBox="1"/>
          <p:nvPr/>
        </p:nvSpPr>
        <p:spPr>
          <a:xfrm>
            <a:off x="1637109" y="777727"/>
            <a:ext cx="7799499" cy="461665"/>
          </a:xfrm>
          <a:prstGeom prst="rect">
            <a:avLst/>
          </a:prstGeom>
          <a:noFill/>
        </p:spPr>
        <p:txBody>
          <a:bodyPr wrap="square" rtlCol="1">
            <a:spAutoFit/>
          </a:bodyPr>
          <a:lstStyle/>
          <a:p>
            <a:pPr algn="l"/>
            <a:r>
              <a:rPr lang="en-US" sz="2400" b="1" dirty="0" smtClean="0"/>
              <a:t>Data Definition Language (DML) Statements</a:t>
            </a:r>
            <a:endParaRPr lang="en-US" sz="2400" b="1" dirty="0"/>
          </a:p>
        </p:txBody>
      </p:sp>
      <p:sp>
        <p:nvSpPr>
          <p:cNvPr id="2" name="Rectangle 1"/>
          <p:cNvSpPr/>
          <p:nvPr/>
        </p:nvSpPr>
        <p:spPr>
          <a:xfrm>
            <a:off x="3895574" y="1891022"/>
            <a:ext cx="5367298" cy="584775"/>
          </a:xfrm>
          <a:prstGeom prst="rect">
            <a:avLst/>
          </a:prstGeom>
        </p:spPr>
        <p:txBody>
          <a:bodyPr wrap="square">
            <a:spAutoFit/>
          </a:bodyPr>
          <a:lstStyle/>
          <a:p>
            <a:pPr algn="l"/>
            <a:r>
              <a:rPr lang="en-US" sz="3200" b="1" dirty="0" smtClean="0"/>
              <a:t>UPDATE STATEMENT</a:t>
            </a:r>
            <a:endParaRPr lang="ar-EG" sz="3200" b="1" dirty="0" smtClean="0"/>
          </a:p>
        </p:txBody>
      </p:sp>
      <p:sp>
        <p:nvSpPr>
          <p:cNvPr id="7" name="TextBox 6"/>
          <p:cNvSpPr txBox="1"/>
          <p:nvPr/>
        </p:nvSpPr>
        <p:spPr>
          <a:xfrm>
            <a:off x="1637109" y="3536269"/>
            <a:ext cx="9189387" cy="769441"/>
          </a:xfrm>
          <a:prstGeom prst="rect">
            <a:avLst/>
          </a:prstGeom>
          <a:noFill/>
        </p:spPr>
        <p:txBody>
          <a:bodyPr wrap="square" rtlCol="1">
            <a:spAutoFit/>
          </a:bodyPr>
          <a:lstStyle/>
          <a:p>
            <a:pPr algn="l"/>
            <a:r>
              <a:rPr lang="en-US" sz="4400" b="1" dirty="0" smtClean="0"/>
              <a:t>Use to UPDATE  row in table.</a:t>
            </a:r>
            <a:endParaRPr lang="ar-EG" sz="4400" b="1" dirty="0"/>
          </a:p>
        </p:txBody>
      </p:sp>
    </p:spTree>
    <p:extLst>
      <p:ext uri="{BB962C8B-B14F-4D97-AF65-F5344CB8AC3E}">
        <p14:creationId xmlns:p14="http://schemas.microsoft.com/office/powerpoint/2010/main" val="32184951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33304" y="0"/>
            <a:ext cx="1758696" cy="1353312"/>
          </a:xfrm>
          <a:prstGeom prst="rect">
            <a:avLst/>
          </a:prstGeom>
        </p:spPr>
      </p:pic>
      <p:sp>
        <p:nvSpPr>
          <p:cNvPr id="6" name="TextBox 5"/>
          <p:cNvSpPr txBox="1"/>
          <p:nvPr/>
        </p:nvSpPr>
        <p:spPr>
          <a:xfrm>
            <a:off x="10309753" y="6488668"/>
            <a:ext cx="1882247" cy="369332"/>
          </a:xfrm>
          <a:prstGeom prst="rect">
            <a:avLst/>
          </a:prstGeom>
          <a:noFill/>
        </p:spPr>
        <p:txBody>
          <a:bodyPr wrap="none" rtlCol="1">
            <a:spAutoFit/>
          </a:bodyPr>
          <a:lstStyle/>
          <a:p>
            <a:r>
              <a:rPr lang="en-US" b="1" dirty="0" smtClean="0">
                <a:solidFill>
                  <a:schemeClr val="accent3">
                    <a:lumMod val="40000"/>
                    <a:lumOff val="60000"/>
                  </a:schemeClr>
                </a:solidFill>
              </a:rPr>
              <a:t>By </a:t>
            </a:r>
            <a:r>
              <a:rPr lang="en-US" b="1" dirty="0" err="1" smtClean="0">
                <a:solidFill>
                  <a:schemeClr val="accent3">
                    <a:lumMod val="40000"/>
                    <a:lumOff val="60000"/>
                  </a:schemeClr>
                </a:solidFill>
              </a:rPr>
              <a:t>Eslam</a:t>
            </a:r>
            <a:r>
              <a:rPr lang="en-US" b="1" dirty="0" smtClean="0">
                <a:solidFill>
                  <a:schemeClr val="accent3">
                    <a:lumMod val="40000"/>
                    <a:lumOff val="60000"/>
                  </a:schemeClr>
                </a:solidFill>
              </a:rPr>
              <a:t> </a:t>
            </a:r>
            <a:r>
              <a:rPr lang="en-US" b="1" dirty="0" err="1" smtClean="0">
                <a:solidFill>
                  <a:schemeClr val="accent3">
                    <a:lumMod val="40000"/>
                    <a:lumOff val="60000"/>
                  </a:schemeClr>
                </a:solidFill>
              </a:rPr>
              <a:t>Khder</a:t>
            </a:r>
            <a:endParaRPr lang="ar-EG" b="1" dirty="0">
              <a:solidFill>
                <a:schemeClr val="accent3">
                  <a:lumMod val="40000"/>
                  <a:lumOff val="60000"/>
                </a:schemeClr>
              </a:solidFill>
            </a:endParaRPr>
          </a:p>
        </p:txBody>
      </p:sp>
      <p:sp>
        <p:nvSpPr>
          <p:cNvPr id="4" name="TextBox 3"/>
          <p:cNvSpPr txBox="1"/>
          <p:nvPr/>
        </p:nvSpPr>
        <p:spPr>
          <a:xfrm>
            <a:off x="1637109" y="777727"/>
            <a:ext cx="7799499" cy="461665"/>
          </a:xfrm>
          <a:prstGeom prst="rect">
            <a:avLst/>
          </a:prstGeom>
          <a:noFill/>
        </p:spPr>
        <p:txBody>
          <a:bodyPr wrap="square" rtlCol="1">
            <a:spAutoFit/>
          </a:bodyPr>
          <a:lstStyle/>
          <a:p>
            <a:pPr algn="l"/>
            <a:r>
              <a:rPr lang="en-US" sz="2400" b="1" dirty="0" smtClean="0"/>
              <a:t>Data Definition Language (DML) Statements</a:t>
            </a:r>
            <a:endParaRPr lang="en-US" sz="2400" b="1" dirty="0"/>
          </a:p>
        </p:txBody>
      </p:sp>
      <p:pic>
        <p:nvPicPr>
          <p:cNvPr id="2" name="Picture 1"/>
          <p:cNvPicPr>
            <a:picLocks noChangeAspect="1"/>
          </p:cNvPicPr>
          <p:nvPr/>
        </p:nvPicPr>
        <p:blipFill>
          <a:blip r:embed="rId4"/>
          <a:stretch>
            <a:fillRect/>
          </a:stretch>
        </p:blipFill>
        <p:spPr>
          <a:xfrm>
            <a:off x="1221676" y="1480205"/>
            <a:ext cx="9741979" cy="5008463"/>
          </a:xfrm>
          <a:prstGeom prst="rect">
            <a:avLst/>
          </a:prstGeom>
        </p:spPr>
      </p:pic>
      <p:graphicFrame>
        <p:nvGraphicFramePr>
          <p:cNvPr id="3" name="Object 2"/>
          <p:cNvGraphicFramePr>
            <a:graphicFrameLocks noChangeAspect="1"/>
          </p:cNvGraphicFramePr>
          <p:nvPr>
            <p:extLst>
              <p:ext uri="{D42A27DB-BD31-4B8C-83A1-F6EECF244321}">
                <p14:modId xmlns:p14="http://schemas.microsoft.com/office/powerpoint/2010/main" val="4287024692"/>
              </p:ext>
            </p:extLst>
          </p:nvPr>
        </p:nvGraphicFramePr>
        <p:xfrm>
          <a:off x="8323770" y="5765616"/>
          <a:ext cx="2225675" cy="439737"/>
        </p:xfrm>
        <a:graphic>
          <a:graphicData uri="http://schemas.openxmlformats.org/presentationml/2006/ole">
            <mc:AlternateContent xmlns:mc="http://schemas.openxmlformats.org/markup-compatibility/2006">
              <mc:Choice xmlns:v="urn:schemas-microsoft-com:vml" Requires="v">
                <p:oleObj spid="_x0000_s28797" name="Packager Shell Object" showAsIcon="1" r:id="rId5" imgW="2225160" imgH="439560" progId="Package">
                  <p:embed/>
                </p:oleObj>
              </mc:Choice>
              <mc:Fallback>
                <p:oleObj name="Packager Shell Object" showAsIcon="1" r:id="rId5" imgW="2225160" imgH="439560" progId="Package">
                  <p:embed/>
                  <p:pic>
                    <p:nvPicPr>
                      <p:cNvPr id="0" name=""/>
                      <p:cNvPicPr/>
                      <p:nvPr/>
                    </p:nvPicPr>
                    <p:blipFill>
                      <a:blip r:embed="rId6"/>
                      <a:stretch>
                        <a:fillRect/>
                      </a:stretch>
                    </p:blipFill>
                    <p:spPr>
                      <a:xfrm>
                        <a:off x="8323770" y="5765616"/>
                        <a:ext cx="2225675" cy="439737"/>
                      </a:xfrm>
                      <a:prstGeom prst="rect">
                        <a:avLst/>
                      </a:prstGeom>
                    </p:spPr>
                  </p:pic>
                </p:oleObj>
              </mc:Fallback>
            </mc:AlternateContent>
          </a:graphicData>
        </a:graphic>
      </p:graphicFrame>
    </p:spTree>
    <p:extLst>
      <p:ext uri="{BB962C8B-B14F-4D97-AF65-F5344CB8AC3E}">
        <p14:creationId xmlns:p14="http://schemas.microsoft.com/office/powerpoint/2010/main" val="22401729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3304" y="0"/>
            <a:ext cx="1758696" cy="1353312"/>
          </a:xfrm>
          <a:prstGeom prst="rect">
            <a:avLst/>
          </a:prstGeom>
        </p:spPr>
      </p:pic>
      <p:sp>
        <p:nvSpPr>
          <p:cNvPr id="6" name="TextBox 5"/>
          <p:cNvSpPr txBox="1"/>
          <p:nvPr/>
        </p:nvSpPr>
        <p:spPr>
          <a:xfrm>
            <a:off x="10309753" y="6488668"/>
            <a:ext cx="1882247" cy="369332"/>
          </a:xfrm>
          <a:prstGeom prst="rect">
            <a:avLst/>
          </a:prstGeom>
          <a:noFill/>
        </p:spPr>
        <p:txBody>
          <a:bodyPr wrap="none" rtlCol="1">
            <a:spAutoFit/>
          </a:bodyPr>
          <a:lstStyle/>
          <a:p>
            <a:r>
              <a:rPr lang="en-US" b="1" dirty="0" smtClean="0">
                <a:solidFill>
                  <a:schemeClr val="accent3">
                    <a:lumMod val="40000"/>
                    <a:lumOff val="60000"/>
                  </a:schemeClr>
                </a:solidFill>
              </a:rPr>
              <a:t>By </a:t>
            </a:r>
            <a:r>
              <a:rPr lang="en-US" b="1" dirty="0" err="1" smtClean="0">
                <a:solidFill>
                  <a:schemeClr val="accent3">
                    <a:lumMod val="40000"/>
                    <a:lumOff val="60000"/>
                  </a:schemeClr>
                </a:solidFill>
              </a:rPr>
              <a:t>Eslam</a:t>
            </a:r>
            <a:r>
              <a:rPr lang="en-US" b="1" dirty="0" smtClean="0">
                <a:solidFill>
                  <a:schemeClr val="accent3">
                    <a:lumMod val="40000"/>
                    <a:lumOff val="60000"/>
                  </a:schemeClr>
                </a:solidFill>
              </a:rPr>
              <a:t> </a:t>
            </a:r>
            <a:r>
              <a:rPr lang="en-US" b="1" dirty="0" err="1" smtClean="0">
                <a:solidFill>
                  <a:schemeClr val="accent3">
                    <a:lumMod val="40000"/>
                    <a:lumOff val="60000"/>
                  </a:schemeClr>
                </a:solidFill>
              </a:rPr>
              <a:t>Khder</a:t>
            </a:r>
            <a:endParaRPr lang="ar-EG" b="1" dirty="0">
              <a:solidFill>
                <a:schemeClr val="accent3">
                  <a:lumMod val="40000"/>
                  <a:lumOff val="60000"/>
                </a:schemeClr>
              </a:solidFill>
            </a:endParaRPr>
          </a:p>
        </p:txBody>
      </p:sp>
      <p:sp>
        <p:nvSpPr>
          <p:cNvPr id="4" name="TextBox 3"/>
          <p:cNvSpPr txBox="1"/>
          <p:nvPr/>
        </p:nvSpPr>
        <p:spPr>
          <a:xfrm>
            <a:off x="1637109" y="777727"/>
            <a:ext cx="7799499" cy="461665"/>
          </a:xfrm>
          <a:prstGeom prst="rect">
            <a:avLst/>
          </a:prstGeom>
          <a:noFill/>
        </p:spPr>
        <p:txBody>
          <a:bodyPr wrap="square" rtlCol="1">
            <a:spAutoFit/>
          </a:bodyPr>
          <a:lstStyle/>
          <a:p>
            <a:pPr algn="l"/>
            <a:r>
              <a:rPr lang="en-US" sz="2400" b="1" dirty="0" smtClean="0"/>
              <a:t>Data Definition Language (DML) Statements</a:t>
            </a:r>
            <a:endParaRPr lang="en-US" sz="2400" b="1" dirty="0"/>
          </a:p>
        </p:txBody>
      </p:sp>
      <p:sp>
        <p:nvSpPr>
          <p:cNvPr id="2" name="Rectangle 1"/>
          <p:cNvSpPr/>
          <p:nvPr/>
        </p:nvSpPr>
        <p:spPr>
          <a:xfrm>
            <a:off x="3895574" y="1891022"/>
            <a:ext cx="5367298" cy="584775"/>
          </a:xfrm>
          <a:prstGeom prst="rect">
            <a:avLst/>
          </a:prstGeom>
        </p:spPr>
        <p:txBody>
          <a:bodyPr wrap="square">
            <a:spAutoFit/>
          </a:bodyPr>
          <a:lstStyle/>
          <a:p>
            <a:pPr algn="l"/>
            <a:r>
              <a:rPr lang="en-US" sz="3200" b="1" dirty="0" smtClean="0"/>
              <a:t>DELETE STATEMENT</a:t>
            </a:r>
            <a:endParaRPr lang="ar-EG" sz="3200" b="1" dirty="0" smtClean="0"/>
          </a:p>
        </p:txBody>
      </p:sp>
      <p:sp>
        <p:nvSpPr>
          <p:cNvPr id="7" name="TextBox 6"/>
          <p:cNvSpPr txBox="1"/>
          <p:nvPr/>
        </p:nvSpPr>
        <p:spPr>
          <a:xfrm>
            <a:off x="1637109" y="3536269"/>
            <a:ext cx="9189387" cy="769441"/>
          </a:xfrm>
          <a:prstGeom prst="rect">
            <a:avLst/>
          </a:prstGeom>
          <a:noFill/>
        </p:spPr>
        <p:txBody>
          <a:bodyPr wrap="square" rtlCol="1">
            <a:spAutoFit/>
          </a:bodyPr>
          <a:lstStyle/>
          <a:p>
            <a:pPr algn="l"/>
            <a:r>
              <a:rPr lang="en-US" sz="4400" b="1" dirty="0" smtClean="0"/>
              <a:t>Use to DELETE row from table.</a:t>
            </a:r>
            <a:endParaRPr lang="ar-EG" sz="4400" b="1" dirty="0"/>
          </a:p>
        </p:txBody>
      </p:sp>
    </p:spTree>
    <p:extLst>
      <p:ext uri="{BB962C8B-B14F-4D97-AF65-F5344CB8AC3E}">
        <p14:creationId xmlns:p14="http://schemas.microsoft.com/office/powerpoint/2010/main" val="13272082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33304" y="0"/>
            <a:ext cx="1758696" cy="1353312"/>
          </a:xfrm>
          <a:prstGeom prst="rect">
            <a:avLst/>
          </a:prstGeom>
        </p:spPr>
      </p:pic>
      <p:sp>
        <p:nvSpPr>
          <p:cNvPr id="6" name="TextBox 5"/>
          <p:cNvSpPr txBox="1"/>
          <p:nvPr/>
        </p:nvSpPr>
        <p:spPr>
          <a:xfrm>
            <a:off x="10309753" y="6488668"/>
            <a:ext cx="1882247" cy="369332"/>
          </a:xfrm>
          <a:prstGeom prst="rect">
            <a:avLst/>
          </a:prstGeom>
          <a:noFill/>
        </p:spPr>
        <p:txBody>
          <a:bodyPr wrap="none" rtlCol="1">
            <a:spAutoFit/>
          </a:bodyPr>
          <a:lstStyle/>
          <a:p>
            <a:r>
              <a:rPr lang="en-US" b="1" dirty="0" smtClean="0">
                <a:solidFill>
                  <a:schemeClr val="accent3">
                    <a:lumMod val="40000"/>
                    <a:lumOff val="60000"/>
                  </a:schemeClr>
                </a:solidFill>
              </a:rPr>
              <a:t>By </a:t>
            </a:r>
            <a:r>
              <a:rPr lang="en-US" b="1" dirty="0" err="1" smtClean="0">
                <a:solidFill>
                  <a:schemeClr val="accent3">
                    <a:lumMod val="40000"/>
                    <a:lumOff val="60000"/>
                  </a:schemeClr>
                </a:solidFill>
              </a:rPr>
              <a:t>Eslam</a:t>
            </a:r>
            <a:r>
              <a:rPr lang="en-US" b="1" dirty="0" smtClean="0">
                <a:solidFill>
                  <a:schemeClr val="accent3">
                    <a:lumMod val="40000"/>
                    <a:lumOff val="60000"/>
                  </a:schemeClr>
                </a:solidFill>
              </a:rPr>
              <a:t> </a:t>
            </a:r>
            <a:r>
              <a:rPr lang="en-US" b="1" dirty="0" err="1" smtClean="0">
                <a:solidFill>
                  <a:schemeClr val="accent3">
                    <a:lumMod val="40000"/>
                    <a:lumOff val="60000"/>
                  </a:schemeClr>
                </a:solidFill>
              </a:rPr>
              <a:t>Khder</a:t>
            </a:r>
            <a:endParaRPr lang="ar-EG" b="1" dirty="0">
              <a:solidFill>
                <a:schemeClr val="accent3">
                  <a:lumMod val="40000"/>
                  <a:lumOff val="60000"/>
                </a:schemeClr>
              </a:solidFill>
            </a:endParaRPr>
          </a:p>
        </p:txBody>
      </p:sp>
      <p:sp>
        <p:nvSpPr>
          <p:cNvPr id="4" name="TextBox 3"/>
          <p:cNvSpPr txBox="1"/>
          <p:nvPr/>
        </p:nvSpPr>
        <p:spPr>
          <a:xfrm>
            <a:off x="1637109" y="777727"/>
            <a:ext cx="7799499" cy="461665"/>
          </a:xfrm>
          <a:prstGeom prst="rect">
            <a:avLst/>
          </a:prstGeom>
          <a:noFill/>
        </p:spPr>
        <p:txBody>
          <a:bodyPr wrap="square" rtlCol="1">
            <a:spAutoFit/>
          </a:bodyPr>
          <a:lstStyle/>
          <a:p>
            <a:pPr algn="l"/>
            <a:r>
              <a:rPr lang="en-US" sz="2400" b="1" dirty="0" smtClean="0"/>
              <a:t>Data Definition Language (DML) Statements</a:t>
            </a:r>
            <a:endParaRPr lang="en-US" sz="2400" b="1" dirty="0"/>
          </a:p>
        </p:txBody>
      </p:sp>
      <p:pic>
        <p:nvPicPr>
          <p:cNvPr id="7" name="Picture 6"/>
          <p:cNvPicPr>
            <a:picLocks noChangeAspect="1"/>
          </p:cNvPicPr>
          <p:nvPr/>
        </p:nvPicPr>
        <p:blipFill>
          <a:blip r:embed="rId4"/>
          <a:stretch>
            <a:fillRect/>
          </a:stretch>
        </p:blipFill>
        <p:spPr>
          <a:xfrm>
            <a:off x="429387" y="2059865"/>
            <a:ext cx="10567948" cy="3008757"/>
          </a:xfrm>
          <a:prstGeom prst="rect">
            <a:avLst/>
          </a:prstGeom>
        </p:spPr>
      </p:pic>
      <p:graphicFrame>
        <p:nvGraphicFramePr>
          <p:cNvPr id="8" name="Object 7"/>
          <p:cNvGraphicFramePr>
            <a:graphicFrameLocks noChangeAspect="1"/>
          </p:cNvGraphicFramePr>
          <p:nvPr>
            <p:extLst>
              <p:ext uri="{D42A27DB-BD31-4B8C-83A1-F6EECF244321}">
                <p14:modId xmlns:p14="http://schemas.microsoft.com/office/powerpoint/2010/main" val="2344463290"/>
              </p:ext>
            </p:extLst>
          </p:nvPr>
        </p:nvGraphicFramePr>
        <p:xfrm>
          <a:off x="8240967" y="4378198"/>
          <a:ext cx="2192337" cy="439738"/>
        </p:xfrm>
        <a:graphic>
          <a:graphicData uri="http://schemas.openxmlformats.org/presentationml/2006/ole">
            <mc:AlternateContent xmlns:mc="http://schemas.openxmlformats.org/markup-compatibility/2006">
              <mc:Choice xmlns:v="urn:schemas-microsoft-com:vml" Requires="v">
                <p:oleObj spid="_x0000_s29820" name="Packager Shell Object" showAsIcon="1" r:id="rId5" imgW="2193120" imgH="439560" progId="Package">
                  <p:embed/>
                </p:oleObj>
              </mc:Choice>
              <mc:Fallback>
                <p:oleObj name="Packager Shell Object" showAsIcon="1" r:id="rId5" imgW="2193120" imgH="439560" progId="Package">
                  <p:embed/>
                  <p:pic>
                    <p:nvPicPr>
                      <p:cNvPr id="0" name=""/>
                      <p:cNvPicPr/>
                      <p:nvPr/>
                    </p:nvPicPr>
                    <p:blipFill>
                      <a:blip r:embed="rId6"/>
                      <a:stretch>
                        <a:fillRect/>
                      </a:stretch>
                    </p:blipFill>
                    <p:spPr>
                      <a:xfrm>
                        <a:off x="8240967" y="4378198"/>
                        <a:ext cx="2192337" cy="439738"/>
                      </a:xfrm>
                      <a:prstGeom prst="rect">
                        <a:avLst/>
                      </a:prstGeom>
                    </p:spPr>
                  </p:pic>
                </p:oleObj>
              </mc:Fallback>
            </mc:AlternateContent>
          </a:graphicData>
        </a:graphic>
      </p:graphicFrame>
    </p:spTree>
    <p:extLst>
      <p:ext uri="{BB962C8B-B14F-4D97-AF65-F5344CB8AC3E}">
        <p14:creationId xmlns:p14="http://schemas.microsoft.com/office/powerpoint/2010/main" val="31638331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433304" y="0"/>
            <a:ext cx="1758696" cy="1353312"/>
          </a:xfrm>
          <a:prstGeom prst="rect">
            <a:avLst/>
          </a:prstGeom>
        </p:spPr>
      </p:pic>
      <p:sp>
        <p:nvSpPr>
          <p:cNvPr id="6" name="TextBox 5"/>
          <p:cNvSpPr txBox="1"/>
          <p:nvPr/>
        </p:nvSpPr>
        <p:spPr>
          <a:xfrm>
            <a:off x="10309753" y="6488668"/>
            <a:ext cx="1882247" cy="369332"/>
          </a:xfrm>
          <a:prstGeom prst="rect">
            <a:avLst/>
          </a:prstGeom>
          <a:noFill/>
        </p:spPr>
        <p:txBody>
          <a:bodyPr wrap="none" rtlCol="1">
            <a:spAutoFit/>
          </a:bodyPr>
          <a:lstStyle/>
          <a:p>
            <a:r>
              <a:rPr lang="en-US" b="1" dirty="0" smtClean="0">
                <a:solidFill>
                  <a:schemeClr val="accent3">
                    <a:lumMod val="40000"/>
                    <a:lumOff val="60000"/>
                  </a:schemeClr>
                </a:solidFill>
              </a:rPr>
              <a:t>By </a:t>
            </a:r>
            <a:r>
              <a:rPr lang="en-US" b="1" dirty="0" err="1" smtClean="0">
                <a:solidFill>
                  <a:schemeClr val="accent3">
                    <a:lumMod val="40000"/>
                    <a:lumOff val="60000"/>
                  </a:schemeClr>
                </a:solidFill>
              </a:rPr>
              <a:t>Eslam</a:t>
            </a:r>
            <a:r>
              <a:rPr lang="en-US" b="1" dirty="0" smtClean="0">
                <a:solidFill>
                  <a:schemeClr val="accent3">
                    <a:lumMod val="40000"/>
                    <a:lumOff val="60000"/>
                  </a:schemeClr>
                </a:solidFill>
              </a:rPr>
              <a:t> </a:t>
            </a:r>
            <a:r>
              <a:rPr lang="en-US" b="1" dirty="0" err="1" smtClean="0">
                <a:solidFill>
                  <a:schemeClr val="accent3">
                    <a:lumMod val="40000"/>
                    <a:lumOff val="60000"/>
                  </a:schemeClr>
                </a:solidFill>
              </a:rPr>
              <a:t>Khder</a:t>
            </a:r>
            <a:endParaRPr lang="ar-EG" b="1" dirty="0">
              <a:solidFill>
                <a:schemeClr val="accent3">
                  <a:lumMod val="40000"/>
                  <a:lumOff val="60000"/>
                </a:schemeClr>
              </a:solidFill>
            </a:endParaRPr>
          </a:p>
        </p:txBody>
      </p:sp>
      <p:pic>
        <p:nvPicPr>
          <p:cNvPr id="2" name="Picture 1"/>
          <p:cNvPicPr>
            <a:picLocks noChangeAspect="1"/>
          </p:cNvPicPr>
          <p:nvPr/>
        </p:nvPicPr>
        <p:blipFill>
          <a:blip r:embed="rId5"/>
          <a:stretch>
            <a:fillRect/>
          </a:stretch>
        </p:blipFill>
        <p:spPr>
          <a:xfrm>
            <a:off x="1070609" y="4122991"/>
            <a:ext cx="7762655" cy="1299401"/>
          </a:xfrm>
          <a:prstGeom prst="rect">
            <a:avLst/>
          </a:prstGeom>
        </p:spPr>
      </p:pic>
      <p:graphicFrame>
        <p:nvGraphicFramePr>
          <p:cNvPr id="3" name="Object 2"/>
          <p:cNvGraphicFramePr>
            <a:graphicFrameLocks noChangeAspect="1"/>
          </p:cNvGraphicFramePr>
          <p:nvPr>
            <p:extLst>
              <p:ext uri="{D42A27DB-BD31-4B8C-83A1-F6EECF244321}">
                <p14:modId xmlns:p14="http://schemas.microsoft.com/office/powerpoint/2010/main" val="1543103486"/>
              </p:ext>
            </p:extLst>
          </p:nvPr>
        </p:nvGraphicFramePr>
        <p:xfrm>
          <a:off x="6307963" y="4982654"/>
          <a:ext cx="2322513" cy="439738"/>
        </p:xfrm>
        <a:graphic>
          <a:graphicData uri="http://schemas.openxmlformats.org/presentationml/2006/ole">
            <mc:AlternateContent xmlns:mc="http://schemas.openxmlformats.org/markup-compatibility/2006">
              <mc:Choice xmlns:v="urn:schemas-microsoft-com:vml" Requires="v">
                <p:oleObj spid="_x0000_s11501" name="Packager Shell Object" showAsIcon="1" r:id="rId6" imgW="2322000" imgH="439560" progId="Package">
                  <p:embed/>
                </p:oleObj>
              </mc:Choice>
              <mc:Fallback>
                <p:oleObj name="Packager Shell Object" showAsIcon="1" r:id="rId6" imgW="2322000" imgH="439560" progId="Package">
                  <p:embed/>
                  <p:pic>
                    <p:nvPicPr>
                      <p:cNvPr id="0" name=""/>
                      <p:cNvPicPr/>
                      <p:nvPr/>
                    </p:nvPicPr>
                    <p:blipFill>
                      <a:blip r:embed="rId7"/>
                      <a:stretch>
                        <a:fillRect/>
                      </a:stretch>
                    </p:blipFill>
                    <p:spPr>
                      <a:xfrm>
                        <a:off x="6307963" y="4982654"/>
                        <a:ext cx="2322513" cy="439738"/>
                      </a:xfrm>
                      <a:prstGeom prst="rect">
                        <a:avLst/>
                      </a:prstGeom>
                    </p:spPr>
                  </p:pic>
                </p:oleObj>
              </mc:Fallback>
            </mc:AlternateContent>
          </a:graphicData>
        </a:graphic>
      </p:graphicFrame>
      <p:pic>
        <p:nvPicPr>
          <p:cNvPr id="4" name="Picture 3"/>
          <p:cNvPicPr>
            <a:picLocks noChangeAspect="1"/>
          </p:cNvPicPr>
          <p:nvPr/>
        </p:nvPicPr>
        <p:blipFill>
          <a:blip r:embed="rId8"/>
          <a:stretch>
            <a:fillRect/>
          </a:stretch>
        </p:blipFill>
        <p:spPr>
          <a:xfrm>
            <a:off x="1094882" y="2824035"/>
            <a:ext cx="7738382" cy="1152525"/>
          </a:xfrm>
          <a:prstGeom prst="rect">
            <a:avLst/>
          </a:prstGeom>
        </p:spPr>
      </p:pic>
      <p:graphicFrame>
        <p:nvGraphicFramePr>
          <p:cNvPr id="7" name="Object 6"/>
          <p:cNvGraphicFramePr>
            <a:graphicFrameLocks noChangeAspect="1"/>
          </p:cNvGraphicFramePr>
          <p:nvPr>
            <p:extLst>
              <p:ext uri="{D42A27DB-BD31-4B8C-83A1-F6EECF244321}">
                <p14:modId xmlns:p14="http://schemas.microsoft.com/office/powerpoint/2010/main" val="199915283"/>
              </p:ext>
            </p:extLst>
          </p:nvPr>
        </p:nvGraphicFramePr>
        <p:xfrm>
          <a:off x="6207950" y="2888043"/>
          <a:ext cx="2522538" cy="576262"/>
        </p:xfrm>
        <a:graphic>
          <a:graphicData uri="http://schemas.openxmlformats.org/presentationml/2006/ole">
            <mc:AlternateContent xmlns:mc="http://schemas.openxmlformats.org/markup-compatibility/2006">
              <mc:Choice xmlns:v="urn:schemas-microsoft-com:vml" Requires="v">
                <p:oleObj spid="_x0000_s11502" name="Packager Shell Object" showAsIcon="1" r:id="rId9" imgW="2521800" imgH="439560" progId="Package">
                  <p:embed/>
                </p:oleObj>
              </mc:Choice>
              <mc:Fallback>
                <p:oleObj name="Packager Shell Object" showAsIcon="1" r:id="rId9" imgW="2521800" imgH="439560" progId="Package">
                  <p:embed/>
                  <p:pic>
                    <p:nvPicPr>
                      <p:cNvPr id="0" name=""/>
                      <p:cNvPicPr/>
                      <p:nvPr/>
                    </p:nvPicPr>
                    <p:blipFill>
                      <a:blip r:embed="rId10"/>
                      <a:stretch>
                        <a:fillRect/>
                      </a:stretch>
                    </p:blipFill>
                    <p:spPr>
                      <a:xfrm>
                        <a:off x="6207950" y="2888043"/>
                        <a:ext cx="2522538" cy="576262"/>
                      </a:xfrm>
                      <a:prstGeom prst="rect">
                        <a:avLst/>
                      </a:prstGeom>
                    </p:spPr>
                  </p:pic>
                </p:oleObj>
              </mc:Fallback>
            </mc:AlternateContent>
          </a:graphicData>
        </a:graphic>
      </p:graphicFrame>
      <p:sp>
        <p:nvSpPr>
          <p:cNvPr id="9" name="TextBox 8"/>
          <p:cNvSpPr txBox="1"/>
          <p:nvPr/>
        </p:nvSpPr>
        <p:spPr>
          <a:xfrm>
            <a:off x="2295144" y="983980"/>
            <a:ext cx="5322059" cy="523220"/>
          </a:xfrm>
          <a:prstGeom prst="rect">
            <a:avLst/>
          </a:prstGeom>
          <a:noFill/>
        </p:spPr>
        <p:txBody>
          <a:bodyPr wrap="square" rtlCol="1">
            <a:spAutoFit/>
          </a:bodyPr>
          <a:lstStyle/>
          <a:p>
            <a:pPr algn="ctr"/>
            <a:r>
              <a:rPr lang="en-US" sz="2800" b="1" dirty="0" err="1" smtClean="0"/>
              <a:t>Using+SELECT+Statements</a:t>
            </a:r>
            <a:endParaRPr lang="ar-EG" sz="2800" b="1" dirty="0"/>
          </a:p>
        </p:txBody>
      </p:sp>
    </p:spTree>
    <p:extLst>
      <p:ext uri="{BB962C8B-B14F-4D97-AF65-F5344CB8AC3E}">
        <p14:creationId xmlns:p14="http://schemas.microsoft.com/office/powerpoint/2010/main" val="24826079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33304" y="0"/>
            <a:ext cx="1758696" cy="1353312"/>
          </a:xfrm>
          <a:prstGeom prst="rect">
            <a:avLst/>
          </a:prstGeom>
        </p:spPr>
      </p:pic>
      <p:sp>
        <p:nvSpPr>
          <p:cNvPr id="6" name="TextBox 5"/>
          <p:cNvSpPr txBox="1"/>
          <p:nvPr/>
        </p:nvSpPr>
        <p:spPr>
          <a:xfrm>
            <a:off x="10309753" y="6488668"/>
            <a:ext cx="1882247" cy="369332"/>
          </a:xfrm>
          <a:prstGeom prst="rect">
            <a:avLst/>
          </a:prstGeom>
          <a:noFill/>
        </p:spPr>
        <p:txBody>
          <a:bodyPr wrap="none" rtlCol="1">
            <a:spAutoFit/>
          </a:bodyPr>
          <a:lstStyle/>
          <a:p>
            <a:r>
              <a:rPr lang="en-US" b="1" dirty="0" smtClean="0">
                <a:solidFill>
                  <a:schemeClr val="accent3">
                    <a:lumMod val="40000"/>
                    <a:lumOff val="60000"/>
                  </a:schemeClr>
                </a:solidFill>
              </a:rPr>
              <a:t>By </a:t>
            </a:r>
            <a:r>
              <a:rPr lang="en-US" b="1" dirty="0" err="1" smtClean="0">
                <a:solidFill>
                  <a:schemeClr val="accent3">
                    <a:lumMod val="40000"/>
                    <a:lumOff val="60000"/>
                  </a:schemeClr>
                </a:solidFill>
              </a:rPr>
              <a:t>Eslam</a:t>
            </a:r>
            <a:r>
              <a:rPr lang="en-US" b="1" dirty="0" smtClean="0">
                <a:solidFill>
                  <a:schemeClr val="accent3">
                    <a:lumMod val="40000"/>
                    <a:lumOff val="60000"/>
                  </a:schemeClr>
                </a:solidFill>
              </a:rPr>
              <a:t> </a:t>
            </a:r>
            <a:r>
              <a:rPr lang="en-US" b="1" dirty="0" err="1" smtClean="0">
                <a:solidFill>
                  <a:schemeClr val="accent3">
                    <a:lumMod val="40000"/>
                    <a:lumOff val="60000"/>
                  </a:schemeClr>
                </a:solidFill>
              </a:rPr>
              <a:t>Khder</a:t>
            </a:r>
            <a:endParaRPr lang="ar-EG" b="1" dirty="0">
              <a:solidFill>
                <a:schemeClr val="accent3">
                  <a:lumMod val="40000"/>
                  <a:lumOff val="60000"/>
                </a:schemeClr>
              </a:solidFill>
            </a:endParaRPr>
          </a:p>
        </p:txBody>
      </p:sp>
      <p:pic>
        <p:nvPicPr>
          <p:cNvPr id="2" name="Picture 1"/>
          <p:cNvPicPr>
            <a:picLocks noChangeAspect="1"/>
          </p:cNvPicPr>
          <p:nvPr/>
        </p:nvPicPr>
        <p:blipFill>
          <a:blip r:embed="rId4"/>
          <a:stretch>
            <a:fillRect/>
          </a:stretch>
        </p:blipFill>
        <p:spPr>
          <a:xfrm>
            <a:off x="85725" y="3584638"/>
            <a:ext cx="12106275" cy="1590675"/>
          </a:xfrm>
          <a:prstGeom prst="rect">
            <a:avLst/>
          </a:prstGeom>
        </p:spPr>
      </p:pic>
      <p:graphicFrame>
        <p:nvGraphicFramePr>
          <p:cNvPr id="3" name="Object 2"/>
          <p:cNvGraphicFramePr>
            <a:graphicFrameLocks noChangeAspect="1"/>
          </p:cNvGraphicFramePr>
          <p:nvPr>
            <p:extLst>
              <p:ext uri="{D42A27DB-BD31-4B8C-83A1-F6EECF244321}">
                <p14:modId xmlns:p14="http://schemas.microsoft.com/office/powerpoint/2010/main" val="3823855742"/>
              </p:ext>
            </p:extLst>
          </p:nvPr>
        </p:nvGraphicFramePr>
        <p:xfrm>
          <a:off x="9145587" y="3938969"/>
          <a:ext cx="2812170" cy="532447"/>
        </p:xfrm>
        <a:graphic>
          <a:graphicData uri="http://schemas.openxmlformats.org/presentationml/2006/ole">
            <mc:AlternateContent xmlns:mc="http://schemas.openxmlformats.org/markup-compatibility/2006">
              <mc:Choice xmlns:v="urn:schemas-microsoft-com:vml" Requires="v">
                <p:oleObj spid="_x0000_s10359" name="Packager Shell Object" showAsIcon="1" r:id="rId5" imgW="2322000" imgH="439560" progId="Package">
                  <p:embed/>
                </p:oleObj>
              </mc:Choice>
              <mc:Fallback>
                <p:oleObj name="Packager Shell Object" showAsIcon="1" r:id="rId5" imgW="2322000" imgH="439560" progId="Package">
                  <p:embed/>
                  <p:pic>
                    <p:nvPicPr>
                      <p:cNvPr id="0" name=""/>
                      <p:cNvPicPr/>
                      <p:nvPr/>
                    </p:nvPicPr>
                    <p:blipFill>
                      <a:blip r:embed="rId6"/>
                      <a:stretch>
                        <a:fillRect/>
                      </a:stretch>
                    </p:blipFill>
                    <p:spPr>
                      <a:xfrm>
                        <a:off x="9145587" y="3938969"/>
                        <a:ext cx="2812170" cy="532447"/>
                      </a:xfrm>
                      <a:prstGeom prst="rect">
                        <a:avLst/>
                      </a:prstGeom>
                    </p:spPr>
                  </p:pic>
                </p:oleObj>
              </mc:Fallback>
            </mc:AlternateContent>
          </a:graphicData>
        </a:graphic>
      </p:graphicFrame>
      <p:sp>
        <p:nvSpPr>
          <p:cNvPr id="4" name="Rectangle 3"/>
          <p:cNvSpPr/>
          <p:nvPr/>
        </p:nvSpPr>
        <p:spPr>
          <a:xfrm>
            <a:off x="3140524" y="983980"/>
            <a:ext cx="4787323" cy="584775"/>
          </a:xfrm>
          <a:prstGeom prst="rect">
            <a:avLst/>
          </a:prstGeom>
        </p:spPr>
        <p:txBody>
          <a:bodyPr wrap="square">
            <a:spAutoFit/>
          </a:bodyPr>
          <a:lstStyle/>
          <a:p>
            <a:pPr algn="ctr"/>
            <a:r>
              <a:rPr lang="ar-EG" sz="3200" b="1" dirty="0" smtClean="0"/>
              <a:t>Using Column Aliases</a:t>
            </a:r>
            <a:endParaRPr lang="ar-EG" sz="3200" b="1" dirty="0"/>
          </a:p>
        </p:txBody>
      </p:sp>
    </p:spTree>
    <p:extLst>
      <p:ext uri="{BB962C8B-B14F-4D97-AF65-F5344CB8AC3E}">
        <p14:creationId xmlns:p14="http://schemas.microsoft.com/office/powerpoint/2010/main" val="167356903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33304" y="0"/>
            <a:ext cx="1758696" cy="1353312"/>
          </a:xfrm>
          <a:prstGeom prst="rect">
            <a:avLst/>
          </a:prstGeom>
        </p:spPr>
      </p:pic>
      <p:sp>
        <p:nvSpPr>
          <p:cNvPr id="6" name="TextBox 5"/>
          <p:cNvSpPr txBox="1"/>
          <p:nvPr/>
        </p:nvSpPr>
        <p:spPr>
          <a:xfrm>
            <a:off x="10309753" y="6488668"/>
            <a:ext cx="1882247" cy="369332"/>
          </a:xfrm>
          <a:prstGeom prst="rect">
            <a:avLst/>
          </a:prstGeom>
          <a:noFill/>
        </p:spPr>
        <p:txBody>
          <a:bodyPr wrap="none" rtlCol="1">
            <a:spAutoFit/>
          </a:bodyPr>
          <a:lstStyle/>
          <a:p>
            <a:r>
              <a:rPr lang="en-US" b="1" dirty="0" smtClean="0">
                <a:solidFill>
                  <a:schemeClr val="accent3">
                    <a:lumMod val="40000"/>
                    <a:lumOff val="60000"/>
                  </a:schemeClr>
                </a:solidFill>
              </a:rPr>
              <a:t>By </a:t>
            </a:r>
            <a:r>
              <a:rPr lang="en-US" b="1" dirty="0" err="1" smtClean="0">
                <a:solidFill>
                  <a:schemeClr val="accent3">
                    <a:lumMod val="40000"/>
                    <a:lumOff val="60000"/>
                  </a:schemeClr>
                </a:solidFill>
              </a:rPr>
              <a:t>Eslam</a:t>
            </a:r>
            <a:r>
              <a:rPr lang="en-US" b="1" dirty="0" smtClean="0">
                <a:solidFill>
                  <a:schemeClr val="accent3">
                    <a:lumMod val="40000"/>
                    <a:lumOff val="60000"/>
                  </a:schemeClr>
                </a:solidFill>
              </a:rPr>
              <a:t> </a:t>
            </a:r>
            <a:r>
              <a:rPr lang="en-US" b="1" dirty="0" err="1" smtClean="0">
                <a:solidFill>
                  <a:schemeClr val="accent3">
                    <a:lumMod val="40000"/>
                    <a:lumOff val="60000"/>
                  </a:schemeClr>
                </a:solidFill>
              </a:rPr>
              <a:t>Khder</a:t>
            </a:r>
            <a:endParaRPr lang="ar-EG" b="1" dirty="0">
              <a:solidFill>
                <a:schemeClr val="accent3">
                  <a:lumMod val="40000"/>
                  <a:lumOff val="60000"/>
                </a:schemeClr>
              </a:solidFill>
            </a:endParaRPr>
          </a:p>
        </p:txBody>
      </p:sp>
      <p:pic>
        <p:nvPicPr>
          <p:cNvPr id="2" name="Picture 1"/>
          <p:cNvPicPr>
            <a:picLocks noChangeAspect="1"/>
          </p:cNvPicPr>
          <p:nvPr/>
        </p:nvPicPr>
        <p:blipFill>
          <a:blip r:embed="rId4"/>
          <a:stretch>
            <a:fillRect/>
          </a:stretch>
        </p:blipFill>
        <p:spPr>
          <a:xfrm>
            <a:off x="376502" y="3173602"/>
            <a:ext cx="11261758" cy="1818807"/>
          </a:xfrm>
          <a:prstGeom prst="rect">
            <a:avLst/>
          </a:prstGeom>
        </p:spPr>
      </p:pic>
      <p:graphicFrame>
        <p:nvGraphicFramePr>
          <p:cNvPr id="3" name="Object 2"/>
          <p:cNvGraphicFramePr>
            <a:graphicFrameLocks noChangeAspect="1"/>
          </p:cNvGraphicFramePr>
          <p:nvPr>
            <p:extLst>
              <p:ext uri="{D42A27DB-BD31-4B8C-83A1-F6EECF244321}">
                <p14:modId xmlns:p14="http://schemas.microsoft.com/office/powerpoint/2010/main" val="1951166993"/>
              </p:ext>
            </p:extLst>
          </p:nvPr>
        </p:nvGraphicFramePr>
        <p:xfrm>
          <a:off x="9055100" y="3863136"/>
          <a:ext cx="2463800" cy="439737"/>
        </p:xfrm>
        <a:graphic>
          <a:graphicData uri="http://schemas.openxmlformats.org/presentationml/2006/ole">
            <mc:AlternateContent xmlns:mc="http://schemas.openxmlformats.org/markup-compatibility/2006">
              <mc:Choice xmlns:v="urn:schemas-microsoft-com:vml" Requires="v">
                <p:oleObj spid="_x0000_s8309" name="Packager Shell Object" showAsIcon="1" r:id="rId5" imgW="2463840" imgH="439560" progId="Package">
                  <p:embed/>
                </p:oleObj>
              </mc:Choice>
              <mc:Fallback>
                <p:oleObj name="Packager Shell Object" showAsIcon="1" r:id="rId5" imgW="2463840" imgH="439560" progId="Package">
                  <p:embed/>
                  <p:pic>
                    <p:nvPicPr>
                      <p:cNvPr id="0" name=""/>
                      <p:cNvPicPr/>
                      <p:nvPr/>
                    </p:nvPicPr>
                    <p:blipFill>
                      <a:blip r:embed="rId6"/>
                      <a:stretch>
                        <a:fillRect/>
                      </a:stretch>
                    </p:blipFill>
                    <p:spPr>
                      <a:xfrm>
                        <a:off x="9055100" y="3863136"/>
                        <a:ext cx="2463800" cy="439737"/>
                      </a:xfrm>
                      <a:prstGeom prst="rect">
                        <a:avLst/>
                      </a:prstGeom>
                    </p:spPr>
                  </p:pic>
                </p:oleObj>
              </mc:Fallback>
            </mc:AlternateContent>
          </a:graphicData>
        </a:graphic>
      </p:graphicFrame>
      <p:sp>
        <p:nvSpPr>
          <p:cNvPr id="4" name="Rectangle 3"/>
          <p:cNvSpPr/>
          <p:nvPr/>
        </p:nvSpPr>
        <p:spPr>
          <a:xfrm>
            <a:off x="3640480" y="1353312"/>
            <a:ext cx="3400400" cy="384048"/>
          </a:xfrm>
          <a:prstGeom prst="rect">
            <a:avLst/>
          </a:prstGeom>
        </p:spPr>
        <p:txBody>
          <a:bodyPr wrap="square">
            <a:spAutoFit/>
          </a:bodyPr>
          <a:lstStyle/>
          <a:p>
            <a:r>
              <a:rPr lang="ar-EG" b="1" dirty="0"/>
              <a:t>Concatenation Operators</a:t>
            </a:r>
          </a:p>
        </p:txBody>
      </p:sp>
    </p:spTree>
    <p:extLst>
      <p:ext uri="{BB962C8B-B14F-4D97-AF65-F5344CB8AC3E}">
        <p14:creationId xmlns:p14="http://schemas.microsoft.com/office/powerpoint/2010/main" val="30378418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33304" y="0"/>
            <a:ext cx="1758696" cy="1353312"/>
          </a:xfrm>
          <a:prstGeom prst="rect">
            <a:avLst/>
          </a:prstGeom>
        </p:spPr>
      </p:pic>
      <p:sp>
        <p:nvSpPr>
          <p:cNvPr id="6" name="TextBox 5"/>
          <p:cNvSpPr txBox="1"/>
          <p:nvPr/>
        </p:nvSpPr>
        <p:spPr>
          <a:xfrm>
            <a:off x="10309753" y="6488668"/>
            <a:ext cx="1882247" cy="369332"/>
          </a:xfrm>
          <a:prstGeom prst="rect">
            <a:avLst/>
          </a:prstGeom>
          <a:noFill/>
        </p:spPr>
        <p:txBody>
          <a:bodyPr wrap="none" rtlCol="1">
            <a:spAutoFit/>
          </a:bodyPr>
          <a:lstStyle/>
          <a:p>
            <a:r>
              <a:rPr lang="en-US" b="1" dirty="0" smtClean="0">
                <a:solidFill>
                  <a:schemeClr val="accent3">
                    <a:lumMod val="40000"/>
                    <a:lumOff val="60000"/>
                  </a:schemeClr>
                </a:solidFill>
              </a:rPr>
              <a:t>By </a:t>
            </a:r>
            <a:r>
              <a:rPr lang="en-US" b="1" dirty="0" err="1" smtClean="0">
                <a:solidFill>
                  <a:schemeClr val="accent3">
                    <a:lumMod val="40000"/>
                    <a:lumOff val="60000"/>
                  </a:schemeClr>
                </a:solidFill>
              </a:rPr>
              <a:t>Eslam</a:t>
            </a:r>
            <a:r>
              <a:rPr lang="en-US" b="1" dirty="0" smtClean="0">
                <a:solidFill>
                  <a:schemeClr val="accent3">
                    <a:lumMod val="40000"/>
                    <a:lumOff val="60000"/>
                  </a:schemeClr>
                </a:solidFill>
              </a:rPr>
              <a:t> </a:t>
            </a:r>
            <a:r>
              <a:rPr lang="en-US" b="1" dirty="0" err="1" smtClean="0">
                <a:solidFill>
                  <a:schemeClr val="accent3">
                    <a:lumMod val="40000"/>
                    <a:lumOff val="60000"/>
                  </a:schemeClr>
                </a:solidFill>
              </a:rPr>
              <a:t>Khder</a:t>
            </a:r>
            <a:endParaRPr lang="ar-EG" b="1" dirty="0">
              <a:solidFill>
                <a:schemeClr val="accent3">
                  <a:lumMod val="40000"/>
                  <a:lumOff val="60000"/>
                </a:schemeClr>
              </a:solidFill>
            </a:endParaRPr>
          </a:p>
        </p:txBody>
      </p:sp>
      <p:pic>
        <p:nvPicPr>
          <p:cNvPr id="2" name="Picture 1"/>
          <p:cNvPicPr>
            <a:picLocks noChangeAspect="1"/>
          </p:cNvPicPr>
          <p:nvPr/>
        </p:nvPicPr>
        <p:blipFill>
          <a:blip r:embed="rId4"/>
          <a:stretch>
            <a:fillRect/>
          </a:stretch>
        </p:blipFill>
        <p:spPr>
          <a:xfrm>
            <a:off x="982218" y="3103816"/>
            <a:ext cx="10328910" cy="2716369"/>
          </a:xfrm>
          <a:prstGeom prst="rect">
            <a:avLst/>
          </a:prstGeom>
        </p:spPr>
      </p:pic>
      <p:graphicFrame>
        <p:nvGraphicFramePr>
          <p:cNvPr id="3" name="Object 2"/>
          <p:cNvGraphicFramePr>
            <a:graphicFrameLocks noChangeAspect="1"/>
          </p:cNvGraphicFramePr>
          <p:nvPr>
            <p:extLst>
              <p:ext uri="{D42A27DB-BD31-4B8C-83A1-F6EECF244321}">
                <p14:modId xmlns:p14="http://schemas.microsoft.com/office/powerpoint/2010/main" val="781371855"/>
              </p:ext>
            </p:extLst>
          </p:nvPr>
        </p:nvGraphicFramePr>
        <p:xfrm>
          <a:off x="8025985" y="4462000"/>
          <a:ext cx="3238500" cy="439738"/>
        </p:xfrm>
        <a:graphic>
          <a:graphicData uri="http://schemas.openxmlformats.org/presentationml/2006/ole">
            <mc:AlternateContent xmlns:mc="http://schemas.openxmlformats.org/markup-compatibility/2006">
              <mc:Choice xmlns:v="urn:schemas-microsoft-com:vml" Requires="v">
                <p:oleObj spid="_x0000_s7280" name="Packager Shell Object" showAsIcon="1" r:id="rId5" imgW="3237840" imgH="439560" progId="Package">
                  <p:embed/>
                </p:oleObj>
              </mc:Choice>
              <mc:Fallback>
                <p:oleObj name="Packager Shell Object" showAsIcon="1" r:id="rId5" imgW="3237840" imgH="439560" progId="Package">
                  <p:embed/>
                  <p:pic>
                    <p:nvPicPr>
                      <p:cNvPr id="0" name=""/>
                      <p:cNvPicPr/>
                      <p:nvPr/>
                    </p:nvPicPr>
                    <p:blipFill>
                      <a:blip r:embed="rId6"/>
                      <a:stretch>
                        <a:fillRect/>
                      </a:stretch>
                    </p:blipFill>
                    <p:spPr>
                      <a:xfrm>
                        <a:off x="8025985" y="4462000"/>
                        <a:ext cx="3238500" cy="439738"/>
                      </a:xfrm>
                      <a:prstGeom prst="rect">
                        <a:avLst/>
                      </a:prstGeom>
                    </p:spPr>
                  </p:pic>
                </p:oleObj>
              </mc:Fallback>
            </mc:AlternateContent>
          </a:graphicData>
        </a:graphic>
      </p:graphicFrame>
      <p:sp>
        <p:nvSpPr>
          <p:cNvPr id="7" name="Rectangle 6"/>
          <p:cNvSpPr/>
          <p:nvPr/>
        </p:nvSpPr>
        <p:spPr>
          <a:xfrm>
            <a:off x="4205539" y="1168646"/>
            <a:ext cx="2416046" cy="369332"/>
          </a:xfrm>
          <a:prstGeom prst="rect">
            <a:avLst/>
          </a:prstGeom>
        </p:spPr>
        <p:txBody>
          <a:bodyPr wrap="none">
            <a:spAutoFit/>
          </a:bodyPr>
          <a:lstStyle/>
          <a:p>
            <a:r>
              <a:rPr lang="ar-EG" b="1" dirty="0" smtClean="0"/>
              <a:t>Arithmetic Opertors</a:t>
            </a:r>
            <a:endParaRPr lang="ar-EG" b="1" dirty="0"/>
          </a:p>
        </p:txBody>
      </p:sp>
    </p:spTree>
    <p:extLst>
      <p:ext uri="{BB962C8B-B14F-4D97-AF65-F5344CB8AC3E}">
        <p14:creationId xmlns:p14="http://schemas.microsoft.com/office/powerpoint/2010/main" val="11055890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33304" y="0"/>
            <a:ext cx="1758696" cy="1353312"/>
          </a:xfrm>
          <a:prstGeom prst="rect">
            <a:avLst/>
          </a:prstGeom>
        </p:spPr>
      </p:pic>
      <p:sp>
        <p:nvSpPr>
          <p:cNvPr id="6" name="TextBox 5"/>
          <p:cNvSpPr txBox="1"/>
          <p:nvPr/>
        </p:nvSpPr>
        <p:spPr>
          <a:xfrm>
            <a:off x="10309753" y="6488668"/>
            <a:ext cx="1882247" cy="369332"/>
          </a:xfrm>
          <a:prstGeom prst="rect">
            <a:avLst/>
          </a:prstGeom>
          <a:noFill/>
        </p:spPr>
        <p:txBody>
          <a:bodyPr wrap="none" rtlCol="1">
            <a:spAutoFit/>
          </a:bodyPr>
          <a:lstStyle/>
          <a:p>
            <a:r>
              <a:rPr lang="en-US" b="1" dirty="0" smtClean="0">
                <a:solidFill>
                  <a:schemeClr val="accent3">
                    <a:lumMod val="40000"/>
                    <a:lumOff val="60000"/>
                  </a:schemeClr>
                </a:solidFill>
              </a:rPr>
              <a:t>By </a:t>
            </a:r>
            <a:r>
              <a:rPr lang="en-US" b="1" dirty="0" err="1" smtClean="0">
                <a:solidFill>
                  <a:schemeClr val="accent3">
                    <a:lumMod val="40000"/>
                    <a:lumOff val="60000"/>
                  </a:schemeClr>
                </a:solidFill>
              </a:rPr>
              <a:t>Eslam</a:t>
            </a:r>
            <a:r>
              <a:rPr lang="en-US" b="1" dirty="0" smtClean="0">
                <a:solidFill>
                  <a:schemeClr val="accent3">
                    <a:lumMod val="40000"/>
                    <a:lumOff val="60000"/>
                  </a:schemeClr>
                </a:solidFill>
              </a:rPr>
              <a:t> </a:t>
            </a:r>
            <a:r>
              <a:rPr lang="en-US" b="1" dirty="0" err="1" smtClean="0">
                <a:solidFill>
                  <a:schemeClr val="accent3">
                    <a:lumMod val="40000"/>
                    <a:lumOff val="60000"/>
                  </a:schemeClr>
                </a:solidFill>
              </a:rPr>
              <a:t>Khder</a:t>
            </a:r>
            <a:endParaRPr lang="ar-EG" b="1" dirty="0">
              <a:solidFill>
                <a:schemeClr val="accent3">
                  <a:lumMod val="40000"/>
                  <a:lumOff val="60000"/>
                </a:schemeClr>
              </a:solidFill>
            </a:endParaRPr>
          </a:p>
        </p:txBody>
      </p:sp>
      <p:pic>
        <p:nvPicPr>
          <p:cNvPr id="2" name="Picture 1"/>
          <p:cNvPicPr>
            <a:picLocks noChangeAspect="1"/>
          </p:cNvPicPr>
          <p:nvPr/>
        </p:nvPicPr>
        <p:blipFill>
          <a:blip r:embed="rId4"/>
          <a:stretch>
            <a:fillRect/>
          </a:stretch>
        </p:blipFill>
        <p:spPr>
          <a:xfrm>
            <a:off x="211074" y="3180016"/>
            <a:ext cx="11394084" cy="1995488"/>
          </a:xfrm>
          <a:prstGeom prst="rect">
            <a:avLst/>
          </a:prstGeom>
        </p:spPr>
      </p:pic>
      <p:graphicFrame>
        <p:nvGraphicFramePr>
          <p:cNvPr id="3" name="Object 2"/>
          <p:cNvGraphicFramePr>
            <a:graphicFrameLocks noChangeAspect="1"/>
          </p:cNvGraphicFramePr>
          <p:nvPr>
            <p:extLst>
              <p:ext uri="{D42A27DB-BD31-4B8C-83A1-F6EECF244321}">
                <p14:modId xmlns:p14="http://schemas.microsoft.com/office/powerpoint/2010/main" val="2166438898"/>
              </p:ext>
            </p:extLst>
          </p:nvPr>
        </p:nvGraphicFramePr>
        <p:xfrm>
          <a:off x="9114980" y="4497451"/>
          <a:ext cx="2289175" cy="439738"/>
        </p:xfrm>
        <a:graphic>
          <a:graphicData uri="http://schemas.openxmlformats.org/presentationml/2006/ole">
            <mc:AlternateContent xmlns:mc="http://schemas.openxmlformats.org/markup-compatibility/2006">
              <mc:Choice xmlns:v="urn:schemas-microsoft-com:vml" Requires="v">
                <p:oleObj spid="_x0000_s30831" name="Packager Shell Object" showAsIcon="1" r:id="rId5" imgW="2289600" imgH="439560" progId="Package">
                  <p:embed/>
                </p:oleObj>
              </mc:Choice>
              <mc:Fallback>
                <p:oleObj name="Packager Shell Object" showAsIcon="1" r:id="rId5" imgW="2289600" imgH="439560" progId="Package">
                  <p:embed/>
                  <p:pic>
                    <p:nvPicPr>
                      <p:cNvPr id="0" name=""/>
                      <p:cNvPicPr/>
                      <p:nvPr/>
                    </p:nvPicPr>
                    <p:blipFill>
                      <a:blip r:embed="rId6"/>
                      <a:stretch>
                        <a:fillRect/>
                      </a:stretch>
                    </p:blipFill>
                    <p:spPr>
                      <a:xfrm>
                        <a:off x="9114980" y="4497451"/>
                        <a:ext cx="2289175" cy="439738"/>
                      </a:xfrm>
                      <a:prstGeom prst="rect">
                        <a:avLst/>
                      </a:prstGeom>
                    </p:spPr>
                  </p:pic>
                </p:oleObj>
              </mc:Fallback>
            </mc:AlternateContent>
          </a:graphicData>
        </a:graphic>
      </p:graphicFrame>
      <p:sp>
        <p:nvSpPr>
          <p:cNvPr id="4" name="Rectangle 3"/>
          <p:cNvSpPr/>
          <p:nvPr/>
        </p:nvSpPr>
        <p:spPr>
          <a:xfrm>
            <a:off x="4469870" y="1269230"/>
            <a:ext cx="2433679" cy="369332"/>
          </a:xfrm>
          <a:prstGeom prst="rect">
            <a:avLst/>
          </a:prstGeom>
        </p:spPr>
        <p:txBody>
          <a:bodyPr wrap="none">
            <a:spAutoFit/>
          </a:bodyPr>
          <a:lstStyle/>
          <a:p>
            <a:r>
              <a:rPr lang="ar-EG" dirty="0" smtClean="0"/>
              <a:t>Using WHERE Clause</a:t>
            </a:r>
            <a:endParaRPr lang="ar-EG" dirty="0"/>
          </a:p>
        </p:txBody>
      </p:sp>
    </p:spTree>
    <p:extLst>
      <p:ext uri="{BB962C8B-B14F-4D97-AF65-F5344CB8AC3E}">
        <p14:creationId xmlns:p14="http://schemas.microsoft.com/office/powerpoint/2010/main" val="3776642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33304" y="0"/>
            <a:ext cx="1758696" cy="1353312"/>
          </a:xfrm>
          <a:prstGeom prst="rect">
            <a:avLst/>
          </a:prstGeom>
        </p:spPr>
      </p:pic>
      <p:sp>
        <p:nvSpPr>
          <p:cNvPr id="6" name="TextBox 5"/>
          <p:cNvSpPr txBox="1"/>
          <p:nvPr/>
        </p:nvSpPr>
        <p:spPr>
          <a:xfrm>
            <a:off x="10309753" y="6488668"/>
            <a:ext cx="1882247" cy="369332"/>
          </a:xfrm>
          <a:prstGeom prst="rect">
            <a:avLst/>
          </a:prstGeom>
          <a:noFill/>
        </p:spPr>
        <p:txBody>
          <a:bodyPr wrap="none" rtlCol="1">
            <a:spAutoFit/>
          </a:bodyPr>
          <a:lstStyle/>
          <a:p>
            <a:r>
              <a:rPr lang="en-US" b="1" dirty="0" smtClean="0">
                <a:solidFill>
                  <a:schemeClr val="accent3">
                    <a:lumMod val="40000"/>
                    <a:lumOff val="60000"/>
                  </a:schemeClr>
                </a:solidFill>
              </a:rPr>
              <a:t>By </a:t>
            </a:r>
            <a:r>
              <a:rPr lang="en-US" b="1" dirty="0" err="1" smtClean="0">
                <a:solidFill>
                  <a:schemeClr val="accent3">
                    <a:lumMod val="40000"/>
                    <a:lumOff val="60000"/>
                  </a:schemeClr>
                </a:solidFill>
              </a:rPr>
              <a:t>Eslam</a:t>
            </a:r>
            <a:r>
              <a:rPr lang="en-US" b="1" dirty="0" smtClean="0">
                <a:solidFill>
                  <a:schemeClr val="accent3">
                    <a:lumMod val="40000"/>
                    <a:lumOff val="60000"/>
                  </a:schemeClr>
                </a:solidFill>
              </a:rPr>
              <a:t> </a:t>
            </a:r>
            <a:r>
              <a:rPr lang="en-US" b="1" dirty="0" err="1" smtClean="0">
                <a:solidFill>
                  <a:schemeClr val="accent3">
                    <a:lumMod val="40000"/>
                    <a:lumOff val="60000"/>
                  </a:schemeClr>
                </a:solidFill>
              </a:rPr>
              <a:t>Khder</a:t>
            </a:r>
            <a:endParaRPr lang="ar-EG" b="1" dirty="0">
              <a:solidFill>
                <a:schemeClr val="accent3">
                  <a:lumMod val="40000"/>
                  <a:lumOff val="60000"/>
                </a:schemeClr>
              </a:solidFill>
            </a:endParaRPr>
          </a:p>
        </p:txBody>
      </p:sp>
      <p:pic>
        <p:nvPicPr>
          <p:cNvPr id="2" name="Picture 1"/>
          <p:cNvPicPr>
            <a:picLocks noChangeAspect="1"/>
          </p:cNvPicPr>
          <p:nvPr/>
        </p:nvPicPr>
        <p:blipFill>
          <a:blip r:embed="rId4"/>
          <a:stretch>
            <a:fillRect/>
          </a:stretch>
        </p:blipFill>
        <p:spPr>
          <a:xfrm>
            <a:off x="551932" y="3730180"/>
            <a:ext cx="10671512" cy="1363028"/>
          </a:xfrm>
          <a:prstGeom prst="rect">
            <a:avLst/>
          </a:prstGeom>
        </p:spPr>
      </p:pic>
      <p:graphicFrame>
        <p:nvGraphicFramePr>
          <p:cNvPr id="3" name="Object 2"/>
          <p:cNvGraphicFramePr>
            <a:graphicFrameLocks noChangeAspect="1"/>
          </p:cNvGraphicFramePr>
          <p:nvPr>
            <p:extLst>
              <p:ext uri="{D42A27DB-BD31-4B8C-83A1-F6EECF244321}">
                <p14:modId xmlns:p14="http://schemas.microsoft.com/office/powerpoint/2010/main" val="402157268"/>
              </p:ext>
            </p:extLst>
          </p:nvPr>
        </p:nvGraphicFramePr>
        <p:xfrm>
          <a:off x="8649834" y="4653470"/>
          <a:ext cx="2503487" cy="439738"/>
        </p:xfrm>
        <a:graphic>
          <a:graphicData uri="http://schemas.openxmlformats.org/presentationml/2006/ole">
            <mc:AlternateContent xmlns:mc="http://schemas.openxmlformats.org/markup-compatibility/2006">
              <mc:Choice xmlns:v="urn:schemas-microsoft-com:vml" Requires="v">
                <p:oleObj spid="_x0000_s31854" name="Packager Shell Object" showAsIcon="1" r:id="rId5" imgW="2502720" imgH="439560" progId="Package">
                  <p:embed/>
                </p:oleObj>
              </mc:Choice>
              <mc:Fallback>
                <p:oleObj name="Packager Shell Object" showAsIcon="1" r:id="rId5" imgW="2502720" imgH="439560" progId="Package">
                  <p:embed/>
                  <p:pic>
                    <p:nvPicPr>
                      <p:cNvPr id="0" name=""/>
                      <p:cNvPicPr/>
                      <p:nvPr/>
                    </p:nvPicPr>
                    <p:blipFill>
                      <a:blip r:embed="rId6"/>
                      <a:stretch>
                        <a:fillRect/>
                      </a:stretch>
                    </p:blipFill>
                    <p:spPr>
                      <a:xfrm>
                        <a:off x="8649834" y="4653470"/>
                        <a:ext cx="2503487" cy="439738"/>
                      </a:xfrm>
                      <a:prstGeom prst="rect">
                        <a:avLst/>
                      </a:prstGeom>
                    </p:spPr>
                  </p:pic>
                </p:oleObj>
              </mc:Fallback>
            </mc:AlternateContent>
          </a:graphicData>
        </a:graphic>
      </p:graphicFrame>
      <p:sp>
        <p:nvSpPr>
          <p:cNvPr id="4" name="Rectangle 3"/>
          <p:cNvSpPr/>
          <p:nvPr/>
        </p:nvSpPr>
        <p:spPr>
          <a:xfrm>
            <a:off x="1613865" y="1607558"/>
            <a:ext cx="5381295" cy="369332"/>
          </a:xfrm>
          <a:prstGeom prst="rect">
            <a:avLst/>
          </a:prstGeom>
        </p:spPr>
        <p:txBody>
          <a:bodyPr wrap="square">
            <a:spAutoFit/>
          </a:bodyPr>
          <a:lstStyle/>
          <a:p>
            <a:r>
              <a:rPr lang="ar-EG" dirty="0" smtClean="0"/>
              <a:t>BETWEEN AND Operator</a:t>
            </a:r>
            <a:endParaRPr lang="ar-EG" dirty="0"/>
          </a:p>
        </p:txBody>
      </p:sp>
    </p:spTree>
    <p:extLst>
      <p:ext uri="{BB962C8B-B14F-4D97-AF65-F5344CB8AC3E}">
        <p14:creationId xmlns:p14="http://schemas.microsoft.com/office/powerpoint/2010/main" val="31861943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33304" y="0"/>
            <a:ext cx="1758696" cy="1353312"/>
          </a:xfrm>
          <a:prstGeom prst="rect">
            <a:avLst/>
          </a:prstGeom>
        </p:spPr>
      </p:pic>
      <p:sp>
        <p:nvSpPr>
          <p:cNvPr id="6" name="TextBox 5"/>
          <p:cNvSpPr txBox="1"/>
          <p:nvPr/>
        </p:nvSpPr>
        <p:spPr>
          <a:xfrm>
            <a:off x="10309753" y="6488668"/>
            <a:ext cx="1882247" cy="369332"/>
          </a:xfrm>
          <a:prstGeom prst="rect">
            <a:avLst/>
          </a:prstGeom>
          <a:noFill/>
        </p:spPr>
        <p:txBody>
          <a:bodyPr wrap="none" rtlCol="1">
            <a:spAutoFit/>
          </a:bodyPr>
          <a:lstStyle/>
          <a:p>
            <a:r>
              <a:rPr lang="en-US" b="1" dirty="0" smtClean="0">
                <a:solidFill>
                  <a:schemeClr val="accent3">
                    <a:lumMod val="40000"/>
                    <a:lumOff val="60000"/>
                  </a:schemeClr>
                </a:solidFill>
              </a:rPr>
              <a:t>By </a:t>
            </a:r>
            <a:r>
              <a:rPr lang="en-US" b="1" dirty="0" err="1" smtClean="0">
                <a:solidFill>
                  <a:schemeClr val="accent3">
                    <a:lumMod val="40000"/>
                    <a:lumOff val="60000"/>
                  </a:schemeClr>
                </a:solidFill>
              </a:rPr>
              <a:t>Eslam</a:t>
            </a:r>
            <a:r>
              <a:rPr lang="en-US" b="1" dirty="0" smtClean="0">
                <a:solidFill>
                  <a:schemeClr val="accent3">
                    <a:lumMod val="40000"/>
                    <a:lumOff val="60000"/>
                  </a:schemeClr>
                </a:solidFill>
              </a:rPr>
              <a:t> </a:t>
            </a:r>
            <a:r>
              <a:rPr lang="en-US" b="1" dirty="0" err="1" smtClean="0">
                <a:solidFill>
                  <a:schemeClr val="accent3">
                    <a:lumMod val="40000"/>
                    <a:lumOff val="60000"/>
                  </a:schemeClr>
                </a:solidFill>
              </a:rPr>
              <a:t>Khder</a:t>
            </a:r>
            <a:endParaRPr lang="ar-EG" b="1" dirty="0">
              <a:solidFill>
                <a:schemeClr val="accent3">
                  <a:lumMod val="40000"/>
                  <a:lumOff val="60000"/>
                </a:schemeClr>
              </a:solidFill>
            </a:endParaRPr>
          </a:p>
        </p:txBody>
      </p:sp>
      <p:pic>
        <p:nvPicPr>
          <p:cNvPr id="2" name="Picture 1"/>
          <p:cNvPicPr>
            <a:picLocks noChangeAspect="1"/>
          </p:cNvPicPr>
          <p:nvPr/>
        </p:nvPicPr>
        <p:blipFill>
          <a:blip r:embed="rId4"/>
          <a:stretch>
            <a:fillRect/>
          </a:stretch>
        </p:blipFill>
        <p:spPr>
          <a:xfrm>
            <a:off x="527493" y="2591418"/>
            <a:ext cx="9716969" cy="3897250"/>
          </a:xfrm>
          <a:prstGeom prst="rect">
            <a:avLst/>
          </a:prstGeom>
        </p:spPr>
      </p:pic>
      <p:graphicFrame>
        <p:nvGraphicFramePr>
          <p:cNvPr id="3" name="Object 2"/>
          <p:cNvGraphicFramePr>
            <a:graphicFrameLocks noChangeAspect="1"/>
          </p:cNvGraphicFramePr>
          <p:nvPr>
            <p:extLst>
              <p:ext uri="{D42A27DB-BD31-4B8C-83A1-F6EECF244321}">
                <p14:modId xmlns:p14="http://schemas.microsoft.com/office/powerpoint/2010/main" val="474238835"/>
              </p:ext>
            </p:extLst>
          </p:nvPr>
        </p:nvGraphicFramePr>
        <p:xfrm>
          <a:off x="8419719" y="5923153"/>
          <a:ext cx="1760538" cy="439738"/>
        </p:xfrm>
        <a:graphic>
          <a:graphicData uri="http://schemas.openxmlformats.org/presentationml/2006/ole">
            <mc:AlternateContent xmlns:mc="http://schemas.openxmlformats.org/markup-compatibility/2006">
              <mc:Choice xmlns:v="urn:schemas-microsoft-com:vml" Requires="v">
                <p:oleObj spid="_x0000_s61502" name="Packager Shell Object" showAsIcon="1" r:id="rId5" imgW="1760760" imgH="439560" progId="Package">
                  <p:embed/>
                </p:oleObj>
              </mc:Choice>
              <mc:Fallback>
                <p:oleObj name="Packager Shell Object" showAsIcon="1" r:id="rId5" imgW="1760760" imgH="439560" progId="Package">
                  <p:embed/>
                  <p:pic>
                    <p:nvPicPr>
                      <p:cNvPr id="0" name=""/>
                      <p:cNvPicPr/>
                      <p:nvPr/>
                    </p:nvPicPr>
                    <p:blipFill>
                      <a:blip r:embed="rId6"/>
                      <a:stretch>
                        <a:fillRect/>
                      </a:stretch>
                    </p:blipFill>
                    <p:spPr>
                      <a:xfrm>
                        <a:off x="8419719" y="5923153"/>
                        <a:ext cx="1760538" cy="439738"/>
                      </a:xfrm>
                      <a:prstGeom prst="rect">
                        <a:avLst/>
                      </a:prstGeom>
                    </p:spPr>
                  </p:pic>
                </p:oleObj>
              </mc:Fallback>
            </mc:AlternateContent>
          </a:graphicData>
        </a:graphic>
      </p:graphicFrame>
      <p:sp>
        <p:nvSpPr>
          <p:cNvPr id="4" name="Rectangle 3"/>
          <p:cNvSpPr/>
          <p:nvPr/>
        </p:nvSpPr>
        <p:spPr>
          <a:xfrm>
            <a:off x="4777397" y="983980"/>
            <a:ext cx="1505540" cy="369332"/>
          </a:xfrm>
          <a:prstGeom prst="rect">
            <a:avLst/>
          </a:prstGeom>
        </p:spPr>
        <p:txBody>
          <a:bodyPr wrap="none">
            <a:spAutoFit/>
          </a:bodyPr>
          <a:lstStyle/>
          <a:p>
            <a:r>
              <a:rPr lang="ar-EG" dirty="0" smtClean="0"/>
              <a:t>IN Operator</a:t>
            </a:r>
            <a:endParaRPr lang="ar-EG" dirty="0"/>
          </a:p>
        </p:txBody>
      </p:sp>
    </p:spTree>
    <p:extLst>
      <p:ext uri="{BB962C8B-B14F-4D97-AF65-F5344CB8AC3E}">
        <p14:creationId xmlns:p14="http://schemas.microsoft.com/office/powerpoint/2010/main" val="371574662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433304" y="0"/>
            <a:ext cx="1758696" cy="1353312"/>
          </a:xfrm>
          <a:prstGeom prst="rect">
            <a:avLst/>
          </a:prstGeom>
        </p:spPr>
      </p:pic>
      <p:sp>
        <p:nvSpPr>
          <p:cNvPr id="6" name="TextBox 5"/>
          <p:cNvSpPr txBox="1"/>
          <p:nvPr/>
        </p:nvSpPr>
        <p:spPr>
          <a:xfrm>
            <a:off x="10309753" y="6488668"/>
            <a:ext cx="1882247" cy="369332"/>
          </a:xfrm>
          <a:prstGeom prst="rect">
            <a:avLst/>
          </a:prstGeom>
          <a:noFill/>
        </p:spPr>
        <p:txBody>
          <a:bodyPr wrap="none" rtlCol="1">
            <a:spAutoFit/>
          </a:bodyPr>
          <a:lstStyle/>
          <a:p>
            <a:r>
              <a:rPr lang="en-US" b="1" dirty="0" smtClean="0">
                <a:solidFill>
                  <a:schemeClr val="accent3">
                    <a:lumMod val="40000"/>
                    <a:lumOff val="60000"/>
                  </a:schemeClr>
                </a:solidFill>
              </a:rPr>
              <a:t>By </a:t>
            </a:r>
            <a:r>
              <a:rPr lang="en-US" b="1" dirty="0" err="1" smtClean="0">
                <a:solidFill>
                  <a:schemeClr val="accent3">
                    <a:lumMod val="40000"/>
                    <a:lumOff val="60000"/>
                  </a:schemeClr>
                </a:solidFill>
              </a:rPr>
              <a:t>Eslam</a:t>
            </a:r>
            <a:r>
              <a:rPr lang="en-US" b="1" dirty="0" smtClean="0">
                <a:solidFill>
                  <a:schemeClr val="accent3">
                    <a:lumMod val="40000"/>
                    <a:lumOff val="60000"/>
                  </a:schemeClr>
                </a:solidFill>
              </a:rPr>
              <a:t> </a:t>
            </a:r>
            <a:r>
              <a:rPr lang="en-US" b="1" dirty="0" err="1" smtClean="0">
                <a:solidFill>
                  <a:schemeClr val="accent3">
                    <a:lumMod val="40000"/>
                    <a:lumOff val="60000"/>
                  </a:schemeClr>
                </a:solidFill>
              </a:rPr>
              <a:t>Khder</a:t>
            </a:r>
            <a:endParaRPr lang="ar-EG" b="1" dirty="0">
              <a:solidFill>
                <a:schemeClr val="accent3">
                  <a:lumMod val="40000"/>
                  <a:lumOff val="60000"/>
                </a:schemeClr>
              </a:solidFill>
            </a:endParaRPr>
          </a:p>
        </p:txBody>
      </p:sp>
      <p:pic>
        <p:nvPicPr>
          <p:cNvPr id="2" name="Picture 1"/>
          <p:cNvPicPr>
            <a:picLocks noChangeAspect="1"/>
          </p:cNvPicPr>
          <p:nvPr/>
        </p:nvPicPr>
        <p:blipFill>
          <a:blip r:embed="rId5"/>
          <a:stretch>
            <a:fillRect/>
          </a:stretch>
        </p:blipFill>
        <p:spPr>
          <a:xfrm>
            <a:off x="776478" y="3182112"/>
            <a:ext cx="8486394" cy="3452092"/>
          </a:xfrm>
          <a:prstGeom prst="rect">
            <a:avLst/>
          </a:prstGeom>
        </p:spPr>
      </p:pic>
      <p:graphicFrame>
        <p:nvGraphicFramePr>
          <p:cNvPr id="3" name="Object 2"/>
          <p:cNvGraphicFramePr>
            <a:graphicFrameLocks noChangeAspect="1"/>
          </p:cNvGraphicFramePr>
          <p:nvPr>
            <p:extLst>
              <p:ext uri="{D42A27DB-BD31-4B8C-83A1-F6EECF244321}">
                <p14:modId xmlns:p14="http://schemas.microsoft.com/office/powerpoint/2010/main" val="776231488"/>
              </p:ext>
            </p:extLst>
          </p:nvPr>
        </p:nvGraphicFramePr>
        <p:xfrm>
          <a:off x="7392797" y="6194467"/>
          <a:ext cx="1870075" cy="439737"/>
        </p:xfrm>
        <a:graphic>
          <a:graphicData uri="http://schemas.openxmlformats.org/presentationml/2006/ole">
            <mc:AlternateContent xmlns:mc="http://schemas.openxmlformats.org/markup-compatibility/2006">
              <mc:Choice xmlns:v="urn:schemas-microsoft-com:vml" Requires="v">
                <p:oleObj spid="_x0000_s32875" name="Packager Shell Object" showAsIcon="1" r:id="rId6" imgW="1870560" imgH="439560" progId="Package">
                  <p:embed/>
                </p:oleObj>
              </mc:Choice>
              <mc:Fallback>
                <p:oleObj name="Packager Shell Object" showAsIcon="1" r:id="rId6" imgW="1870560" imgH="439560" progId="Package">
                  <p:embed/>
                  <p:pic>
                    <p:nvPicPr>
                      <p:cNvPr id="0" name=""/>
                      <p:cNvPicPr/>
                      <p:nvPr/>
                    </p:nvPicPr>
                    <p:blipFill>
                      <a:blip r:embed="rId7"/>
                      <a:stretch>
                        <a:fillRect/>
                      </a:stretch>
                    </p:blipFill>
                    <p:spPr>
                      <a:xfrm>
                        <a:off x="7392797" y="6194467"/>
                        <a:ext cx="1870075" cy="439737"/>
                      </a:xfrm>
                      <a:prstGeom prst="rect">
                        <a:avLst/>
                      </a:prstGeom>
                    </p:spPr>
                  </p:pic>
                </p:oleObj>
              </mc:Fallback>
            </mc:AlternateContent>
          </a:graphicData>
        </a:graphic>
      </p:graphicFrame>
      <p:sp>
        <p:nvSpPr>
          <p:cNvPr id="4" name="Rectangle 3"/>
          <p:cNvSpPr/>
          <p:nvPr/>
        </p:nvSpPr>
        <p:spPr>
          <a:xfrm>
            <a:off x="1676297" y="1086350"/>
            <a:ext cx="4175863" cy="369332"/>
          </a:xfrm>
          <a:prstGeom prst="rect">
            <a:avLst/>
          </a:prstGeom>
        </p:spPr>
        <p:txBody>
          <a:bodyPr wrap="square">
            <a:spAutoFit/>
          </a:bodyPr>
          <a:lstStyle/>
          <a:p>
            <a:r>
              <a:rPr lang="ar-EG" dirty="0" smtClean="0"/>
              <a:t>LIKE Operator</a:t>
            </a:r>
            <a:endParaRPr lang="ar-EG" dirty="0"/>
          </a:p>
        </p:txBody>
      </p:sp>
    </p:spTree>
    <p:extLst>
      <p:ext uri="{BB962C8B-B14F-4D97-AF65-F5344CB8AC3E}">
        <p14:creationId xmlns:p14="http://schemas.microsoft.com/office/powerpoint/2010/main" val="72018031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33304" y="0"/>
            <a:ext cx="1758696" cy="1353312"/>
          </a:xfrm>
          <a:prstGeom prst="rect">
            <a:avLst/>
          </a:prstGeom>
        </p:spPr>
      </p:pic>
      <p:sp>
        <p:nvSpPr>
          <p:cNvPr id="6" name="TextBox 5"/>
          <p:cNvSpPr txBox="1"/>
          <p:nvPr/>
        </p:nvSpPr>
        <p:spPr>
          <a:xfrm>
            <a:off x="10309753" y="6488668"/>
            <a:ext cx="1882247" cy="369332"/>
          </a:xfrm>
          <a:prstGeom prst="rect">
            <a:avLst/>
          </a:prstGeom>
          <a:noFill/>
        </p:spPr>
        <p:txBody>
          <a:bodyPr wrap="none" rtlCol="1">
            <a:spAutoFit/>
          </a:bodyPr>
          <a:lstStyle/>
          <a:p>
            <a:r>
              <a:rPr lang="en-US" b="1" dirty="0" smtClean="0">
                <a:solidFill>
                  <a:schemeClr val="accent3">
                    <a:lumMod val="40000"/>
                    <a:lumOff val="60000"/>
                  </a:schemeClr>
                </a:solidFill>
              </a:rPr>
              <a:t>By </a:t>
            </a:r>
            <a:r>
              <a:rPr lang="en-US" b="1" dirty="0" err="1" smtClean="0">
                <a:solidFill>
                  <a:schemeClr val="accent3">
                    <a:lumMod val="40000"/>
                    <a:lumOff val="60000"/>
                  </a:schemeClr>
                </a:solidFill>
              </a:rPr>
              <a:t>Eslam</a:t>
            </a:r>
            <a:r>
              <a:rPr lang="en-US" b="1" dirty="0" smtClean="0">
                <a:solidFill>
                  <a:schemeClr val="accent3">
                    <a:lumMod val="40000"/>
                    <a:lumOff val="60000"/>
                  </a:schemeClr>
                </a:solidFill>
              </a:rPr>
              <a:t> </a:t>
            </a:r>
            <a:r>
              <a:rPr lang="en-US" b="1" dirty="0" err="1" smtClean="0">
                <a:solidFill>
                  <a:schemeClr val="accent3">
                    <a:lumMod val="40000"/>
                    <a:lumOff val="60000"/>
                  </a:schemeClr>
                </a:solidFill>
              </a:rPr>
              <a:t>Khder</a:t>
            </a:r>
            <a:endParaRPr lang="ar-EG" b="1" dirty="0">
              <a:solidFill>
                <a:schemeClr val="accent3">
                  <a:lumMod val="40000"/>
                  <a:lumOff val="60000"/>
                </a:schemeClr>
              </a:solidFill>
            </a:endParaRPr>
          </a:p>
        </p:txBody>
      </p:sp>
      <p:pic>
        <p:nvPicPr>
          <p:cNvPr id="2" name="Picture 1"/>
          <p:cNvPicPr>
            <a:picLocks noChangeAspect="1"/>
          </p:cNvPicPr>
          <p:nvPr/>
        </p:nvPicPr>
        <p:blipFill>
          <a:blip r:embed="rId4"/>
          <a:stretch>
            <a:fillRect/>
          </a:stretch>
        </p:blipFill>
        <p:spPr>
          <a:xfrm>
            <a:off x="873526" y="2751772"/>
            <a:ext cx="9436227" cy="1555052"/>
          </a:xfrm>
          <a:prstGeom prst="rect">
            <a:avLst/>
          </a:prstGeom>
        </p:spPr>
      </p:pic>
      <p:graphicFrame>
        <p:nvGraphicFramePr>
          <p:cNvPr id="3" name="Object 2"/>
          <p:cNvGraphicFramePr>
            <a:graphicFrameLocks noChangeAspect="1"/>
          </p:cNvGraphicFramePr>
          <p:nvPr>
            <p:extLst>
              <p:ext uri="{D42A27DB-BD31-4B8C-83A1-F6EECF244321}">
                <p14:modId xmlns:p14="http://schemas.microsoft.com/office/powerpoint/2010/main" val="2103433110"/>
              </p:ext>
            </p:extLst>
          </p:nvPr>
        </p:nvGraphicFramePr>
        <p:xfrm>
          <a:off x="8104399" y="3867086"/>
          <a:ext cx="2103438" cy="439738"/>
        </p:xfrm>
        <a:graphic>
          <a:graphicData uri="http://schemas.openxmlformats.org/presentationml/2006/ole">
            <mc:AlternateContent xmlns:mc="http://schemas.openxmlformats.org/markup-compatibility/2006">
              <mc:Choice xmlns:v="urn:schemas-microsoft-com:vml" Requires="v">
                <p:oleObj spid="_x0000_s33896" name="Packager Shell Object" showAsIcon="1" r:id="rId5" imgW="2102760" imgH="439560" progId="Package">
                  <p:embed/>
                </p:oleObj>
              </mc:Choice>
              <mc:Fallback>
                <p:oleObj name="Packager Shell Object" showAsIcon="1" r:id="rId5" imgW="2102760" imgH="439560" progId="Package">
                  <p:embed/>
                  <p:pic>
                    <p:nvPicPr>
                      <p:cNvPr id="0" name=""/>
                      <p:cNvPicPr/>
                      <p:nvPr/>
                    </p:nvPicPr>
                    <p:blipFill>
                      <a:blip r:embed="rId6"/>
                      <a:stretch>
                        <a:fillRect/>
                      </a:stretch>
                    </p:blipFill>
                    <p:spPr>
                      <a:xfrm>
                        <a:off x="8104399" y="3867086"/>
                        <a:ext cx="2103438" cy="439738"/>
                      </a:xfrm>
                      <a:prstGeom prst="rect">
                        <a:avLst/>
                      </a:prstGeom>
                    </p:spPr>
                  </p:pic>
                </p:oleObj>
              </mc:Fallback>
            </mc:AlternateContent>
          </a:graphicData>
        </a:graphic>
      </p:graphicFrame>
      <p:sp>
        <p:nvSpPr>
          <p:cNvPr id="4" name="Rectangle 3"/>
          <p:cNvSpPr/>
          <p:nvPr/>
        </p:nvSpPr>
        <p:spPr>
          <a:xfrm>
            <a:off x="4624853" y="1168646"/>
            <a:ext cx="2050561" cy="369332"/>
          </a:xfrm>
          <a:prstGeom prst="rect">
            <a:avLst/>
          </a:prstGeom>
        </p:spPr>
        <p:txBody>
          <a:bodyPr wrap="none">
            <a:spAutoFit/>
          </a:bodyPr>
          <a:lstStyle/>
          <a:p>
            <a:r>
              <a:rPr lang="ar-EG" dirty="0" smtClean="0"/>
              <a:t>IS NULL Operator</a:t>
            </a:r>
            <a:endParaRPr lang="ar-EG" dirty="0"/>
          </a:p>
        </p:txBody>
      </p:sp>
    </p:spTree>
    <p:extLst>
      <p:ext uri="{BB962C8B-B14F-4D97-AF65-F5344CB8AC3E}">
        <p14:creationId xmlns:p14="http://schemas.microsoft.com/office/powerpoint/2010/main" val="92936943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33304" y="0"/>
            <a:ext cx="1758696" cy="1353312"/>
          </a:xfrm>
          <a:prstGeom prst="rect">
            <a:avLst/>
          </a:prstGeom>
        </p:spPr>
      </p:pic>
      <p:sp>
        <p:nvSpPr>
          <p:cNvPr id="6" name="TextBox 5"/>
          <p:cNvSpPr txBox="1"/>
          <p:nvPr/>
        </p:nvSpPr>
        <p:spPr>
          <a:xfrm>
            <a:off x="10309753" y="6488668"/>
            <a:ext cx="1882247" cy="369332"/>
          </a:xfrm>
          <a:prstGeom prst="rect">
            <a:avLst/>
          </a:prstGeom>
          <a:noFill/>
        </p:spPr>
        <p:txBody>
          <a:bodyPr wrap="none" rtlCol="1">
            <a:spAutoFit/>
          </a:bodyPr>
          <a:lstStyle/>
          <a:p>
            <a:r>
              <a:rPr lang="en-US" b="1" dirty="0" smtClean="0">
                <a:solidFill>
                  <a:schemeClr val="accent3">
                    <a:lumMod val="40000"/>
                    <a:lumOff val="60000"/>
                  </a:schemeClr>
                </a:solidFill>
              </a:rPr>
              <a:t>By </a:t>
            </a:r>
            <a:r>
              <a:rPr lang="en-US" b="1" dirty="0" err="1" smtClean="0">
                <a:solidFill>
                  <a:schemeClr val="accent3">
                    <a:lumMod val="40000"/>
                    <a:lumOff val="60000"/>
                  </a:schemeClr>
                </a:solidFill>
              </a:rPr>
              <a:t>Eslam</a:t>
            </a:r>
            <a:r>
              <a:rPr lang="en-US" b="1" dirty="0" smtClean="0">
                <a:solidFill>
                  <a:schemeClr val="accent3">
                    <a:lumMod val="40000"/>
                    <a:lumOff val="60000"/>
                  </a:schemeClr>
                </a:solidFill>
              </a:rPr>
              <a:t> </a:t>
            </a:r>
            <a:r>
              <a:rPr lang="en-US" b="1" dirty="0" err="1" smtClean="0">
                <a:solidFill>
                  <a:schemeClr val="accent3">
                    <a:lumMod val="40000"/>
                    <a:lumOff val="60000"/>
                  </a:schemeClr>
                </a:solidFill>
              </a:rPr>
              <a:t>Khder</a:t>
            </a:r>
            <a:endParaRPr lang="ar-EG" b="1" dirty="0">
              <a:solidFill>
                <a:schemeClr val="accent3">
                  <a:lumMod val="40000"/>
                  <a:lumOff val="60000"/>
                </a:schemeClr>
              </a:solidFill>
            </a:endParaRPr>
          </a:p>
        </p:txBody>
      </p:sp>
      <p:pic>
        <p:nvPicPr>
          <p:cNvPr id="2" name="Picture 1"/>
          <p:cNvPicPr>
            <a:picLocks noChangeAspect="1"/>
          </p:cNvPicPr>
          <p:nvPr/>
        </p:nvPicPr>
        <p:blipFill>
          <a:blip r:embed="rId4"/>
          <a:stretch>
            <a:fillRect/>
          </a:stretch>
        </p:blipFill>
        <p:spPr>
          <a:xfrm>
            <a:off x="368554" y="4076255"/>
            <a:ext cx="10163175" cy="1171575"/>
          </a:xfrm>
          <a:prstGeom prst="rect">
            <a:avLst/>
          </a:prstGeom>
        </p:spPr>
      </p:pic>
      <p:graphicFrame>
        <p:nvGraphicFramePr>
          <p:cNvPr id="3" name="Object 2"/>
          <p:cNvGraphicFramePr>
            <a:graphicFrameLocks noChangeAspect="1"/>
          </p:cNvGraphicFramePr>
          <p:nvPr>
            <p:extLst>
              <p:ext uri="{D42A27DB-BD31-4B8C-83A1-F6EECF244321}">
                <p14:modId xmlns:p14="http://schemas.microsoft.com/office/powerpoint/2010/main" val="1377204724"/>
              </p:ext>
            </p:extLst>
          </p:nvPr>
        </p:nvGraphicFramePr>
        <p:xfrm>
          <a:off x="8455279" y="4761802"/>
          <a:ext cx="2076450" cy="439737"/>
        </p:xfrm>
        <a:graphic>
          <a:graphicData uri="http://schemas.openxmlformats.org/presentationml/2006/ole">
            <mc:AlternateContent xmlns:mc="http://schemas.openxmlformats.org/markup-compatibility/2006">
              <mc:Choice xmlns:v="urn:schemas-microsoft-com:vml" Requires="v">
                <p:oleObj spid="_x0000_s34920" name="Packager Shell Object" showAsIcon="1" r:id="rId5" imgW="2076840" imgH="439560" progId="Package">
                  <p:embed/>
                </p:oleObj>
              </mc:Choice>
              <mc:Fallback>
                <p:oleObj name="Packager Shell Object" showAsIcon="1" r:id="rId5" imgW="2076840" imgH="439560" progId="Package">
                  <p:embed/>
                  <p:pic>
                    <p:nvPicPr>
                      <p:cNvPr id="0" name=""/>
                      <p:cNvPicPr/>
                      <p:nvPr/>
                    </p:nvPicPr>
                    <p:blipFill>
                      <a:blip r:embed="rId6"/>
                      <a:stretch>
                        <a:fillRect/>
                      </a:stretch>
                    </p:blipFill>
                    <p:spPr>
                      <a:xfrm>
                        <a:off x="8455279" y="4761802"/>
                        <a:ext cx="2076450" cy="439737"/>
                      </a:xfrm>
                      <a:prstGeom prst="rect">
                        <a:avLst/>
                      </a:prstGeom>
                    </p:spPr>
                  </p:pic>
                </p:oleObj>
              </mc:Fallback>
            </mc:AlternateContent>
          </a:graphicData>
        </a:graphic>
      </p:graphicFrame>
      <p:sp>
        <p:nvSpPr>
          <p:cNvPr id="4" name="Rectangle 3"/>
          <p:cNvSpPr/>
          <p:nvPr/>
        </p:nvSpPr>
        <p:spPr>
          <a:xfrm>
            <a:off x="4509324" y="1287518"/>
            <a:ext cx="2258952" cy="369332"/>
          </a:xfrm>
          <a:prstGeom prst="rect">
            <a:avLst/>
          </a:prstGeom>
        </p:spPr>
        <p:txBody>
          <a:bodyPr wrap="none">
            <a:spAutoFit/>
          </a:bodyPr>
          <a:lstStyle/>
          <a:p>
            <a:r>
              <a:rPr lang="ar-EG" dirty="0" smtClean="0"/>
              <a:t>Logical Operators</a:t>
            </a:r>
            <a:endParaRPr lang="ar-EG" dirty="0"/>
          </a:p>
        </p:txBody>
      </p:sp>
    </p:spTree>
    <p:extLst>
      <p:ext uri="{BB962C8B-B14F-4D97-AF65-F5344CB8AC3E}">
        <p14:creationId xmlns:p14="http://schemas.microsoft.com/office/powerpoint/2010/main" val="317737484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33304" y="0"/>
            <a:ext cx="1758696" cy="1353312"/>
          </a:xfrm>
          <a:prstGeom prst="rect">
            <a:avLst/>
          </a:prstGeom>
        </p:spPr>
      </p:pic>
      <p:sp>
        <p:nvSpPr>
          <p:cNvPr id="6" name="TextBox 5"/>
          <p:cNvSpPr txBox="1"/>
          <p:nvPr/>
        </p:nvSpPr>
        <p:spPr>
          <a:xfrm>
            <a:off x="10309753" y="6488668"/>
            <a:ext cx="1882247" cy="369332"/>
          </a:xfrm>
          <a:prstGeom prst="rect">
            <a:avLst/>
          </a:prstGeom>
          <a:noFill/>
        </p:spPr>
        <p:txBody>
          <a:bodyPr wrap="none" rtlCol="1">
            <a:spAutoFit/>
          </a:bodyPr>
          <a:lstStyle/>
          <a:p>
            <a:r>
              <a:rPr lang="en-US" b="1" dirty="0" smtClean="0">
                <a:solidFill>
                  <a:schemeClr val="accent3">
                    <a:lumMod val="40000"/>
                    <a:lumOff val="60000"/>
                  </a:schemeClr>
                </a:solidFill>
              </a:rPr>
              <a:t>By </a:t>
            </a:r>
            <a:r>
              <a:rPr lang="en-US" b="1" dirty="0" err="1" smtClean="0">
                <a:solidFill>
                  <a:schemeClr val="accent3">
                    <a:lumMod val="40000"/>
                    <a:lumOff val="60000"/>
                  </a:schemeClr>
                </a:solidFill>
              </a:rPr>
              <a:t>Eslam</a:t>
            </a:r>
            <a:r>
              <a:rPr lang="en-US" b="1" dirty="0" smtClean="0">
                <a:solidFill>
                  <a:schemeClr val="accent3">
                    <a:lumMod val="40000"/>
                    <a:lumOff val="60000"/>
                  </a:schemeClr>
                </a:solidFill>
              </a:rPr>
              <a:t> </a:t>
            </a:r>
            <a:r>
              <a:rPr lang="en-US" b="1" dirty="0" err="1" smtClean="0">
                <a:solidFill>
                  <a:schemeClr val="accent3">
                    <a:lumMod val="40000"/>
                    <a:lumOff val="60000"/>
                  </a:schemeClr>
                </a:solidFill>
              </a:rPr>
              <a:t>Khder</a:t>
            </a:r>
            <a:endParaRPr lang="ar-EG" b="1" dirty="0">
              <a:solidFill>
                <a:schemeClr val="accent3">
                  <a:lumMod val="40000"/>
                  <a:lumOff val="60000"/>
                </a:schemeClr>
              </a:solidFill>
            </a:endParaRPr>
          </a:p>
        </p:txBody>
      </p:sp>
      <p:pic>
        <p:nvPicPr>
          <p:cNvPr id="2" name="Picture 1"/>
          <p:cNvPicPr>
            <a:picLocks noChangeAspect="1"/>
          </p:cNvPicPr>
          <p:nvPr/>
        </p:nvPicPr>
        <p:blipFill>
          <a:blip r:embed="rId4"/>
          <a:stretch>
            <a:fillRect/>
          </a:stretch>
        </p:blipFill>
        <p:spPr>
          <a:xfrm>
            <a:off x="308503" y="1970151"/>
            <a:ext cx="10001250" cy="4819650"/>
          </a:xfrm>
          <a:prstGeom prst="rect">
            <a:avLst/>
          </a:prstGeom>
        </p:spPr>
      </p:pic>
      <p:graphicFrame>
        <p:nvGraphicFramePr>
          <p:cNvPr id="3" name="Object 2"/>
          <p:cNvGraphicFramePr>
            <a:graphicFrameLocks noChangeAspect="1"/>
          </p:cNvGraphicFramePr>
          <p:nvPr>
            <p:extLst>
              <p:ext uri="{D42A27DB-BD31-4B8C-83A1-F6EECF244321}">
                <p14:modId xmlns:p14="http://schemas.microsoft.com/office/powerpoint/2010/main" val="754787939"/>
              </p:ext>
            </p:extLst>
          </p:nvPr>
        </p:nvGraphicFramePr>
        <p:xfrm>
          <a:off x="7618598" y="6225071"/>
          <a:ext cx="2691155" cy="527193"/>
        </p:xfrm>
        <a:graphic>
          <a:graphicData uri="http://schemas.openxmlformats.org/presentationml/2006/ole">
            <mc:AlternateContent xmlns:mc="http://schemas.openxmlformats.org/markup-compatibility/2006">
              <mc:Choice xmlns:v="urn:schemas-microsoft-com:vml" Requires="v">
                <p:oleObj spid="_x0000_s35942" name="Packager Shell Object" showAsIcon="1" r:id="rId5" imgW="2244600" imgH="439560" progId="Package">
                  <p:embed/>
                </p:oleObj>
              </mc:Choice>
              <mc:Fallback>
                <p:oleObj name="Packager Shell Object" showAsIcon="1" r:id="rId5" imgW="2244600" imgH="439560" progId="Package">
                  <p:embed/>
                  <p:pic>
                    <p:nvPicPr>
                      <p:cNvPr id="0" name=""/>
                      <p:cNvPicPr/>
                      <p:nvPr/>
                    </p:nvPicPr>
                    <p:blipFill>
                      <a:blip r:embed="rId6"/>
                      <a:stretch>
                        <a:fillRect/>
                      </a:stretch>
                    </p:blipFill>
                    <p:spPr>
                      <a:xfrm>
                        <a:off x="7618598" y="6225071"/>
                        <a:ext cx="2691155" cy="527193"/>
                      </a:xfrm>
                      <a:prstGeom prst="rect">
                        <a:avLst/>
                      </a:prstGeom>
                    </p:spPr>
                  </p:pic>
                </p:oleObj>
              </mc:Fallback>
            </mc:AlternateContent>
          </a:graphicData>
        </a:graphic>
      </p:graphicFrame>
      <p:sp>
        <p:nvSpPr>
          <p:cNvPr id="4" name="Rectangle 3"/>
          <p:cNvSpPr/>
          <p:nvPr/>
        </p:nvSpPr>
        <p:spPr>
          <a:xfrm>
            <a:off x="4231031" y="848606"/>
            <a:ext cx="2509020" cy="369332"/>
          </a:xfrm>
          <a:prstGeom prst="rect">
            <a:avLst/>
          </a:prstGeom>
        </p:spPr>
        <p:txBody>
          <a:bodyPr wrap="none">
            <a:spAutoFit/>
          </a:bodyPr>
          <a:lstStyle/>
          <a:p>
            <a:r>
              <a:rPr lang="ar-EG" dirty="0" smtClean="0"/>
              <a:t>Rules of Precedence</a:t>
            </a:r>
            <a:endParaRPr lang="ar-EG" dirty="0"/>
          </a:p>
        </p:txBody>
      </p:sp>
    </p:spTree>
    <p:extLst>
      <p:ext uri="{BB962C8B-B14F-4D97-AF65-F5344CB8AC3E}">
        <p14:creationId xmlns:p14="http://schemas.microsoft.com/office/powerpoint/2010/main" val="348261365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33304" y="0"/>
            <a:ext cx="1758696" cy="1353312"/>
          </a:xfrm>
          <a:prstGeom prst="rect">
            <a:avLst/>
          </a:prstGeom>
        </p:spPr>
      </p:pic>
      <p:sp>
        <p:nvSpPr>
          <p:cNvPr id="6" name="TextBox 5"/>
          <p:cNvSpPr txBox="1"/>
          <p:nvPr/>
        </p:nvSpPr>
        <p:spPr>
          <a:xfrm>
            <a:off x="10309753" y="6488668"/>
            <a:ext cx="1882247" cy="369332"/>
          </a:xfrm>
          <a:prstGeom prst="rect">
            <a:avLst/>
          </a:prstGeom>
          <a:noFill/>
        </p:spPr>
        <p:txBody>
          <a:bodyPr wrap="none" rtlCol="1">
            <a:spAutoFit/>
          </a:bodyPr>
          <a:lstStyle/>
          <a:p>
            <a:r>
              <a:rPr lang="en-US" b="1" dirty="0" smtClean="0">
                <a:solidFill>
                  <a:schemeClr val="accent3">
                    <a:lumMod val="40000"/>
                    <a:lumOff val="60000"/>
                  </a:schemeClr>
                </a:solidFill>
              </a:rPr>
              <a:t>By </a:t>
            </a:r>
            <a:r>
              <a:rPr lang="en-US" b="1" dirty="0" err="1" smtClean="0">
                <a:solidFill>
                  <a:schemeClr val="accent3">
                    <a:lumMod val="40000"/>
                    <a:lumOff val="60000"/>
                  </a:schemeClr>
                </a:solidFill>
              </a:rPr>
              <a:t>Eslam</a:t>
            </a:r>
            <a:r>
              <a:rPr lang="en-US" b="1" dirty="0" smtClean="0">
                <a:solidFill>
                  <a:schemeClr val="accent3">
                    <a:lumMod val="40000"/>
                    <a:lumOff val="60000"/>
                  </a:schemeClr>
                </a:solidFill>
              </a:rPr>
              <a:t> </a:t>
            </a:r>
            <a:r>
              <a:rPr lang="en-US" b="1" dirty="0" err="1" smtClean="0">
                <a:solidFill>
                  <a:schemeClr val="accent3">
                    <a:lumMod val="40000"/>
                    <a:lumOff val="60000"/>
                  </a:schemeClr>
                </a:solidFill>
              </a:rPr>
              <a:t>Khder</a:t>
            </a:r>
            <a:endParaRPr lang="ar-EG" b="1" dirty="0">
              <a:solidFill>
                <a:schemeClr val="accent3">
                  <a:lumMod val="40000"/>
                  <a:lumOff val="60000"/>
                </a:schemeClr>
              </a:solidFill>
            </a:endParaRPr>
          </a:p>
        </p:txBody>
      </p:sp>
      <p:pic>
        <p:nvPicPr>
          <p:cNvPr id="2" name="Picture 1"/>
          <p:cNvPicPr>
            <a:picLocks noChangeAspect="1"/>
          </p:cNvPicPr>
          <p:nvPr/>
        </p:nvPicPr>
        <p:blipFill>
          <a:blip r:embed="rId4"/>
          <a:stretch>
            <a:fillRect/>
          </a:stretch>
        </p:blipFill>
        <p:spPr>
          <a:xfrm>
            <a:off x="350710" y="1745218"/>
            <a:ext cx="10082594" cy="4743450"/>
          </a:xfrm>
          <a:prstGeom prst="rect">
            <a:avLst/>
          </a:prstGeom>
        </p:spPr>
      </p:pic>
      <p:graphicFrame>
        <p:nvGraphicFramePr>
          <p:cNvPr id="3" name="Object 2"/>
          <p:cNvGraphicFramePr>
            <a:graphicFrameLocks noChangeAspect="1"/>
          </p:cNvGraphicFramePr>
          <p:nvPr>
            <p:extLst>
              <p:ext uri="{D42A27DB-BD31-4B8C-83A1-F6EECF244321}">
                <p14:modId xmlns:p14="http://schemas.microsoft.com/office/powerpoint/2010/main" val="4143279477"/>
              </p:ext>
            </p:extLst>
          </p:nvPr>
        </p:nvGraphicFramePr>
        <p:xfrm>
          <a:off x="7980744" y="5878132"/>
          <a:ext cx="2109787" cy="439737"/>
        </p:xfrm>
        <a:graphic>
          <a:graphicData uri="http://schemas.openxmlformats.org/presentationml/2006/ole">
            <mc:AlternateContent xmlns:mc="http://schemas.openxmlformats.org/markup-compatibility/2006">
              <mc:Choice xmlns:v="urn:schemas-microsoft-com:vml" Requires="v">
                <p:oleObj spid="_x0000_s36965" name="Packager Shell Object" showAsIcon="1" r:id="rId5" imgW="2109240" imgH="439560" progId="Package">
                  <p:embed/>
                </p:oleObj>
              </mc:Choice>
              <mc:Fallback>
                <p:oleObj name="Packager Shell Object" showAsIcon="1" r:id="rId5" imgW="2109240" imgH="439560" progId="Package">
                  <p:embed/>
                  <p:pic>
                    <p:nvPicPr>
                      <p:cNvPr id="0" name=""/>
                      <p:cNvPicPr/>
                      <p:nvPr/>
                    </p:nvPicPr>
                    <p:blipFill>
                      <a:blip r:embed="rId6"/>
                      <a:stretch>
                        <a:fillRect/>
                      </a:stretch>
                    </p:blipFill>
                    <p:spPr>
                      <a:xfrm>
                        <a:off x="7980744" y="5878132"/>
                        <a:ext cx="2109787" cy="439737"/>
                      </a:xfrm>
                      <a:prstGeom prst="rect">
                        <a:avLst/>
                      </a:prstGeom>
                    </p:spPr>
                  </p:pic>
                </p:oleObj>
              </mc:Fallback>
            </mc:AlternateContent>
          </a:graphicData>
        </a:graphic>
      </p:graphicFrame>
      <p:sp>
        <p:nvSpPr>
          <p:cNvPr id="4" name="Rectangle 3"/>
          <p:cNvSpPr/>
          <p:nvPr/>
        </p:nvSpPr>
        <p:spPr>
          <a:xfrm>
            <a:off x="4327453" y="676656"/>
            <a:ext cx="2129108" cy="369332"/>
          </a:xfrm>
          <a:prstGeom prst="rect">
            <a:avLst/>
          </a:prstGeom>
        </p:spPr>
        <p:txBody>
          <a:bodyPr wrap="none">
            <a:spAutoFit/>
          </a:bodyPr>
          <a:lstStyle/>
          <a:p>
            <a:r>
              <a:rPr lang="ar-EG" dirty="0"/>
              <a:t>ORDER BY Clause</a:t>
            </a:r>
          </a:p>
        </p:txBody>
      </p:sp>
    </p:spTree>
    <p:extLst>
      <p:ext uri="{BB962C8B-B14F-4D97-AF65-F5344CB8AC3E}">
        <p14:creationId xmlns:p14="http://schemas.microsoft.com/office/powerpoint/2010/main" val="2803209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33304" y="0"/>
            <a:ext cx="1758696" cy="1353312"/>
          </a:xfrm>
          <a:prstGeom prst="rect">
            <a:avLst/>
          </a:prstGeom>
        </p:spPr>
      </p:pic>
      <p:sp>
        <p:nvSpPr>
          <p:cNvPr id="6" name="TextBox 5"/>
          <p:cNvSpPr txBox="1"/>
          <p:nvPr/>
        </p:nvSpPr>
        <p:spPr>
          <a:xfrm>
            <a:off x="10309753" y="6488668"/>
            <a:ext cx="1882247" cy="369332"/>
          </a:xfrm>
          <a:prstGeom prst="rect">
            <a:avLst/>
          </a:prstGeom>
          <a:noFill/>
        </p:spPr>
        <p:txBody>
          <a:bodyPr wrap="none" rtlCol="1">
            <a:spAutoFit/>
          </a:bodyPr>
          <a:lstStyle/>
          <a:p>
            <a:r>
              <a:rPr lang="en-US" b="1" dirty="0" smtClean="0">
                <a:solidFill>
                  <a:schemeClr val="accent3">
                    <a:lumMod val="40000"/>
                    <a:lumOff val="60000"/>
                  </a:schemeClr>
                </a:solidFill>
              </a:rPr>
              <a:t>By </a:t>
            </a:r>
            <a:r>
              <a:rPr lang="en-US" b="1" dirty="0" err="1" smtClean="0">
                <a:solidFill>
                  <a:schemeClr val="accent3">
                    <a:lumMod val="40000"/>
                    <a:lumOff val="60000"/>
                  </a:schemeClr>
                </a:solidFill>
              </a:rPr>
              <a:t>Eslam</a:t>
            </a:r>
            <a:r>
              <a:rPr lang="en-US" b="1" dirty="0" smtClean="0">
                <a:solidFill>
                  <a:schemeClr val="accent3">
                    <a:lumMod val="40000"/>
                    <a:lumOff val="60000"/>
                  </a:schemeClr>
                </a:solidFill>
              </a:rPr>
              <a:t> </a:t>
            </a:r>
            <a:r>
              <a:rPr lang="en-US" b="1" dirty="0" err="1" smtClean="0">
                <a:solidFill>
                  <a:schemeClr val="accent3">
                    <a:lumMod val="40000"/>
                    <a:lumOff val="60000"/>
                  </a:schemeClr>
                </a:solidFill>
              </a:rPr>
              <a:t>Khder</a:t>
            </a:r>
            <a:endParaRPr lang="ar-EG" b="1" dirty="0">
              <a:solidFill>
                <a:schemeClr val="accent3">
                  <a:lumMod val="40000"/>
                  <a:lumOff val="60000"/>
                </a:schemeClr>
              </a:solidFill>
            </a:endParaRPr>
          </a:p>
        </p:txBody>
      </p:sp>
      <p:pic>
        <p:nvPicPr>
          <p:cNvPr id="2" name="Picture 1"/>
          <p:cNvPicPr>
            <a:picLocks noChangeAspect="1"/>
          </p:cNvPicPr>
          <p:nvPr/>
        </p:nvPicPr>
        <p:blipFill>
          <a:blip r:embed="rId4"/>
          <a:stretch>
            <a:fillRect/>
          </a:stretch>
        </p:blipFill>
        <p:spPr>
          <a:xfrm>
            <a:off x="108204" y="3562541"/>
            <a:ext cx="11897868" cy="2520282"/>
          </a:xfrm>
          <a:prstGeom prst="rect">
            <a:avLst/>
          </a:prstGeom>
        </p:spPr>
      </p:pic>
      <p:graphicFrame>
        <p:nvGraphicFramePr>
          <p:cNvPr id="3" name="Object 2"/>
          <p:cNvGraphicFramePr>
            <a:graphicFrameLocks noChangeAspect="1"/>
          </p:cNvGraphicFramePr>
          <p:nvPr>
            <p:extLst>
              <p:ext uri="{D42A27DB-BD31-4B8C-83A1-F6EECF244321}">
                <p14:modId xmlns:p14="http://schemas.microsoft.com/office/powerpoint/2010/main" val="2763938503"/>
              </p:ext>
            </p:extLst>
          </p:nvPr>
        </p:nvGraphicFramePr>
        <p:xfrm>
          <a:off x="9445434" y="5626139"/>
          <a:ext cx="2560638" cy="439738"/>
        </p:xfrm>
        <a:graphic>
          <a:graphicData uri="http://schemas.openxmlformats.org/presentationml/2006/ole">
            <mc:AlternateContent xmlns:mc="http://schemas.openxmlformats.org/markup-compatibility/2006">
              <mc:Choice xmlns:v="urn:schemas-microsoft-com:vml" Requires="v">
                <p:oleObj spid="_x0000_s37988" name="Packager Shell Object" showAsIcon="1" r:id="rId5" imgW="2560680" imgH="439560" progId="Package">
                  <p:embed/>
                </p:oleObj>
              </mc:Choice>
              <mc:Fallback>
                <p:oleObj name="Packager Shell Object" showAsIcon="1" r:id="rId5" imgW="2560680" imgH="439560" progId="Package">
                  <p:embed/>
                  <p:pic>
                    <p:nvPicPr>
                      <p:cNvPr id="0" name=""/>
                      <p:cNvPicPr/>
                      <p:nvPr/>
                    </p:nvPicPr>
                    <p:blipFill>
                      <a:blip r:embed="rId6"/>
                      <a:stretch>
                        <a:fillRect/>
                      </a:stretch>
                    </p:blipFill>
                    <p:spPr>
                      <a:xfrm>
                        <a:off x="9445434" y="5626139"/>
                        <a:ext cx="2560638" cy="439738"/>
                      </a:xfrm>
                      <a:prstGeom prst="rect">
                        <a:avLst/>
                      </a:prstGeom>
                    </p:spPr>
                  </p:pic>
                </p:oleObj>
              </mc:Fallback>
            </mc:AlternateContent>
          </a:graphicData>
        </a:graphic>
      </p:graphicFrame>
      <p:sp>
        <p:nvSpPr>
          <p:cNvPr id="4" name="Rectangle 3"/>
          <p:cNvSpPr/>
          <p:nvPr/>
        </p:nvSpPr>
        <p:spPr>
          <a:xfrm>
            <a:off x="4290290" y="1353312"/>
            <a:ext cx="3103734" cy="369332"/>
          </a:xfrm>
          <a:prstGeom prst="rect">
            <a:avLst/>
          </a:prstGeom>
        </p:spPr>
        <p:txBody>
          <a:bodyPr wrap="none">
            <a:spAutoFit/>
          </a:bodyPr>
          <a:lstStyle/>
          <a:p>
            <a:r>
              <a:rPr lang="ar-EG" dirty="0" smtClean="0"/>
              <a:t>ASC and DESC Operators</a:t>
            </a:r>
            <a:endParaRPr lang="ar-EG" dirty="0"/>
          </a:p>
        </p:txBody>
      </p:sp>
    </p:spTree>
    <p:extLst>
      <p:ext uri="{BB962C8B-B14F-4D97-AF65-F5344CB8AC3E}">
        <p14:creationId xmlns:p14="http://schemas.microsoft.com/office/powerpoint/2010/main" val="158326558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33304" y="0"/>
            <a:ext cx="1758696" cy="1353312"/>
          </a:xfrm>
          <a:prstGeom prst="rect">
            <a:avLst/>
          </a:prstGeom>
        </p:spPr>
      </p:pic>
      <p:sp>
        <p:nvSpPr>
          <p:cNvPr id="6" name="TextBox 5"/>
          <p:cNvSpPr txBox="1"/>
          <p:nvPr/>
        </p:nvSpPr>
        <p:spPr>
          <a:xfrm>
            <a:off x="10309753" y="6488668"/>
            <a:ext cx="1882247" cy="369332"/>
          </a:xfrm>
          <a:prstGeom prst="rect">
            <a:avLst/>
          </a:prstGeom>
          <a:noFill/>
        </p:spPr>
        <p:txBody>
          <a:bodyPr wrap="none" rtlCol="1">
            <a:spAutoFit/>
          </a:bodyPr>
          <a:lstStyle/>
          <a:p>
            <a:r>
              <a:rPr lang="en-US" b="1" dirty="0" smtClean="0">
                <a:solidFill>
                  <a:schemeClr val="accent3">
                    <a:lumMod val="40000"/>
                    <a:lumOff val="60000"/>
                  </a:schemeClr>
                </a:solidFill>
              </a:rPr>
              <a:t>By </a:t>
            </a:r>
            <a:r>
              <a:rPr lang="en-US" b="1" dirty="0" err="1" smtClean="0">
                <a:solidFill>
                  <a:schemeClr val="accent3">
                    <a:lumMod val="40000"/>
                    <a:lumOff val="60000"/>
                  </a:schemeClr>
                </a:solidFill>
              </a:rPr>
              <a:t>Eslam</a:t>
            </a:r>
            <a:r>
              <a:rPr lang="en-US" b="1" dirty="0" smtClean="0">
                <a:solidFill>
                  <a:schemeClr val="accent3">
                    <a:lumMod val="40000"/>
                    <a:lumOff val="60000"/>
                  </a:schemeClr>
                </a:solidFill>
              </a:rPr>
              <a:t> </a:t>
            </a:r>
            <a:r>
              <a:rPr lang="en-US" b="1" dirty="0" err="1" smtClean="0">
                <a:solidFill>
                  <a:schemeClr val="accent3">
                    <a:lumMod val="40000"/>
                    <a:lumOff val="60000"/>
                  </a:schemeClr>
                </a:solidFill>
              </a:rPr>
              <a:t>Khder</a:t>
            </a:r>
            <a:endParaRPr lang="ar-EG" b="1" dirty="0">
              <a:solidFill>
                <a:schemeClr val="accent3">
                  <a:lumMod val="40000"/>
                  <a:lumOff val="60000"/>
                </a:schemeClr>
              </a:solidFill>
            </a:endParaRPr>
          </a:p>
        </p:txBody>
      </p:sp>
      <p:pic>
        <p:nvPicPr>
          <p:cNvPr id="2" name="Picture 1"/>
          <p:cNvPicPr>
            <a:picLocks noChangeAspect="1"/>
          </p:cNvPicPr>
          <p:nvPr/>
        </p:nvPicPr>
        <p:blipFill>
          <a:blip r:embed="rId4"/>
          <a:stretch>
            <a:fillRect/>
          </a:stretch>
        </p:blipFill>
        <p:spPr>
          <a:xfrm>
            <a:off x="181546" y="4090416"/>
            <a:ext cx="11572875" cy="2063496"/>
          </a:xfrm>
          <a:prstGeom prst="rect">
            <a:avLst/>
          </a:prstGeom>
        </p:spPr>
      </p:pic>
      <p:graphicFrame>
        <p:nvGraphicFramePr>
          <p:cNvPr id="3" name="Object 2"/>
          <p:cNvGraphicFramePr>
            <a:graphicFrameLocks noChangeAspect="1"/>
          </p:cNvGraphicFramePr>
          <p:nvPr>
            <p:extLst>
              <p:ext uri="{D42A27DB-BD31-4B8C-83A1-F6EECF244321}">
                <p14:modId xmlns:p14="http://schemas.microsoft.com/office/powerpoint/2010/main" val="1364825269"/>
              </p:ext>
            </p:extLst>
          </p:nvPr>
        </p:nvGraphicFramePr>
        <p:xfrm>
          <a:off x="8209852" y="5714174"/>
          <a:ext cx="3463925" cy="439738"/>
        </p:xfrm>
        <a:graphic>
          <a:graphicData uri="http://schemas.openxmlformats.org/presentationml/2006/ole">
            <mc:AlternateContent xmlns:mc="http://schemas.openxmlformats.org/markup-compatibility/2006">
              <mc:Choice xmlns:v="urn:schemas-microsoft-com:vml" Requires="v">
                <p:oleObj spid="_x0000_s39011" name="Packager Shell Object" showAsIcon="1" r:id="rId5" imgW="3463560" imgH="439560" progId="Package">
                  <p:embed/>
                </p:oleObj>
              </mc:Choice>
              <mc:Fallback>
                <p:oleObj name="Packager Shell Object" showAsIcon="1" r:id="rId5" imgW="3463560" imgH="439560" progId="Package">
                  <p:embed/>
                  <p:pic>
                    <p:nvPicPr>
                      <p:cNvPr id="0" name=""/>
                      <p:cNvPicPr/>
                      <p:nvPr/>
                    </p:nvPicPr>
                    <p:blipFill>
                      <a:blip r:embed="rId6"/>
                      <a:stretch>
                        <a:fillRect/>
                      </a:stretch>
                    </p:blipFill>
                    <p:spPr>
                      <a:xfrm>
                        <a:off x="8209852" y="5714174"/>
                        <a:ext cx="3463925" cy="439738"/>
                      </a:xfrm>
                      <a:prstGeom prst="rect">
                        <a:avLst/>
                      </a:prstGeom>
                    </p:spPr>
                  </p:pic>
                </p:oleObj>
              </mc:Fallback>
            </mc:AlternateContent>
          </a:graphicData>
        </a:graphic>
      </p:graphicFrame>
      <p:sp>
        <p:nvSpPr>
          <p:cNvPr id="4" name="Rectangle 3"/>
          <p:cNvSpPr/>
          <p:nvPr/>
        </p:nvSpPr>
        <p:spPr>
          <a:xfrm>
            <a:off x="3686208" y="1488686"/>
            <a:ext cx="4398960" cy="369332"/>
          </a:xfrm>
          <a:prstGeom prst="rect">
            <a:avLst/>
          </a:prstGeom>
        </p:spPr>
        <p:txBody>
          <a:bodyPr wrap="none">
            <a:spAutoFit/>
          </a:bodyPr>
          <a:lstStyle/>
          <a:p>
            <a:r>
              <a:rPr lang="ar-EG" dirty="0"/>
              <a:t>NULLS FIRST and NULLS LAST Operators</a:t>
            </a:r>
          </a:p>
        </p:txBody>
      </p:sp>
    </p:spTree>
    <p:extLst>
      <p:ext uri="{BB962C8B-B14F-4D97-AF65-F5344CB8AC3E}">
        <p14:creationId xmlns:p14="http://schemas.microsoft.com/office/powerpoint/2010/main" val="202096574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33304" y="0"/>
            <a:ext cx="1758696" cy="1353312"/>
          </a:xfrm>
          <a:prstGeom prst="rect">
            <a:avLst/>
          </a:prstGeom>
        </p:spPr>
      </p:pic>
      <p:sp>
        <p:nvSpPr>
          <p:cNvPr id="6" name="TextBox 5"/>
          <p:cNvSpPr txBox="1"/>
          <p:nvPr/>
        </p:nvSpPr>
        <p:spPr>
          <a:xfrm>
            <a:off x="10309753" y="6488668"/>
            <a:ext cx="1882247" cy="369332"/>
          </a:xfrm>
          <a:prstGeom prst="rect">
            <a:avLst/>
          </a:prstGeom>
          <a:noFill/>
        </p:spPr>
        <p:txBody>
          <a:bodyPr wrap="none" rtlCol="1">
            <a:spAutoFit/>
          </a:bodyPr>
          <a:lstStyle/>
          <a:p>
            <a:r>
              <a:rPr lang="en-US" b="1" dirty="0" smtClean="0">
                <a:solidFill>
                  <a:schemeClr val="accent3">
                    <a:lumMod val="40000"/>
                    <a:lumOff val="60000"/>
                  </a:schemeClr>
                </a:solidFill>
              </a:rPr>
              <a:t>By </a:t>
            </a:r>
            <a:r>
              <a:rPr lang="en-US" b="1" dirty="0" err="1" smtClean="0">
                <a:solidFill>
                  <a:schemeClr val="accent3">
                    <a:lumMod val="40000"/>
                    <a:lumOff val="60000"/>
                  </a:schemeClr>
                </a:solidFill>
              </a:rPr>
              <a:t>Eslam</a:t>
            </a:r>
            <a:r>
              <a:rPr lang="en-US" b="1" dirty="0" smtClean="0">
                <a:solidFill>
                  <a:schemeClr val="accent3">
                    <a:lumMod val="40000"/>
                    <a:lumOff val="60000"/>
                  </a:schemeClr>
                </a:solidFill>
              </a:rPr>
              <a:t> </a:t>
            </a:r>
            <a:r>
              <a:rPr lang="en-US" b="1" dirty="0" err="1" smtClean="0">
                <a:solidFill>
                  <a:schemeClr val="accent3">
                    <a:lumMod val="40000"/>
                    <a:lumOff val="60000"/>
                  </a:schemeClr>
                </a:solidFill>
              </a:rPr>
              <a:t>Khder</a:t>
            </a:r>
            <a:endParaRPr lang="ar-EG" b="1" dirty="0">
              <a:solidFill>
                <a:schemeClr val="accent3">
                  <a:lumMod val="40000"/>
                  <a:lumOff val="60000"/>
                </a:schemeClr>
              </a:solidFill>
            </a:endParaRPr>
          </a:p>
        </p:txBody>
      </p:sp>
      <p:pic>
        <p:nvPicPr>
          <p:cNvPr id="2" name="Picture 1"/>
          <p:cNvPicPr>
            <a:picLocks noChangeAspect="1"/>
          </p:cNvPicPr>
          <p:nvPr/>
        </p:nvPicPr>
        <p:blipFill>
          <a:blip r:embed="rId4"/>
          <a:stretch>
            <a:fillRect/>
          </a:stretch>
        </p:blipFill>
        <p:spPr>
          <a:xfrm>
            <a:off x="237743" y="3448162"/>
            <a:ext cx="11667745" cy="2714894"/>
          </a:xfrm>
          <a:prstGeom prst="rect">
            <a:avLst/>
          </a:prstGeom>
        </p:spPr>
      </p:pic>
      <p:graphicFrame>
        <p:nvGraphicFramePr>
          <p:cNvPr id="3" name="Object 2"/>
          <p:cNvGraphicFramePr>
            <a:graphicFrameLocks noChangeAspect="1"/>
          </p:cNvGraphicFramePr>
          <p:nvPr>
            <p:extLst>
              <p:ext uri="{D42A27DB-BD31-4B8C-83A1-F6EECF244321}">
                <p14:modId xmlns:p14="http://schemas.microsoft.com/office/powerpoint/2010/main" val="2268424798"/>
              </p:ext>
            </p:extLst>
          </p:nvPr>
        </p:nvGraphicFramePr>
        <p:xfrm>
          <a:off x="8584819" y="5584952"/>
          <a:ext cx="2851150" cy="439738"/>
        </p:xfrm>
        <a:graphic>
          <a:graphicData uri="http://schemas.openxmlformats.org/presentationml/2006/ole">
            <mc:AlternateContent xmlns:mc="http://schemas.openxmlformats.org/markup-compatibility/2006">
              <mc:Choice xmlns:v="urn:schemas-microsoft-com:vml" Requires="v">
                <p:oleObj spid="_x0000_s40034" name="Packager Shell Object" showAsIcon="1" r:id="rId5" imgW="2850840" imgH="439560" progId="Package">
                  <p:embed/>
                </p:oleObj>
              </mc:Choice>
              <mc:Fallback>
                <p:oleObj name="Packager Shell Object" showAsIcon="1" r:id="rId5" imgW="2850840" imgH="439560" progId="Package">
                  <p:embed/>
                  <p:pic>
                    <p:nvPicPr>
                      <p:cNvPr id="0" name=""/>
                      <p:cNvPicPr/>
                      <p:nvPr/>
                    </p:nvPicPr>
                    <p:blipFill>
                      <a:blip r:embed="rId6"/>
                      <a:stretch>
                        <a:fillRect/>
                      </a:stretch>
                    </p:blipFill>
                    <p:spPr>
                      <a:xfrm>
                        <a:off x="8584819" y="5584952"/>
                        <a:ext cx="2851150" cy="439738"/>
                      </a:xfrm>
                      <a:prstGeom prst="rect">
                        <a:avLst/>
                      </a:prstGeom>
                    </p:spPr>
                  </p:pic>
                </p:oleObj>
              </mc:Fallback>
            </mc:AlternateContent>
          </a:graphicData>
        </a:graphic>
      </p:graphicFrame>
      <p:sp>
        <p:nvSpPr>
          <p:cNvPr id="4" name="Rectangle 3"/>
          <p:cNvSpPr/>
          <p:nvPr/>
        </p:nvSpPr>
        <p:spPr>
          <a:xfrm>
            <a:off x="4187932" y="1168646"/>
            <a:ext cx="2650084" cy="369332"/>
          </a:xfrm>
          <a:prstGeom prst="rect">
            <a:avLst/>
          </a:prstGeom>
        </p:spPr>
        <p:txBody>
          <a:bodyPr wrap="none">
            <a:spAutoFit/>
          </a:bodyPr>
          <a:lstStyle/>
          <a:p>
            <a:r>
              <a:rPr lang="ar-EG" dirty="0" smtClean="0"/>
              <a:t>ROWNUM and ROWID</a:t>
            </a:r>
            <a:endParaRPr lang="ar-EG" dirty="0"/>
          </a:p>
        </p:txBody>
      </p:sp>
    </p:spTree>
    <p:extLst>
      <p:ext uri="{BB962C8B-B14F-4D97-AF65-F5344CB8AC3E}">
        <p14:creationId xmlns:p14="http://schemas.microsoft.com/office/powerpoint/2010/main" val="235448460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33304" y="0"/>
            <a:ext cx="1758696" cy="1353312"/>
          </a:xfrm>
          <a:prstGeom prst="rect">
            <a:avLst/>
          </a:prstGeom>
        </p:spPr>
      </p:pic>
      <p:sp>
        <p:nvSpPr>
          <p:cNvPr id="6" name="TextBox 5"/>
          <p:cNvSpPr txBox="1"/>
          <p:nvPr/>
        </p:nvSpPr>
        <p:spPr>
          <a:xfrm>
            <a:off x="10309753" y="6488668"/>
            <a:ext cx="1882247" cy="369332"/>
          </a:xfrm>
          <a:prstGeom prst="rect">
            <a:avLst/>
          </a:prstGeom>
          <a:noFill/>
        </p:spPr>
        <p:txBody>
          <a:bodyPr wrap="none" rtlCol="1">
            <a:spAutoFit/>
          </a:bodyPr>
          <a:lstStyle/>
          <a:p>
            <a:r>
              <a:rPr lang="en-US" b="1" dirty="0" smtClean="0">
                <a:solidFill>
                  <a:schemeClr val="accent3">
                    <a:lumMod val="40000"/>
                    <a:lumOff val="60000"/>
                  </a:schemeClr>
                </a:solidFill>
              </a:rPr>
              <a:t>By </a:t>
            </a:r>
            <a:r>
              <a:rPr lang="en-US" b="1" dirty="0" err="1" smtClean="0">
                <a:solidFill>
                  <a:schemeClr val="accent3">
                    <a:lumMod val="40000"/>
                    <a:lumOff val="60000"/>
                  </a:schemeClr>
                </a:solidFill>
              </a:rPr>
              <a:t>Eslam</a:t>
            </a:r>
            <a:r>
              <a:rPr lang="en-US" b="1" dirty="0" smtClean="0">
                <a:solidFill>
                  <a:schemeClr val="accent3">
                    <a:lumMod val="40000"/>
                    <a:lumOff val="60000"/>
                  </a:schemeClr>
                </a:solidFill>
              </a:rPr>
              <a:t> </a:t>
            </a:r>
            <a:r>
              <a:rPr lang="en-US" b="1" dirty="0" err="1" smtClean="0">
                <a:solidFill>
                  <a:schemeClr val="accent3">
                    <a:lumMod val="40000"/>
                    <a:lumOff val="60000"/>
                  </a:schemeClr>
                </a:solidFill>
              </a:rPr>
              <a:t>Khder</a:t>
            </a:r>
            <a:endParaRPr lang="ar-EG" b="1" dirty="0">
              <a:solidFill>
                <a:schemeClr val="accent3">
                  <a:lumMod val="40000"/>
                  <a:lumOff val="60000"/>
                </a:schemeClr>
              </a:solidFill>
            </a:endParaRPr>
          </a:p>
        </p:txBody>
      </p:sp>
      <p:pic>
        <p:nvPicPr>
          <p:cNvPr id="2" name="Picture 1"/>
          <p:cNvPicPr>
            <a:picLocks noChangeAspect="1"/>
          </p:cNvPicPr>
          <p:nvPr/>
        </p:nvPicPr>
        <p:blipFill>
          <a:blip r:embed="rId4"/>
          <a:stretch>
            <a:fillRect/>
          </a:stretch>
        </p:blipFill>
        <p:spPr>
          <a:xfrm>
            <a:off x="502729" y="1170433"/>
            <a:ext cx="7614787" cy="5574268"/>
          </a:xfrm>
          <a:prstGeom prst="rect">
            <a:avLst/>
          </a:prstGeom>
        </p:spPr>
      </p:pic>
      <p:graphicFrame>
        <p:nvGraphicFramePr>
          <p:cNvPr id="3" name="Object 2"/>
          <p:cNvGraphicFramePr>
            <a:graphicFrameLocks noChangeAspect="1"/>
          </p:cNvGraphicFramePr>
          <p:nvPr>
            <p:extLst>
              <p:ext uri="{D42A27DB-BD31-4B8C-83A1-F6EECF244321}">
                <p14:modId xmlns:p14="http://schemas.microsoft.com/office/powerpoint/2010/main" val="2538625832"/>
              </p:ext>
            </p:extLst>
          </p:nvPr>
        </p:nvGraphicFramePr>
        <p:xfrm>
          <a:off x="4072566" y="3957567"/>
          <a:ext cx="4044950" cy="439738"/>
        </p:xfrm>
        <a:graphic>
          <a:graphicData uri="http://schemas.openxmlformats.org/presentationml/2006/ole">
            <mc:AlternateContent xmlns:mc="http://schemas.openxmlformats.org/markup-compatibility/2006">
              <mc:Choice xmlns:v="urn:schemas-microsoft-com:vml" Requires="v">
                <p:oleObj spid="_x0000_s41056" name="Packager Shell Object" showAsIcon="1" r:id="rId5" imgW="4044240" imgH="439560" progId="Package">
                  <p:embed/>
                </p:oleObj>
              </mc:Choice>
              <mc:Fallback>
                <p:oleObj name="Packager Shell Object" showAsIcon="1" r:id="rId5" imgW="4044240" imgH="439560" progId="Package">
                  <p:embed/>
                  <p:pic>
                    <p:nvPicPr>
                      <p:cNvPr id="0" name=""/>
                      <p:cNvPicPr/>
                      <p:nvPr/>
                    </p:nvPicPr>
                    <p:blipFill>
                      <a:blip r:embed="rId6"/>
                      <a:stretch>
                        <a:fillRect/>
                      </a:stretch>
                    </p:blipFill>
                    <p:spPr>
                      <a:xfrm>
                        <a:off x="4072566" y="3957567"/>
                        <a:ext cx="4044950" cy="439738"/>
                      </a:xfrm>
                      <a:prstGeom prst="rect">
                        <a:avLst/>
                      </a:prstGeom>
                    </p:spPr>
                  </p:pic>
                </p:oleObj>
              </mc:Fallback>
            </mc:AlternateContent>
          </a:graphicData>
        </a:graphic>
      </p:graphicFrame>
      <p:sp>
        <p:nvSpPr>
          <p:cNvPr id="4" name="Rectangle 3"/>
          <p:cNvSpPr/>
          <p:nvPr/>
        </p:nvSpPr>
        <p:spPr>
          <a:xfrm>
            <a:off x="3389902" y="491990"/>
            <a:ext cx="5229316" cy="369332"/>
          </a:xfrm>
          <a:prstGeom prst="rect">
            <a:avLst/>
          </a:prstGeom>
        </p:spPr>
        <p:txBody>
          <a:bodyPr wrap="none">
            <a:spAutoFit/>
          </a:bodyPr>
          <a:lstStyle/>
          <a:p>
            <a:r>
              <a:rPr lang="ar-EG" dirty="0" smtClean="0"/>
              <a:t>Case Conversion (</a:t>
            </a:r>
            <a:r>
              <a:rPr lang="ar-EG" dirty="0"/>
              <a:t>LOWER,+UPPER,+INITCAP)</a:t>
            </a:r>
          </a:p>
        </p:txBody>
      </p:sp>
    </p:spTree>
    <p:extLst>
      <p:ext uri="{BB962C8B-B14F-4D97-AF65-F5344CB8AC3E}">
        <p14:creationId xmlns:p14="http://schemas.microsoft.com/office/powerpoint/2010/main" val="290713661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33304" y="0"/>
            <a:ext cx="1758696" cy="1353312"/>
          </a:xfrm>
          <a:prstGeom prst="rect">
            <a:avLst/>
          </a:prstGeom>
        </p:spPr>
      </p:pic>
      <p:sp>
        <p:nvSpPr>
          <p:cNvPr id="6" name="TextBox 5"/>
          <p:cNvSpPr txBox="1"/>
          <p:nvPr/>
        </p:nvSpPr>
        <p:spPr>
          <a:xfrm>
            <a:off x="10309753" y="6488668"/>
            <a:ext cx="1882247" cy="369332"/>
          </a:xfrm>
          <a:prstGeom prst="rect">
            <a:avLst/>
          </a:prstGeom>
          <a:noFill/>
        </p:spPr>
        <p:txBody>
          <a:bodyPr wrap="none" rtlCol="1">
            <a:spAutoFit/>
          </a:bodyPr>
          <a:lstStyle/>
          <a:p>
            <a:r>
              <a:rPr lang="en-US" b="1" dirty="0" smtClean="0">
                <a:solidFill>
                  <a:schemeClr val="accent3">
                    <a:lumMod val="40000"/>
                    <a:lumOff val="60000"/>
                  </a:schemeClr>
                </a:solidFill>
              </a:rPr>
              <a:t>By </a:t>
            </a:r>
            <a:r>
              <a:rPr lang="en-US" b="1" dirty="0" err="1" smtClean="0">
                <a:solidFill>
                  <a:schemeClr val="accent3">
                    <a:lumMod val="40000"/>
                    <a:lumOff val="60000"/>
                  </a:schemeClr>
                </a:solidFill>
              </a:rPr>
              <a:t>Eslam</a:t>
            </a:r>
            <a:r>
              <a:rPr lang="en-US" b="1" dirty="0" smtClean="0">
                <a:solidFill>
                  <a:schemeClr val="accent3">
                    <a:lumMod val="40000"/>
                    <a:lumOff val="60000"/>
                  </a:schemeClr>
                </a:solidFill>
              </a:rPr>
              <a:t> </a:t>
            </a:r>
            <a:r>
              <a:rPr lang="en-US" b="1" dirty="0" err="1" smtClean="0">
                <a:solidFill>
                  <a:schemeClr val="accent3">
                    <a:lumMod val="40000"/>
                    <a:lumOff val="60000"/>
                  </a:schemeClr>
                </a:solidFill>
              </a:rPr>
              <a:t>Khder</a:t>
            </a:r>
            <a:endParaRPr lang="ar-EG" b="1" dirty="0">
              <a:solidFill>
                <a:schemeClr val="accent3">
                  <a:lumMod val="40000"/>
                  <a:lumOff val="60000"/>
                </a:schemeClr>
              </a:solidFill>
            </a:endParaRPr>
          </a:p>
        </p:txBody>
      </p:sp>
      <p:pic>
        <p:nvPicPr>
          <p:cNvPr id="2" name="Picture 1"/>
          <p:cNvPicPr>
            <a:picLocks noChangeAspect="1"/>
          </p:cNvPicPr>
          <p:nvPr/>
        </p:nvPicPr>
        <p:blipFill>
          <a:blip r:embed="rId4"/>
          <a:stretch>
            <a:fillRect/>
          </a:stretch>
        </p:blipFill>
        <p:spPr>
          <a:xfrm>
            <a:off x="334328" y="428482"/>
            <a:ext cx="7876984" cy="6244852"/>
          </a:xfrm>
          <a:prstGeom prst="rect">
            <a:avLst/>
          </a:prstGeom>
        </p:spPr>
      </p:pic>
      <p:graphicFrame>
        <p:nvGraphicFramePr>
          <p:cNvPr id="3" name="Object 2"/>
          <p:cNvGraphicFramePr>
            <a:graphicFrameLocks noChangeAspect="1"/>
          </p:cNvGraphicFramePr>
          <p:nvPr>
            <p:extLst>
              <p:ext uri="{D42A27DB-BD31-4B8C-83A1-F6EECF244321}">
                <p14:modId xmlns:p14="http://schemas.microsoft.com/office/powerpoint/2010/main" val="1877057677"/>
              </p:ext>
            </p:extLst>
          </p:nvPr>
        </p:nvGraphicFramePr>
        <p:xfrm>
          <a:off x="4880308" y="4414331"/>
          <a:ext cx="3411775" cy="422846"/>
        </p:xfrm>
        <a:graphic>
          <a:graphicData uri="http://schemas.openxmlformats.org/presentationml/2006/ole">
            <mc:AlternateContent xmlns:mc="http://schemas.openxmlformats.org/markup-compatibility/2006">
              <mc:Choice xmlns:v="urn:schemas-microsoft-com:vml" Requires="v">
                <p:oleObj spid="_x0000_s42079" name="Packager Shell Object" showAsIcon="1" r:id="rId5" imgW="3547440" imgH="439560" progId="Package">
                  <p:embed/>
                </p:oleObj>
              </mc:Choice>
              <mc:Fallback>
                <p:oleObj name="Packager Shell Object" showAsIcon="1" r:id="rId5" imgW="3547440" imgH="439560" progId="Package">
                  <p:embed/>
                  <p:pic>
                    <p:nvPicPr>
                      <p:cNvPr id="0" name=""/>
                      <p:cNvPicPr/>
                      <p:nvPr/>
                    </p:nvPicPr>
                    <p:blipFill>
                      <a:blip r:embed="rId6"/>
                      <a:stretch>
                        <a:fillRect/>
                      </a:stretch>
                    </p:blipFill>
                    <p:spPr>
                      <a:xfrm>
                        <a:off x="4880308" y="4414331"/>
                        <a:ext cx="3411775" cy="422846"/>
                      </a:xfrm>
                      <a:prstGeom prst="rect">
                        <a:avLst/>
                      </a:prstGeom>
                    </p:spPr>
                  </p:pic>
                </p:oleObj>
              </mc:Fallback>
            </mc:AlternateContent>
          </a:graphicData>
        </a:graphic>
      </p:graphicFrame>
      <p:sp>
        <p:nvSpPr>
          <p:cNvPr id="7" name="Rectangle 6"/>
          <p:cNvSpPr/>
          <p:nvPr/>
        </p:nvSpPr>
        <p:spPr>
          <a:xfrm>
            <a:off x="3537344" y="59150"/>
            <a:ext cx="6246736" cy="369332"/>
          </a:xfrm>
          <a:prstGeom prst="rect">
            <a:avLst/>
          </a:prstGeom>
        </p:spPr>
        <p:txBody>
          <a:bodyPr wrap="square">
            <a:spAutoFit/>
          </a:bodyPr>
          <a:lstStyle/>
          <a:p>
            <a:pPr algn="l"/>
            <a:r>
              <a:rPr lang="ar-EG" dirty="0" smtClean="0"/>
              <a:t>Character Manipulation Functions</a:t>
            </a:r>
            <a:endParaRPr lang="ar-EG" dirty="0"/>
          </a:p>
        </p:txBody>
      </p:sp>
    </p:spTree>
    <p:extLst>
      <p:ext uri="{BB962C8B-B14F-4D97-AF65-F5344CB8AC3E}">
        <p14:creationId xmlns:p14="http://schemas.microsoft.com/office/powerpoint/2010/main" val="331218144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33304" y="0"/>
            <a:ext cx="1758696" cy="1353312"/>
          </a:xfrm>
          <a:prstGeom prst="rect">
            <a:avLst/>
          </a:prstGeom>
        </p:spPr>
      </p:pic>
      <p:sp>
        <p:nvSpPr>
          <p:cNvPr id="6" name="TextBox 5"/>
          <p:cNvSpPr txBox="1"/>
          <p:nvPr/>
        </p:nvSpPr>
        <p:spPr>
          <a:xfrm>
            <a:off x="10309753" y="6488668"/>
            <a:ext cx="1882247" cy="369332"/>
          </a:xfrm>
          <a:prstGeom prst="rect">
            <a:avLst/>
          </a:prstGeom>
          <a:noFill/>
        </p:spPr>
        <p:txBody>
          <a:bodyPr wrap="none" rtlCol="1">
            <a:spAutoFit/>
          </a:bodyPr>
          <a:lstStyle/>
          <a:p>
            <a:r>
              <a:rPr lang="en-US" b="1" dirty="0" smtClean="0">
                <a:solidFill>
                  <a:schemeClr val="accent3">
                    <a:lumMod val="40000"/>
                    <a:lumOff val="60000"/>
                  </a:schemeClr>
                </a:solidFill>
              </a:rPr>
              <a:t>By </a:t>
            </a:r>
            <a:r>
              <a:rPr lang="en-US" b="1" dirty="0" err="1" smtClean="0">
                <a:solidFill>
                  <a:schemeClr val="accent3">
                    <a:lumMod val="40000"/>
                    <a:lumOff val="60000"/>
                  </a:schemeClr>
                </a:solidFill>
              </a:rPr>
              <a:t>Eslam</a:t>
            </a:r>
            <a:r>
              <a:rPr lang="en-US" b="1" dirty="0" smtClean="0">
                <a:solidFill>
                  <a:schemeClr val="accent3">
                    <a:lumMod val="40000"/>
                    <a:lumOff val="60000"/>
                  </a:schemeClr>
                </a:solidFill>
              </a:rPr>
              <a:t> </a:t>
            </a:r>
            <a:r>
              <a:rPr lang="en-US" b="1" dirty="0" err="1" smtClean="0">
                <a:solidFill>
                  <a:schemeClr val="accent3">
                    <a:lumMod val="40000"/>
                    <a:lumOff val="60000"/>
                  </a:schemeClr>
                </a:solidFill>
              </a:rPr>
              <a:t>Khder</a:t>
            </a:r>
            <a:endParaRPr lang="ar-EG" b="1" dirty="0">
              <a:solidFill>
                <a:schemeClr val="accent3">
                  <a:lumMod val="40000"/>
                  <a:lumOff val="60000"/>
                </a:schemeClr>
              </a:solidFill>
            </a:endParaRPr>
          </a:p>
        </p:txBody>
      </p:sp>
      <p:pic>
        <p:nvPicPr>
          <p:cNvPr id="2" name="Picture 1"/>
          <p:cNvPicPr>
            <a:picLocks noChangeAspect="1"/>
          </p:cNvPicPr>
          <p:nvPr/>
        </p:nvPicPr>
        <p:blipFill>
          <a:blip r:embed="rId4"/>
          <a:stretch>
            <a:fillRect/>
          </a:stretch>
        </p:blipFill>
        <p:spPr>
          <a:xfrm>
            <a:off x="233743" y="3729038"/>
            <a:ext cx="11507153" cy="2599434"/>
          </a:xfrm>
          <a:prstGeom prst="rect">
            <a:avLst/>
          </a:prstGeom>
        </p:spPr>
      </p:pic>
      <p:graphicFrame>
        <p:nvGraphicFramePr>
          <p:cNvPr id="3" name="Object 2"/>
          <p:cNvGraphicFramePr>
            <a:graphicFrameLocks noChangeAspect="1"/>
          </p:cNvGraphicFramePr>
          <p:nvPr>
            <p:extLst>
              <p:ext uri="{D42A27DB-BD31-4B8C-83A1-F6EECF244321}">
                <p14:modId xmlns:p14="http://schemas.microsoft.com/office/powerpoint/2010/main" val="92808558"/>
              </p:ext>
            </p:extLst>
          </p:nvPr>
        </p:nvGraphicFramePr>
        <p:xfrm>
          <a:off x="7120827" y="5748965"/>
          <a:ext cx="4483100" cy="439737"/>
        </p:xfrm>
        <a:graphic>
          <a:graphicData uri="http://schemas.openxmlformats.org/presentationml/2006/ole">
            <mc:AlternateContent xmlns:mc="http://schemas.openxmlformats.org/markup-compatibility/2006">
              <mc:Choice xmlns:v="urn:schemas-microsoft-com:vml" Requires="v">
                <p:oleObj spid="_x0000_s62515" name="Packager Shell Object" showAsIcon="1" r:id="rId5" imgW="4482720" imgH="439560" progId="Package">
                  <p:embed/>
                </p:oleObj>
              </mc:Choice>
              <mc:Fallback>
                <p:oleObj name="Packager Shell Object" showAsIcon="1" r:id="rId5" imgW="4482720" imgH="439560" progId="Package">
                  <p:embed/>
                  <p:pic>
                    <p:nvPicPr>
                      <p:cNvPr id="0" name=""/>
                      <p:cNvPicPr/>
                      <p:nvPr/>
                    </p:nvPicPr>
                    <p:blipFill>
                      <a:blip r:embed="rId6"/>
                      <a:stretch>
                        <a:fillRect/>
                      </a:stretch>
                    </p:blipFill>
                    <p:spPr>
                      <a:xfrm>
                        <a:off x="7120827" y="5748965"/>
                        <a:ext cx="4483100" cy="439737"/>
                      </a:xfrm>
                      <a:prstGeom prst="rect">
                        <a:avLst/>
                      </a:prstGeom>
                    </p:spPr>
                  </p:pic>
                </p:oleObj>
              </mc:Fallback>
            </mc:AlternateContent>
          </a:graphicData>
        </a:graphic>
      </p:graphicFrame>
      <p:sp>
        <p:nvSpPr>
          <p:cNvPr id="4" name="Rectangle 3"/>
          <p:cNvSpPr/>
          <p:nvPr/>
        </p:nvSpPr>
        <p:spPr>
          <a:xfrm>
            <a:off x="4893166" y="983980"/>
            <a:ext cx="1786066" cy="369332"/>
          </a:xfrm>
          <a:prstGeom prst="rect">
            <a:avLst/>
          </a:prstGeom>
        </p:spPr>
        <p:txBody>
          <a:bodyPr wrap="none">
            <a:spAutoFit/>
          </a:bodyPr>
          <a:lstStyle/>
          <a:p>
            <a:r>
              <a:rPr lang="ar-EG" dirty="0" smtClean="0"/>
              <a:t>INSTR Function</a:t>
            </a:r>
            <a:endParaRPr lang="ar-EG" dirty="0"/>
          </a:p>
        </p:txBody>
      </p:sp>
    </p:spTree>
    <p:extLst>
      <p:ext uri="{BB962C8B-B14F-4D97-AF65-F5344CB8AC3E}">
        <p14:creationId xmlns:p14="http://schemas.microsoft.com/office/powerpoint/2010/main" val="424172168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33304" y="0"/>
            <a:ext cx="1758696" cy="1353312"/>
          </a:xfrm>
          <a:prstGeom prst="rect">
            <a:avLst/>
          </a:prstGeom>
        </p:spPr>
      </p:pic>
      <p:sp>
        <p:nvSpPr>
          <p:cNvPr id="6" name="TextBox 5"/>
          <p:cNvSpPr txBox="1"/>
          <p:nvPr/>
        </p:nvSpPr>
        <p:spPr>
          <a:xfrm>
            <a:off x="10309753" y="6488668"/>
            <a:ext cx="1882247" cy="369332"/>
          </a:xfrm>
          <a:prstGeom prst="rect">
            <a:avLst/>
          </a:prstGeom>
          <a:noFill/>
        </p:spPr>
        <p:txBody>
          <a:bodyPr wrap="none" rtlCol="1">
            <a:spAutoFit/>
          </a:bodyPr>
          <a:lstStyle/>
          <a:p>
            <a:r>
              <a:rPr lang="en-US" b="1" dirty="0" smtClean="0">
                <a:solidFill>
                  <a:schemeClr val="accent3">
                    <a:lumMod val="40000"/>
                    <a:lumOff val="60000"/>
                  </a:schemeClr>
                </a:solidFill>
              </a:rPr>
              <a:t>By </a:t>
            </a:r>
            <a:r>
              <a:rPr lang="en-US" b="1" dirty="0" err="1" smtClean="0">
                <a:solidFill>
                  <a:schemeClr val="accent3">
                    <a:lumMod val="40000"/>
                    <a:lumOff val="60000"/>
                  </a:schemeClr>
                </a:solidFill>
              </a:rPr>
              <a:t>Eslam</a:t>
            </a:r>
            <a:r>
              <a:rPr lang="en-US" b="1" dirty="0" smtClean="0">
                <a:solidFill>
                  <a:schemeClr val="accent3">
                    <a:lumMod val="40000"/>
                    <a:lumOff val="60000"/>
                  </a:schemeClr>
                </a:solidFill>
              </a:rPr>
              <a:t> </a:t>
            </a:r>
            <a:r>
              <a:rPr lang="en-US" b="1" dirty="0" err="1" smtClean="0">
                <a:solidFill>
                  <a:schemeClr val="accent3">
                    <a:lumMod val="40000"/>
                    <a:lumOff val="60000"/>
                  </a:schemeClr>
                </a:solidFill>
              </a:rPr>
              <a:t>Khder</a:t>
            </a:r>
            <a:endParaRPr lang="ar-EG" b="1" dirty="0">
              <a:solidFill>
                <a:schemeClr val="accent3">
                  <a:lumMod val="40000"/>
                  <a:lumOff val="60000"/>
                </a:schemeClr>
              </a:solidFill>
            </a:endParaRPr>
          </a:p>
        </p:txBody>
      </p:sp>
      <p:pic>
        <p:nvPicPr>
          <p:cNvPr id="2" name="Picture 1"/>
          <p:cNvPicPr>
            <a:picLocks noChangeAspect="1"/>
          </p:cNvPicPr>
          <p:nvPr/>
        </p:nvPicPr>
        <p:blipFill>
          <a:blip r:embed="rId4"/>
          <a:stretch>
            <a:fillRect/>
          </a:stretch>
        </p:blipFill>
        <p:spPr>
          <a:xfrm>
            <a:off x="434340" y="2039112"/>
            <a:ext cx="7940300" cy="4634222"/>
          </a:xfrm>
          <a:prstGeom prst="rect">
            <a:avLst/>
          </a:prstGeom>
        </p:spPr>
      </p:pic>
      <p:graphicFrame>
        <p:nvGraphicFramePr>
          <p:cNvPr id="3" name="Object 2"/>
          <p:cNvGraphicFramePr>
            <a:graphicFrameLocks noChangeAspect="1"/>
          </p:cNvGraphicFramePr>
          <p:nvPr>
            <p:extLst>
              <p:ext uri="{D42A27DB-BD31-4B8C-83A1-F6EECF244321}">
                <p14:modId xmlns:p14="http://schemas.microsoft.com/office/powerpoint/2010/main" val="3517833826"/>
              </p:ext>
            </p:extLst>
          </p:nvPr>
        </p:nvGraphicFramePr>
        <p:xfrm>
          <a:off x="5312664" y="4679569"/>
          <a:ext cx="3265678" cy="311392"/>
        </p:xfrm>
        <a:graphic>
          <a:graphicData uri="http://schemas.openxmlformats.org/presentationml/2006/ole">
            <mc:AlternateContent xmlns:mc="http://schemas.openxmlformats.org/markup-compatibility/2006">
              <mc:Choice xmlns:v="urn:schemas-microsoft-com:vml" Requires="v">
                <p:oleObj spid="_x0000_s43100" name="Packager Shell Object" showAsIcon="1" r:id="rId5" imgW="4611600" imgH="439560" progId="Package">
                  <p:embed/>
                </p:oleObj>
              </mc:Choice>
              <mc:Fallback>
                <p:oleObj name="Packager Shell Object" showAsIcon="1" r:id="rId5" imgW="4611600" imgH="439560" progId="Package">
                  <p:embed/>
                  <p:pic>
                    <p:nvPicPr>
                      <p:cNvPr id="0" name=""/>
                      <p:cNvPicPr/>
                      <p:nvPr/>
                    </p:nvPicPr>
                    <p:blipFill>
                      <a:blip r:embed="rId6"/>
                      <a:stretch>
                        <a:fillRect/>
                      </a:stretch>
                    </p:blipFill>
                    <p:spPr>
                      <a:xfrm>
                        <a:off x="5312664" y="4679569"/>
                        <a:ext cx="3265678" cy="311392"/>
                      </a:xfrm>
                      <a:prstGeom prst="rect">
                        <a:avLst/>
                      </a:prstGeom>
                    </p:spPr>
                  </p:pic>
                </p:oleObj>
              </mc:Fallback>
            </mc:AlternateContent>
          </a:graphicData>
        </a:graphic>
      </p:graphicFrame>
      <p:sp>
        <p:nvSpPr>
          <p:cNvPr id="4" name="Rectangle 3"/>
          <p:cNvSpPr/>
          <p:nvPr/>
        </p:nvSpPr>
        <p:spPr>
          <a:xfrm>
            <a:off x="3593270" y="676656"/>
            <a:ext cx="3254416" cy="369332"/>
          </a:xfrm>
          <a:prstGeom prst="rect">
            <a:avLst/>
          </a:prstGeom>
        </p:spPr>
        <p:txBody>
          <a:bodyPr wrap="none">
            <a:spAutoFit/>
          </a:bodyPr>
          <a:lstStyle/>
          <a:p>
            <a:r>
              <a:rPr lang="ar-EG" dirty="0" smtClean="0"/>
              <a:t>TRIM LTRIM RTRIM Functions</a:t>
            </a:r>
            <a:endParaRPr lang="ar-EG" dirty="0"/>
          </a:p>
        </p:txBody>
      </p:sp>
    </p:spTree>
    <p:extLst>
      <p:ext uri="{BB962C8B-B14F-4D97-AF65-F5344CB8AC3E}">
        <p14:creationId xmlns:p14="http://schemas.microsoft.com/office/powerpoint/2010/main" val="27264329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33304" y="0"/>
            <a:ext cx="1758696" cy="1353312"/>
          </a:xfrm>
          <a:prstGeom prst="rect">
            <a:avLst/>
          </a:prstGeom>
        </p:spPr>
      </p:pic>
      <p:sp>
        <p:nvSpPr>
          <p:cNvPr id="6" name="TextBox 5"/>
          <p:cNvSpPr txBox="1"/>
          <p:nvPr/>
        </p:nvSpPr>
        <p:spPr>
          <a:xfrm>
            <a:off x="10309753" y="6488668"/>
            <a:ext cx="1882247" cy="369332"/>
          </a:xfrm>
          <a:prstGeom prst="rect">
            <a:avLst/>
          </a:prstGeom>
          <a:noFill/>
        </p:spPr>
        <p:txBody>
          <a:bodyPr wrap="none" rtlCol="1">
            <a:spAutoFit/>
          </a:bodyPr>
          <a:lstStyle/>
          <a:p>
            <a:r>
              <a:rPr lang="en-US" b="1" dirty="0" smtClean="0">
                <a:solidFill>
                  <a:schemeClr val="accent3">
                    <a:lumMod val="40000"/>
                    <a:lumOff val="60000"/>
                  </a:schemeClr>
                </a:solidFill>
              </a:rPr>
              <a:t>By </a:t>
            </a:r>
            <a:r>
              <a:rPr lang="en-US" b="1" dirty="0" err="1" smtClean="0">
                <a:solidFill>
                  <a:schemeClr val="accent3">
                    <a:lumMod val="40000"/>
                    <a:lumOff val="60000"/>
                  </a:schemeClr>
                </a:solidFill>
              </a:rPr>
              <a:t>Eslam</a:t>
            </a:r>
            <a:r>
              <a:rPr lang="en-US" b="1" dirty="0" smtClean="0">
                <a:solidFill>
                  <a:schemeClr val="accent3">
                    <a:lumMod val="40000"/>
                    <a:lumOff val="60000"/>
                  </a:schemeClr>
                </a:solidFill>
              </a:rPr>
              <a:t> </a:t>
            </a:r>
            <a:r>
              <a:rPr lang="en-US" b="1" dirty="0" err="1" smtClean="0">
                <a:solidFill>
                  <a:schemeClr val="accent3">
                    <a:lumMod val="40000"/>
                    <a:lumOff val="60000"/>
                  </a:schemeClr>
                </a:solidFill>
              </a:rPr>
              <a:t>Khder</a:t>
            </a:r>
            <a:endParaRPr lang="ar-EG" b="1" dirty="0">
              <a:solidFill>
                <a:schemeClr val="accent3">
                  <a:lumMod val="40000"/>
                  <a:lumOff val="60000"/>
                </a:schemeClr>
              </a:solidFill>
            </a:endParaRPr>
          </a:p>
        </p:txBody>
      </p:sp>
      <p:pic>
        <p:nvPicPr>
          <p:cNvPr id="2" name="Picture 1"/>
          <p:cNvPicPr>
            <a:picLocks noChangeAspect="1"/>
          </p:cNvPicPr>
          <p:nvPr/>
        </p:nvPicPr>
        <p:blipFill>
          <a:blip r:embed="rId4"/>
          <a:stretch>
            <a:fillRect/>
          </a:stretch>
        </p:blipFill>
        <p:spPr>
          <a:xfrm>
            <a:off x="189737" y="2417826"/>
            <a:ext cx="10910341" cy="3955542"/>
          </a:xfrm>
          <a:prstGeom prst="rect">
            <a:avLst/>
          </a:prstGeom>
        </p:spPr>
      </p:pic>
      <p:graphicFrame>
        <p:nvGraphicFramePr>
          <p:cNvPr id="3" name="Object 2"/>
          <p:cNvGraphicFramePr>
            <a:graphicFrameLocks noChangeAspect="1"/>
          </p:cNvGraphicFramePr>
          <p:nvPr>
            <p:extLst>
              <p:ext uri="{D42A27DB-BD31-4B8C-83A1-F6EECF244321}">
                <p14:modId xmlns:p14="http://schemas.microsoft.com/office/powerpoint/2010/main" val="1189598295"/>
              </p:ext>
            </p:extLst>
          </p:nvPr>
        </p:nvGraphicFramePr>
        <p:xfrm>
          <a:off x="6261164" y="5694680"/>
          <a:ext cx="4727575" cy="439738"/>
        </p:xfrm>
        <a:graphic>
          <a:graphicData uri="http://schemas.openxmlformats.org/presentationml/2006/ole">
            <mc:AlternateContent xmlns:mc="http://schemas.openxmlformats.org/markup-compatibility/2006">
              <mc:Choice xmlns:v="urn:schemas-microsoft-com:vml" Requires="v">
                <p:oleObj spid="_x0000_s44123" name="Packager Shell Object" showAsIcon="1" r:id="rId5" imgW="4727880" imgH="439560" progId="Package">
                  <p:embed/>
                </p:oleObj>
              </mc:Choice>
              <mc:Fallback>
                <p:oleObj name="Packager Shell Object" showAsIcon="1" r:id="rId5" imgW="4727880" imgH="439560" progId="Package">
                  <p:embed/>
                  <p:pic>
                    <p:nvPicPr>
                      <p:cNvPr id="0" name=""/>
                      <p:cNvPicPr/>
                      <p:nvPr/>
                    </p:nvPicPr>
                    <p:blipFill>
                      <a:blip r:embed="rId6"/>
                      <a:stretch>
                        <a:fillRect/>
                      </a:stretch>
                    </p:blipFill>
                    <p:spPr>
                      <a:xfrm>
                        <a:off x="6261164" y="5694680"/>
                        <a:ext cx="4727575" cy="439738"/>
                      </a:xfrm>
                      <a:prstGeom prst="rect">
                        <a:avLst/>
                      </a:prstGeom>
                    </p:spPr>
                  </p:pic>
                </p:oleObj>
              </mc:Fallback>
            </mc:AlternateContent>
          </a:graphicData>
        </a:graphic>
      </p:graphicFrame>
      <p:sp>
        <p:nvSpPr>
          <p:cNvPr id="4" name="Rectangle 3"/>
          <p:cNvSpPr/>
          <p:nvPr/>
        </p:nvSpPr>
        <p:spPr>
          <a:xfrm>
            <a:off x="3518358" y="795528"/>
            <a:ext cx="3696846" cy="369332"/>
          </a:xfrm>
          <a:prstGeom prst="rect">
            <a:avLst/>
          </a:prstGeom>
        </p:spPr>
        <p:txBody>
          <a:bodyPr wrap="none">
            <a:spAutoFit/>
          </a:bodyPr>
          <a:lstStyle/>
          <a:p>
            <a:r>
              <a:rPr lang="ar-EG" dirty="0" smtClean="0"/>
              <a:t>REPLACE LPAD RPAD Functions</a:t>
            </a:r>
            <a:endParaRPr lang="ar-EG" dirty="0"/>
          </a:p>
        </p:txBody>
      </p:sp>
    </p:spTree>
    <p:extLst>
      <p:ext uri="{BB962C8B-B14F-4D97-AF65-F5344CB8AC3E}">
        <p14:creationId xmlns:p14="http://schemas.microsoft.com/office/powerpoint/2010/main" val="168910451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33304" y="0"/>
            <a:ext cx="1758696" cy="1353312"/>
          </a:xfrm>
          <a:prstGeom prst="rect">
            <a:avLst/>
          </a:prstGeom>
        </p:spPr>
      </p:pic>
      <p:sp>
        <p:nvSpPr>
          <p:cNvPr id="6" name="TextBox 5"/>
          <p:cNvSpPr txBox="1"/>
          <p:nvPr/>
        </p:nvSpPr>
        <p:spPr>
          <a:xfrm>
            <a:off x="10309753" y="6488668"/>
            <a:ext cx="1882247" cy="369332"/>
          </a:xfrm>
          <a:prstGeom prst="rect">
            <a:avLst/>
          </a:prstGeom>
          <a:noFill/>
        </p:spPr>
        <p:txBody>
          <a:bodyPr wrap="none" rtlCol="1">
            <a:spAutoFit/>
          </a:bodyPr>
          <a:lstStyle/>
          <a:p>
            <a:r>
              <a:rPr lang="en-US" b="1" dirty="0" smtClean="0">
                <a:solidFill>
                  <a:schemeClr val="accent3">
                    <a:lumMod val="40000"/>
                    <a:lumOff val="60000"/>
                  </a:schemeClr>
                </a:solidFill>
              </a:rPr>
              <a:t>By </a:t>
            </a:r>
            <a:r>
              <a:rPr lang="en-US" b="1" dirty="0" err="1" smtClean="0">
                <a:solidFill>
                  <a:schemeClr val="accent3">
                    <a:lumMod val="40000"/>
                    <a:lumOff val="60000"/>
                  </a:schemeClr>
                </a:solidFill>
              </a:rPr>
              <a:t>Eslam</a:t>
            </a:r>
            <a:r>
              <a:rPr lang="en-US" b="1" dirty="0" smtClean="0">
                <a:solidFill>
                  <a:schemeClr val="accent3">
                    <a:lumMod val="40000"/>
                    <a:lumOff val="60000"/>
                  </a:schemeClr>
                </a:solidFill>
              </a:rPr>
              <a:t> </a:t>
            </a:r>
            <a:r>
              <a:rPr lang="en-US" b="1" dirty="0" err="1" smtClean="0">
                <a:solidFill>
                  <a:schemeClr val="accent3">
                    <a:lumMod val="40000"/>
                    <a:lumOff val="60000"/>
                  </a:schemeClr>
                </a:solidFill>
              </a:rPr>
              <a:t>Khder</a:t>
            </a:r>
            <a:endParaRPr lang="ar-EG" b="1" dirty="0">
              <a:solidFill>
                <a:schemeClr val="accent3">
                  <a:lumMod val="40000"/>
                  <a:lumOff val="60000"/>
                </a:schemeClr>
              </a:solidFill>
            </a:endParaRPr>
          </a:p>
        </p:txBody>
      </p:sp>
      <p:pic>
        <p:nvPicPr>
          <p:cNvPr id="4" name="Picture 3"/>
          <p:cNvPicPr>
            <a:picLocks noChangeAspect="1"/>
          </p:cNvPicPr>
          <p:nvPr/>
        </p:nvPicPr>
        <p:blipFill>
          <a:blip r:embed="rId4"/>
          <a:stretch>
            <a:fillRect/>
          </a:stretch>
        </p:blipFill>
        <p:spPr>
          <a:xfrm>
            <a:off x="114871" y="1471868"/>
            <a:ext cx="11379137" cy="5016800"/>
          </a:xfrm>
          <a:prstGeom prst="rect">
            <a:avLst/>
          </a:prstGeom>
        </p:spPr>
      </p:pic>
      <p:graphicFrame>
        <p:nvGraphicFramePr>
          <p:cNvPr id="7" name="Object 6"/>
          <p:cNvGraphicFramePr>
            <a:graphicFrameLocks noChangeAspect="1"/>
          </p:cNvGraphicFramePr>
          <p:nvPr>
            <p:extLst>
              <p:ext uri="{D42A27DB-BD31-4B8C-83A1-F6EECF244321}">
                <p14:modId xmlns:p14="http://schemas.microsoft.com/office/powerpoint/2010/main" val="3464199239"/>
              </p:ext>
            </p:extLst>
          </p:nvPr>
        </p:nvGraphicFramePr>
        <p:xfrm>
          <a:off x="7652004" y="1353312"/>
          <a:ext cx="3842004" cy="409321"/>
        </p:xfrm>
        <a:graphic>
          <a:graphicData uri="http://schemas.openxmlformats.org/presentationml/2006/ole">
            <mc:AlternateContent xmlns:mc="http://schemas.openxmlformats.org/markup-compatibility/2006">
              <mc:Choice xmlns:v="urn:schemas-microsoft-com:vml" Requires="v">
                <p:oleObj spid="_x0000_s45147" name="Packager Shell Object" showAsIcon="1" r:id="rId5" imgW="4128120" imgH="439560" progId="Package">
                  <p:embed/>
                </p:oleObj>
              </mc:Choice>
              <mc:Fallback>
                <p:oleObj name="Packager Shell Object" showAsIcon="1" r:id="rId5" imgW="4128120" imgH="439560" progId="Package">
                  <p:embed/>
                  <p:pic>
                    <p:nvPicPr>
                      <p:cNvPr id="0" name=""/>
                      <p:cNvPicPr/>
                      <p:nvPr/>
                    </p:nvPicPr>
                    <p:blipFill>
                      <a:blip r:embed="rId6"/>
                      <a:stretch>
                        <a:fillRect/>
                      </a:stretch>
                    </p:blipFill>
                    <p:spPr>
                      <a:xfrm>
                        <a:off x="7652004" y="1353312"/>
                        <a:ext cx="3842004" cy="409321"/>
                      </a:xfrm>
                      <a:prstGeom prst="rect">
                        <a:avLst/>
                      </a:prstGeom>
                    </p:spPr>
                  </p:pic>
                </p:oleObj>
              </mc:Fallback>
            </mc:AlternateContent>
          </a:graphicData>
        </a:graphic>
      </p:graphicFrame>
      <p:sp>
        <p:nvSpPr>
          <p:cNvPr id="2" name="Rectangle 1"/>
          <p:cNvSpPr/>
          <p:nvPr/>
        </p:nvSpPr>
        <p:spPr>
          <a:xfrm>
            <a:off x="5022709" y="491990"/>
            <a:ext cx="1253869" cy="369332"/>
          </a:xfrm>
          <a:prstGeom prst="rect">
            <a:avLst/>
          </a:prstGeom>
        </p:spPr>
        <p:txBody>
          <a:bodyPr wrap="none">
            <a:spAutoFit/>
          </a:bodyPr>
          <a:lstStyle/>
          <a:p>
            <a:r>
              <a:rPr lang="ar-EG" dirty="0" smtClean="0"/>
              <a:t>TO_CHAR</a:t>
            </a:r>
            <a:endParaRPr lang="ar-EG" dirty="0"/>
          </a:p>
        </p:txBody>
      </p:sp>
    </p:spTree>
    <p:extLst>
      <p:ext uri="{BB962C8B-B14F-4D97-AF65-F5344CB8AC3E}">
        <p14:creationId xmlns:p14="http://schemas.microsoft.com/office/powerpoint/2010/main" val="220553147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33304" y="0"/>
            <a:ext cx="1758696" cy="1353312"/>
          </a:xfrm>
          <a:prstGeom prst="rect">
            <a:avLst/>
          </a:prstGeom>
        </p:spPr>
      </p:pic>
      <p:sp>
        <p:nvSpPr>
          <p:cNvPr id="6" name="TextBox 5"/>
          <p:cNvSpPr txBox="1"/>
          <p:nvPr/>
        </p:nvSpPr>
        <p:spPr>
          <a:xfrm>
            <a:off x="10309753" y="6488668"/>
            <a:ext cx="1882247" cy="369332"/>
          </a:xfrm>
          <a:prstGeom prst="rect">
            <a:avLst/>
          </a:prstGeom>
          <a:noFill/>
        </p:spPr>
        <p:txBody>
          <a:bodyPr wrap="none" rtlCol="1">
            <a:spAutoFit/>
          </a:bodyPr>
          <a:lstStyle/>
          <a:p>
            <a:r>
              <a:rPr lang="en-US" b="1" dirty="0" smtClean="0">
                <a:solidFill>
                  <a:schemeClr val="accent3">
                    <a:lumMod val="40000"/>
                    <a:lumOff val="60000"/>
                  </a:schemeClr>
                </a:solidFill>
              </a:rPr>
              <a:t>By </a:t>
            </a:r>
            <a:r>
              <a:rPr lang="en-US" b="1" dirty="0" err="1" smtClean="0">
                <a:solidFill>
                  <a:schemeClr val="accent3">
                    <a:lumMod val="40000"/>
                    <a:lumOff val="60000"/>
                  </a:schemeClr>
                </a:solidFill>
              </a:rPr>
              <a:t>Eslam</a:t>
            </a:r>
            <a:r>
              <a:rPr lang="en-US" b="1" dirty="0" smtClean="0">
                <a:solidFill>
                  <a:schemeClr val="accent3">
                    <a:lumMod val="40000"/>
                    <a:lumOff val="60000"/>
                  </a:schemeClr>
                </a:solidFill>
              </a:rPr>
              <a:t> </a:t>
            </a:r>
            <a:r>
              <a:rPr lang="en-US" b="1" dirty="0" err="1" smtClean="0">
                <a:solidFill>
                  <a:schemeClr val="accent3">
                    <a:lumMod val="40000"/>
                    <a:lumOff val="60000"/>
                  </a:schemeClr>
                </a:solidFill>
              </a:rPr>
              <a:t>Khder</a:t>
            </a:r>
            <a:endParaRPr lang="ar-EG" b="1" dirty="0">
              <a:solidFill>
                <a:schemeClr val="accent3">
                  <a:lumMod val="40000"/>
                  <a:lumOff val="60000"/>
                </a:schemeClr>
              </a:solidFill>
            </a:endParaRPr>
          </a:p>
        </p:txBody>
      </p:sp>
      <p:pic>
        <p:nvPicPr>
          <p:cNvPr id="2" name="Picture 1"/>
          <p:cNvPicPr>
            <a:picLocks noChangeAspect="1"/>
          </p:cNvPicPr>
          <p:nvPr/>
        </p:nvPicPr>
        <p:blipFill>
          <a:blip r:embed="rId4"/>
          <a:stretch>
            <a:fillRect/>
          </a:stretch>
        </p:blipFill>
        <p:spPr>
          <a:xfrm>
            <a:off x="663893" y="756285"/>
            <a:ext cx="6843331" cy="5836867"/>
          </a:xfrm>
          <a:prstGeom prst="rect">
            <a:avLst/>
          </a:prstGeom>
        </p:spPr>
      </p:pic>
      <p:graphicFrame>
        <p:nvGraphicFramePr>
          <p:cNvPr id="3" name="Object 2"/>
          <p:cNvGraphicFramePr>
            <a:graphicFrameLocks noChangeAspect="1"/>
          </p:cNvGraphicFramePr>
          <p:nvPr>
            <p:extLst>
              <p:ext uri="{D42A27DB-BD31-4B8C-83A1-F6EECF244321}">
                <p14:modId xmlns:p14="http://schemas.microsoft.com/office/powerpoint/2010/main" val="167322990"/>
              </p:ext>
            </p:extLst>
          </p:nvPr>
        </p:nvGraphicFramePr>
        <p:xfrm>
          <a:off x="3592195" y="2064830"/>
          <a:ext cx="4005263" cy="439737"/>
        </p:xfrm>
        <a:graphic>
          <a:graphicData uri="http://schemas.openxmlformats.org/presentationml/2006/ole">
            <mc:AlternateContent xmlns:mc="http://schemas.openxmlformats.org/markup-compatibility/2006">
              <mc:Choice xmlns:v="urn:schemas-microsoft-com:vml" Requires="v">
                <p:oleObj spid="_x0000_s46170" name="Packager Shell Object" showAsIcon="1" r:id="rId5" imgW="4005360" imgH="439560" progId="Package">
                  <p:embed/>
                </p:oleObj>
              </mc:Choice>
              <mc:Fallback>
                <p:oleObj name="Packager Shell Object" showAsIcon="1" r:id="rId5" imgW="4005360" imgH="439560" progId="Package">
                  <p:embed/>
                  <p:pic>
                    <p:nvPicPr>
                      <p:cNvPr id="0" name=""/>
                      <p:cNvPicPr/>
                      <p:nvPr/>
                    </p:nvPicPr>
                    <p:blipFill>
                      <a:blip r:embed="rId6"/>
                      <a:stretch>
                        <a:fillRect/>
                      </a:stretch>
                    </p:blipFill>
                    <p:spPr>
                      <a:xfrm>
                        <a:off x="3592195" y="2064830"/>
                        <a:ext cx="4005263" cy="439737"/>
                      </a:xfrm>
                      <a:prstGeom prst="rect">
                        <a:avLst/>
                      </a:prstGeom>
                    </p:spPr>
                  </p:pic>
                </p:oleObj>
              </mc:Fallback>
            </mc:AlternateContent>
          </a:graphicData>
        </a:graphic>
      </p:graphicFrame>
      <p:sp>
        <p:nvSpPr>
          <p:cNvPr id="4" name="Rectangle 3"/>
          <p:cNvSpPr/>
          <p:nvPr/>
        </p:nvSpPr>
        <p:spPr>
          <a:xfrm>
            <a:off x="2948508" y="181094"/>
            <a:ext cx="5692584" cy="369332"/>
          </a:xfrm>
          <a:prstGeom prst="rect">
            <a:avLst/>
          </a:prstGeom>
        </p:spPr>
        <p:txBody>
          <a:bodyPr wrap="none">
            <a:spAutoFit/>
          </a:bodyPr>
          <a:lstStyle/>
          <a:p>
            <a:r>
              <a:rPr lang="ar-EG" dirty="0" smtClean="0"/>
              <a:t>Oracle Conditional+Expressions  CASE Expressions</a:t>
            </a:r>
            <a:endParaRPr lang="ar-EG" dirty="0"/>
          </a:p>
        </p:txBody>
      </p:sp>
    </p:spTree>
    <p:extLst>
      <p:ext uri="{BB962C8B-B14F-4D97-AF65-F5344CB8AC3E}">
        <p14:creationId xmlns:p14="http://schemas.microsoft.com/office/powerpoint/2010/main" val="361368243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33304" y="0"/>
            <a:ext cx="1758696" cy="1353312"/>
          </a:xfrm>
          <a:prstGeom prst="rect">
            <a:avLst/>
          </a:prstGeom>
        </p:spPr>
      </p:pic>
      <p:sp>
        <p:nvSpPr>
          <p:cNvPr id="6" name="TextBox 5"/>
          <p:cNvSpPr txBox="1"/>
          <p:nvPr/>
        </p:nvSpPr>
        <p:spPr>
          <a:xfrm>
            <a:off x="10309753" y="6488668"/>
            <a:ext cx="1882247" cy="369332"/>
          </a:xfrm>
          <a:prstGeom prst="rect">
            <a:avLst/>
          </a:prstGeom>
          <a:noFill/>
        </p:spPr>
        <p:txBody>
          <a:bodyPr wrap="none" rtlCol="1">
            <a:spAutoFit/>
          </a:bodyPr>
          <a:lstStyle/>
          <a:p>
            <a:r>
              <a:rPr lang="en-US" b="1" dirty="0" smtClean="0">
                <a:solidFill>
                  <a:schemeClr val="accent3">
                    <a:lumMod val="40000"/>
                    <a:lumOff val="60000"/>
                  </a:schemeClr>
                </a:solidFill>
              </a:rPr>
              <a:t>By </a:t>
            </a:r>
            <a:r>
              <a:rPr lang="en-US" b="1" dirty="0" err="1" smtClean="0">
                <a:solidFill>
                  <a:schemeClr val="accent3">
                    <a:lumMod val="40000"/>
                    <a:lumOff val="60000"/>
                  </a:schemeClr>
                </a:solidFill>
              </a:rPr>
              <a:t>Eslam</a:t>
            </a:r>
            <a:r>
              <a:rPr lang="en-US" b="1" dirty="0" smtClean="0">
                <a:solidFill>
                  <a:schemeClr val="accent3">
                    <a:lumMod val="40000"/>
                    <a:lumOff val="60000"/>
                  </a:schemeClr>
                </a:solidFill>
              </a:rPr>
              <a:t> </a:t>
            </a:r>
            <a:r>
              <a:rPr lang="en-US" b="1" dirty="0" err="1" smtClean="0">
                <a:solidFill>
                  <a:schemeClr val="accent3">
                    <a:lumMod val="40000"/>
                    <a:lumOff val="60000"/>
                  </a:schemeClr>
                </a:solidFill>
              </a:rPr>
              <a:t>Khder</a:t>
            </a:r>
            <a:endParaRPr lang="ar-EG" b="1" dirty="0">
              <a:solidFill>
                <a:schemeClr val="accent3">
                  <a:lumMod val="40000"/>
                  <a:lumOff val="60000"/>
                </a:schemeClr>
              </a:solidFill>
            </a:endParaRPr>
          </a:p>
        </p:txBody>
      </p:sp>
      <p:pic>
        <p:nvPicPr>
          <p:cNvPr id="2" name="Picture 1"/>
          <p:cNvPicPr>
            <a:picLocks noChangeAspect="1"/>
          </p:cNvPicPr>
          <p:nvPr/>
        </p:nvPicPr>
        <p:blipFill>
          <a:blip r:embed="rId4"/>
          <a:stretch>
            <a:fillRect/>
          </a:stretch>
        </p:blipFill>
        <p:spPr>
          <a:xfrm>
            <a:off x="388239" y="1632251"/>
            <a:ext cx="11254044" cy="4856417"/>
          </a:xfrm>
          <a:prstGeom prst="rect">
            <a:avLst/>
          </a:prstGeom>
        </p:spPr>
      </p:pic>
      <p:graphicFrame>
        <p:nvGraphicFramePr>
          <p:cNvPr id="3" name="Object 2"/>
          <p:cNvGraphicFramePr>
            <a:graphicFrameLocks noChangeAspect="1"/>
          </p:cNvGraphicFramePr>
          <p:nvPr>
            <p:extLst>
              <p:ext uri="{D42A27DB-BD31-4B8C-83A1-F6EECF244321}">
                <p14:modId xmlns:p14="http://schemas.microsoft.com/office/powerpoint/2010/main" val="2844000858"/>
              </p:ext>
            </p:extLst>
          </p:nvPr>
        </p:nvGraphicFramePr>
        <p:xfrm>
          <a:off x="7533833" y="5769991"/>
          <a:ext cx="4108450" cy="439738"/>
        </p:xfrm>
        <a:graphic>
          <a:graphicData uri="http://schemas.openxmlformats.org/presentationml/2006/ole">
            <mc:AlternateContent xmlns:mc="http://schemas.openxmlformats.org/markup-compatibility/2006">
              <mc:Choice xmlns:v="urn:schemas-microsoft-com:vml" Requires="v">
                <p:oleObj spid="_x0000_s47193" name="Packager Shell Object" showAsIcon="1" r:id="rId5" imgW="4108680" imgH="439560" progId="Package">
                  <p:embed/>
                </p:oleObj>
              </mc:Choice>
              <mc:Fallback>
                <p:oleObj name="Packager Shell Object" showAsIcon="1" r:id="rId5" imgW="4108680" imgH="439560" progId="Package">
                  <p:embed/>
                  <p:pic>
                    <p:nvPicPr>
                      <p:cNvPr id="0" name=""/>
                      <p:cNvPicPr/>
                      <p:nvPr/>
                    </p:nvPicPr>
                    <p:blipFill>
                      <a:blip r:embed="rId6"/>
                      <a:stretch>
                        <a:fillRect/>
                      </a:stretch>
                    </p:blipFill>
                    <p:spPr>
                      <a:xfrm>
                        <a:off x="7533833" y="5769991"/>
                        <a:ext cx="4108450" cy="439738"/>
                      </a:xfrm>
                      <a:prstGeom prst="rect">
                        <a:avLst/>
                      </a:prstGeom>
                    </p:spPr>
                  </p:pic>
                </p:oleObj>
              </mc:Fallback>
            </mc:AlternateContent>
          </a:graphicData>
        </a:graphic>
      </p:graphicFrame>
      <p:sp>
        <p:nvSpPr>
          <p:cNvPr id="4" name="Rectangle 3"/>
          <p:cNvSpPr/>
          <p:nvPr/>
        </p:nvSpPr>
        <p:spPr>
          <a:xfrm>
            <a:off x="0" y="605581"/>
            <a:ext cx="7974985" cy="369332"/>
          </a:xfrm>
          <a:prstGeom prst="rect">
            <a:avLst/>
          </a:prstGeom>
        </p:spPr>
        <p:txBody>
          <a:bodyPr wrap="square">
            <a:spAutoFit/>
          </a:bodyPr>
          <a:lstStyle/>
          <a:p>
            <a:r>
              <a:rPr lang="ar-EG" dirty="0"/>
              <a:t>Oracle Conditional Expressions DECODE </a:t>
            </a:r>
            <a:r>
              <a:rPr lang="ar-EG" dirty="0" smtClean="0"/>
              <a:t>Function</a:t>
            </a:r>
            <a:endParaRPr lang="ar-EG" dirty="0"/>
          </a:p>
        </p:txBody>
      </p:sp>
    </p:spTree>
    <p:extLst>
      <p:ext uri="{BB962C8B-B14F-4D97-AF65-F5344CB8AC3E}">
        <p14:creationId xmlns:p14="http://schemas.microsoft.com/office/powerpoint/2010/main" val="421296879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33304" y="0"/>
            <a:ext cx="1758696" cy="1353312"/>
          </a:xfrm>
          <a:prstGeom prst="rect">
            <a:avLst/>
          </a:prstGeom>
        </p:spPr>
      </p:pic>
      <p:sp>
        <p:nvSpPr>
          <p:cNvPr id="6" name="TextBox 5"/>
          <p:cNvSpPr txBox="1"/>
          <p:nvPr/>
        </p:nvSpPr>
        <p:spPr>
          <a:xfrm>
            <a:off x="10309753" y="6488668"/>
            <a:ext cx="1882247" cy="369332"/>
          </a:xfrm>
          <a:prstGeom prst="rect">
            <a:avLst/>
          </a:prstGeom>
          <a:noFill/>
        </p:spPr>
        <p:txBody>
          <a:bodyPr wrap="none" rtlCol="1">
            <a:spAutoFit/>
          </a:bodyPr>
          <a:lstStyle/>
          <a:p>
            <a:r>
              <a:rPr lang="en-US" b="1" dirty="0" smtClean="0">
                <a:solidFill>
                  <a:schemeClr val="accent3">
                    <a:lumMod val="40000"/>
                    <a:lumOff val="60000"/>
                  </a:schemeClr>
                </a:solidFill>
              </a:rPr>
              <a:t>By </a:t>
            </a:r>
            <a:r>
              <a:rPr lang="en-US" b="1" dirty="0" err="1" smtClean="0">
                <a:solidFill>
                  <a:schemeClr val="accent3">
                    <a:lumMod val="40000"/>
                    <a:lumOff val="60000"/>
                  </a:schemeClr>
                </a:solidFill>
              </a:rPr>
              <a:t>Eslam</a:t>
            </a:r>
            <a:r>
              <a:rPr lang="en-US" b="1" dirty="0" smtClean="0">
                <a:solidFill>
                  <a:schemeClr val="accent3">
                    <a:lumMod val="40000"/>
                    <a:lumOff val="60000"/>
                  </a:schemeClr>
                </a:solidFill>
              </a:rPr>
              <a:t> </a:t>
            </a:r>
            <a:r>
              <a:rPr lang="en-US" b="1" dirty="0" err="1" smtClean="0">
                <a:solidFill>
                  <a:schemeClr val="accent3">
                    <a:lumMod val="40000"/>
                    <a:lumOff val="60000"/>
                  </a:schemeClr>
                </a:solidFill>
              </a:rPr>
              <a:t>Khder</a:t>
            </a:r>
            <a:endParaRPr lang="ar-EG" b="1" dirty="0">
              <a:solidFill>
                <a:schemeClr val="accent3">
                  <a:lumMod val="40000"/>
                  <a:lumOff val="60000"/>
                </a:schemeClr>
              </a:solidFill>
            </a:endParaRPr>
          </a:p>
        </p:txBody>
      </p:sp>
      <p:pic>
        <p:nvPicPr>
          <p:cNvPr id="2" name="Picture 1"/>
          <p:cNvPicPr>
            <a:picLocks noChangeAspect="1"/>
          </p:cNvPicPr>
          <p:nvPr/>
        </p:nvPicPr>
        <p:blipFill>
          <a:blip r:embed="rId4"/>
          <a:stretch>
            <a:fillRect/>
          </a:stretch>
        </p:blipFill>
        <p:spPr>
          <a:xfrm>
            <a:off x="445389" y="2076069"/>
            <a:ext cx="10867263" cy="4095750"/>
          </a:xfrm>
          <a:prstGeom prst="rect">
            <a:avLst/>
          </a:prstGeom>
        </p:spPr>
      </p:pic>
      <p:graphicFrame>
        <p:nvGraphicFramePr>
          <p:cNvPr id="3" name="Object 2"/>
          <p:cNvGraphicFramePr>
            <a:graphicFrameLocks noChangeAspect="1"/>
          </p:cNvGraphicFramePr>
          <p:nvPr>
            <p:extLst>
              <p:ext uri="{D42A27DB-BD31-4B8C-83A1-F6EECF244321}">
                <p14:modId xmlns:p14="http://schemas.microsoft.com/office/powerpoint/2010/main" val="1270850589"/>
              </p:ext>
            </p:extLst>
          </p:nvPr>
        </p:nvGraphicFramePr>
        <p:xfrm>
          <a:off x="8531352" y="4753482"/>
          <a:ext cx="2380742" cy="641477"/>
        </p:xfrm>
        <a:graphic>
          <a:graphicData uri="http://schemas.openxmlformats.org/presentationml/2006/ole">
            <mc:AlternateContent xmlns:mc="http://schemas.openxmlformats.org/markup-compatibility/2006">
              <mc:Choice xmlns:v="urn:schemas-microsoft-com:vml" Requires="v">
                <p:oleObj spid="_x0000_s48217" name="Packager Shell Object" showAsIcon="1" r:id="rId5" imgW="1915560" imgH="439560" progId="Package">
                  <p:embed/>
                </p:oleObj>
              </mc:Choice>
              <mc:Fallback>
                <p:oleObj name="Packager Shell Object" showAsIcon="1" r:id="rId5" imgW="1915560" imgH="439560" progId="Package">
                  <p:embed/>
                  <p:pic>
                    <p:nvPicPr>
                      <p:cNvPr id="0" name=""/>
                      <p:cNvPicPr/>
                      <p:nvPr/>
                    </p:nvPicPr>
                    <p:blipFill>
                      <a:blip r:embed="rId6"/>
                      <a:stretch>
                        <a:fillRect/>
                      </a:stretch>
                    </p:blipFill>
                    <p:spPr>
                      <a:xfrm>
                        <a:off x="8531352" y="4753482"/>
                        <a:ext cx="2380742" cy="641477"/>
                      </a:xfrm>
                      <a:prstGeom prst="rect">
                        <a:avLst/>
                      </a:prstGeom>
                    </p:spPr>
                  </p:pic>
                </p:oleObj>
              </mc:Fallback>
            </mc:AlternateContent>
          </a:graphicData>
        </a:graphic>
      </p:graphicFrame>
      <p:sp>
        <p:nvSpPr>
          <p:cNvPr id="4" name="Rectangle 3"/>
          <p:cNvSpPr/>
          <p:nvPr/>
        </p:nvSpPr>
        <p:spPr>
          <a:xfrm>
            <a:off x="3705903" y="784598"/>
            <a:ext cx="2886921" cy="369332"/>
          </a:xfrm>
          <a:prstGeom prst="rect">
            <a:avLst/>
          </a:prstGeom>
        </p:spPr>
        <p:txBody>
          <a:bodyPr wrap="square">
            <a:spAutoFit/>
          </a:bodyPr>
          <a:lstStyle/>
          <a:p>
            <a:r>
              <a:rPr lang="ar-EG" dirty="0"/>
              <a:t>AVG Function</a:t>
            </a:r>
          </a:p>
        </p:txBody>
      </p:sp>
    </p:spTree>
    <p:extLst>
      <p:ext uri="{BB962C8B-B14F-4D97-AF65-F5344CB8AC3E}">
        <p14:creationId xmlns:p14="http://schemas.microsoft.com/office/powerpoint/2010/main" val="73085813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33304" y="0"/>
            <a:ext cx="1758696" cy="1353312"/>
          </a:xfrm>
          <a:prstGeom prst="rect">
            <a:avLst/>
          </a:prstGeom>
        </p:spPr>
      </p:pic>
      <p:sp>
        <p:nvSpPr>
          <p:cNvPr id="6" name="TextBox 5"/>
          <p:cNvSpPr txBox="1"/>
          <p:nvPr/>
        </p:nvSpPr>
        <p:spPr>
          <a:xfrm>
            <a:off x="10309753" y="6488668"/>
            <a:ext cx="1882247" cy="369332"/>
          </a:xfrm>
          <a:prstGeom prst="rect">
            <a:avLst/>
          </a:prstGeom>
          <a:noFill/>
        </p:spPr>
        <p:txBody>
          <a:bodyPr wrap="none" rtlCol="1">
            <a:spAutoFit/>
          </a:bodyPr>
          <a:lstStyle/>
          <a:p>
            <a:r>
              <a:rPr lang="en-US" b="1" dirty="0" smtClean="0">
                <a:solidFill>
                  <a:schemeClr val="accent3">
                    <a:lumMod val="40000"/>
                    <a:lumOff val="60000"/>
                  </a:schemeClr>
                </a:solidFill>
              </a:rPr>
              <a:t>By </a:t>
            </a:r>
            <a:r>
              <a:rPr lang="en-US" b="1" dirty="0" err="1" smtClean="0">
                <a:solidFill>
                  <a:schemeClr val="accent3">
                    <a:lumMod val="40000"/>
                    <a:lumOff val="60000"/>
                  </a:schemeClr>
                </a:solidFill>
              </a:rPr>
              <a:t>Eslam</a:t>
            </a:r>
            <a:r>
              <a:rPr lang="en-US" b="1" dirty="0" smtClean="0">
                <a:solidFill>
                  <a:schemeClr val="accent3">
                    <a:lumMod val="40000"/>
                    <a:lumOff val="60000"/>
                  </a:schemeClr>
                </a:solidFill>
              </a:rPr>
              <a:t> </a:t>
            </a:r>
            <a:r>
              <a:rPr lang="en-US" b="1" dirty="0" err="1" smtClean="0">
                <a:solidFill>
                  <a:schemeClr val="accent3">
                    <a:lumMod val="40000"/>
                    <a:lumOff val="60000"/>
                  </a:schemeClr>
                </a:solidFill>
              </a:rPr>
              <a:t>Khder</a:t>
            </a:r>
            <a:endParaRPr lang="ar-EG" b="1" dirty="0">
              <a:solidFill>
                <a:schemeClr val="accent3">
                  <a:lumMod val="40000"/>
                  <a:lumOff val="60000"/>
                </a:schemeClr>
              </a:solidFill>
            </a:endParaRPr>
          </a:p>
        </p:txBody>
      </p:sp>
      <p:pic>
        <p:nvPicPr>
          <p:cNvPr id="2" name="Picture 1"/>
          <p:cNvPicPr>
            <a:picLocks noChangeAspect="1"/>
          </p:cNvPicPr>
          <p:nvPr/>
        </p:nvPicPr>
        <p:blipFill>
          <a:blip r:embed="rId4"/>
          <a:stretch>
            <a:fillRect/>
          </a:stretch>
        </p:blipFill>
        <p:spPr>
          <a:xfrm>
            <a:off x="165925" y="3054476"/>
            <a:ext cx="11754803" cy="2733675"/>
          </a:xfrm>
          <a:prstGeom prst="rect">
            <a:avLst/>
          </a:prstGeom>
        </p:spPr>
      </p:pic>
      <p:graphicFrame>
        <p:nvGraphicFramePr>
          <p:cNvPr id="3" name="Object 2"/>
          <p:cNvGraphicFramePr>
            <a:graphicFrameLocks noChangeAspect="1"/>
          </p:cNvGraphicFramePr>
          <p:nvPr>
            <p:extLst>
              <p:ext uri="{D42A27DB-BD31-4B8C-83A1-F6EECF244321}">
                <p14:modId xmlns:p14="http://schemas.microsoft.com/office/powerpoint/2010/main" val="2752271344"/>
              </p:ext>
            </p:extLst>
          </p:nvPr>
        </p:nvGraphicFramePr>
        <p:xfrm>
          <a:off x="9391904" y="5190935"/>
          <a:ext cx="2082800" cy="439737"/>
        </p:xfrm>
        <a:graphic>
          <a:graphicData uri="http://schemas.openxmlformats.org/presentationml/2006/ole">
            <mc:AlternateContent xmlns:mc="http://schemas.openxmlformats.org/markup-compatibility/2006">
              <mc:Choice xmlns:v="urn:schemas-microsoft-com:vml" Requires="v">
                <p:oleObj spid="_x0000_s49240" name="Packager Shell Object" showAsIcon="1" r:id="rId5" imgW="2083320" imgH="439560" progId="Package">
                  <p:embed/>
                </p:oleObj>
              </mc:Choice>
              <mc:Fallback>
                <p:oleObj name="Packager Shell Object" showAsIcon="1" r:id="rId5" imgW="2083320" imgH="439560" progId="Package">
                  <p:embed/>
                  <p:pic>
                    <p:nvPicPr>
                      <p:cNvPr id="0" name=""/>
                      <p:cNvPicPr/>
                      <p:nvPr/>
                    </p:nvPicPr>
                    <p:blipFill>
                      <a:blip r:embed="rId6"/>
                      <a:stretch>
                        <a:fillRect/>
                      </a:stretch>
                    </p:blipFill>
                    <p:spPr>
                      <a:xfrm>
                        <a:off x="9391904" y="5190935"/>
                        <a:ext cx="2082800" cy="439737"/>
                      </a:xfrm>
                      <a:prstGeom prst="rect">
                        <a:avLst/>
                      </a:prstGeom>
                    </p:spPr>
                  </p:pic>
                </p:oleObj>
              </mc:Fallback>
            </mc:AlternateContent>
          </a:graphicData>
        </a:graphic>
      </p:graphicFrame>
      <p:sp>
        <p:nvSpPr>
          <p:cNvPr id="4" name="Rectangle 3"/>
          <p:cNvSpPr/>
          <p:nvPr/>
        </p:nvSpPr>
        <p:spPr>
          <a:xfrm>
            <a:off x="4766417" y="1168646"/>
            <a:ext cx="2092239" cy="369332"/>
          </a:xfrm>
          <a:prstGeom prst="rect">
            <a:avLst/>
          </a:prstGeom>
        </p:spPr>
        <p:txBody>
          <a:bodyPr wrap="none">
            <a:spAutoFit/>
          </a:bodyPr>
          <a:lstStyle/>
          <a:p>
            <a:r>
              <a:rPr lang="ar-EG" dirty="0" smtClean="0"/>
              <a:t>COUNT Function</a:t>
            </a:r>
            <a:endParaRPr lang="ar-EG" dirty="0"/>
          </a:p>
        </p:txBody>
      </p:sp>
    </p:spTree>
    <p:extLst>
      <p:ext uri="{BB962C8B-B14F-4D97-AF65-F5344CB8AC3E}">
        <p14:creationId xmlns:p14="http://schemas.microsoft.com/office/powerpoint/2010/main" val="198878109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33304" y="0"/>
            <a:ext cx="1758696" cy="1353312"/>
          </a:xfrm>
          <a:prstGeom prst="rect">
            <a:avLst/>
          </a:prstGeom>
        </p:spPr>
      </p:pic>
      <p:sp>
        <p:nvSpPr>
          <p:cNvPr id="6" name="TextBox 5"/>
          <p:cNvSpPr txBox="1"/>
          <p:nvPr/>
        </p:nvSpPr>
        <p:spPr>
          <a:xfrm>
            <a:off x="10309753" y="6488668"/>
            <a:ext cx="1882247" cy="369332"/>
          </a:xfrm>
          <a:prstGeom prst="rect">
            <a:avLst/>
          </a:prstGeom>
          <a:noFill/>
        </p:spPr>
        <p:txBody>
          <a:bodyPr wrap="none" rtlCol="1">
            <a:spAutoFit/>
          </a:bodyPr>
          <a:lstStyle/>
          <a:p>
            <a:r>
              <a:rPr lang="en-US" b="1" dirty="0" smtClean="0">
                <a:solidFill>
                  <a:schemeClr val="accent3">
                    <a:lumMod val="40000"/>
                    <a:lumOff val="60000"/>
                  </a:schemeClr>
                </a:solidFill>
              </a:rPr>
              <a:t>By </a:t>
            </a:r>
            <a:r>
              <a:rPr lang="en-US" b="1" dirty="0" err="1" smtClean="0">
                <a:solidFill>
                  <a:schemeClr val="accent3">
                    <a:lumMod val="40000"/>
                    <a:lumOff val="60000"/>
                  </a:schemeClr>
                </a:solidFill>
              </a:rPr>
              <a:t>Eslam</a:t>
            </a:r>
            <a:r>
              <a:rPr lang="en-US" b="1" dirty="0" smtClean="0">
                <a:solidFill>
                  <a:schemeClr val="accent3">
                    <a:lumMod val="40000"/>
                    <a:lumOff val="60000"/>
                  </a:schemeClr>
                </a:solidFill>
              </a:rPr>
              <a:t> </a:t>
            </a:r>
            <a:r>
              <a:rPr lang="en-US" b="1" dirty="0" err="1" smtClean="0">
                <a:solidFill>
                  <a:schemeClr val="accent3">
                    <a:lumMod val="40000"/>
                    <a:lumOff val="60000"/>
                  </a:schemeClr>
                </a:solidFill>
              </a:rPr>
              <a:t>Khder</a:t>
            </a:r>
            <a:endParaRPr lang="ar-EG" b="1" dirty="0">
              <a:solidFill>
                <a:schemeClr val="accent3">
                  <a:lumMod val="40000"/>
                  <a:lumOff val="60000"/>
                </a:schemeClr>
              </a:solidFill>
            </a:endParaRPr>
          </a:p>
        </p:txBody>
      </p:sp>
      <p:pic>
        <p:nvPicPr>
          <p:cNvPr id="2" name="Picture 1"/>
          <p:cNvPicPr>
            <a:picLocks noChangeAspect="1"/>
          </p:cNvPicPr>
          <p:nvPr/>
        </p:nvPicPr>
        <p:blipFill>
          <a:blip r:embed="rId4"/>
          <a:stretch>
            <a:fillRect/>
          </a:stretch>
        </p:blipFill>
        <p:spPr>
          <a:xfrm>
            <a:off x="360235" y="2820852"/>
            <a:ext cx="11325225" cy="2200275"/>
          </a:xfrm>
          <a:prstGeom prst="rect">
            <a:avLst/>
          </a:prstGeom>
        </p:spPr>
      </p:pic>
      <p:graphicFrame>
        <p:nvGraphicFramePr>
          <p:cNvPr id="3" name="Object 2"/>
          <p:cNvGraphicFramePr>
            <a:graphicFrameLocks noChangeAspect="1"/>
          </p:cNvGraphicFramePr>
          <p:nvPr>
            <p:extLst>
              <p:ext uri="{D42A27DB-BD31-4B8C-83A1-F6EECF244321}">
                <p14:modId xmlns:p14="http://schemas.microsoft.com/office/powerpoint/2010/main" val="1534996441"/>
              </p:ext>
            </p:extLst>
          </p:nvPr>
        </p:nvGraphicFramePr>
        <p:xfrm>
          <a:off x="7737065" y="3994142"/>
          <a:ext cx="3636103" cy="820865"/>
        </p:xfrm>
        <a:graphic>
          <a:graphicData uri="http://schemas.openxmlformats.org/presentationml/2006/ole">
            <mc:AlternateContent xmlns:mc="http://schemas.openxmlformats.org/markup-compatibility/2006">
              <mc:Choice xmlns:v="urn:schemas-microsoft-com:vml" Requires="v">
                <p:oleObj spid="_x0000_s50262" name="Packager Shell Object" showAsIcon="1" r:id="rId5" imgW="1947960" imgH="439560" progId="Package">
                  <p:embed/>
                </p:oleObj>
              </mc:Choice>
              <mc:Fallback>
                <p:oleObj name="Packager Shell Object" showAsIcon="1" r:id="rId5" imgW="1947960" imgH="439560" progId="Package">
                  <p:embed/>
                  <p:pic>
                    <p:nvPicPr>
                      <p:cNvPr id="0" name=""/>
                      <p:cNvPicPr/>
                      <p:nvPr/>
                    </p:nvPicPr>
                    <p:blipFill>
                      <a:blip r:embed="rId6"/>
                      <a:stretch>
                        <a:fillRect/>
                      </a:stretch>
                    </p:blipFill>
                    <p:spPr>
                      <a:xfrm>
                        <a:off x="7737065" y="3994142"/>
                        <a:ext cx="3636103" cy="820865"/>
                      </a:xfrm>
                      <a:prstGeom prst="rect">
                        <a:avLst/>
                      </a:prstGeom>
                    </p:spPr>
                  </p:pic>
                </p:oleObj>
              </mc:Fallback>
            </mc:AlternateContent>
          </a:graphicData>
        </a:graphic>
      </p:graphicFrame>
      <p:sp>
        <p:nvSpPr>
          <p:cNvPr id="4" name="Rectangle 3"/>
          <p:cNvSpPr/>
          <p:nvPr/>
        </p:nvSpPr>
        <p:spPr>
          <a:xfrm>
            <a:off x="5211127" y="983980"/>
            <a:ext cx="1733167" cy="369332"/>
          </a:xfrm>
          <a:prstGeom prst="rect">
            <a:avLst/>
          </a:prstGeom>
        </p:spPr>
        <p:txBody>
          <a:bodyPr wrap="none">
            <a:spAutoFit/>
          </a:bodyPr>
          <a:lstStyle/>
          <a:p>
            <a:r>
              <a:rPr lang="ar-EG" dirty="0" smtClean="0"/>
              <a:t>MAX Function</a:t>
            </a:r>
            <a:endParaRPr lang="ar-EG" dirty="0"/>
          </a:p>
        </p:txBody>
      </p:sp>
    </p:spTree>
    <p:extLst>
      <p:ext uri="{BB962C8B-B14F-4D97-AF65-F5344CB8AC3E}">
        <p14:creationId xmlns:p14="http://schemas.microsoft.com/office/powerpoint/2010/main" val="380678069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33304" y="0"/>
            <a:ext cx="1758696" cy="1353312"/>
          </a:xfrm>
          <a:prstGeom prst="rect">
            <a:avLst/>
          </a:prstGeom>
        </p:spPr>
      </p:pic>
      <p:sp>
        <p:nvSpPr>
          <p:cNvPr id="6" name="TextBox 5"/>
          <p:cNvSpPr txBox="1"/>
          <p:nvPr/>
        </p:nvSpPr>
        <p:spPr>
          <a:xfrm>
            <a:off x="10309753" y="6488668"/>
            <a:ext cx="1882247" cy="369332"/>
          </a:xfrm>
          <a:prstGeom prst="rect">
            <a:avLst/>
          </a:prstGeom>
          <a:noFill/>
        </p:spPr>
        <p:txBody>
          <a:bodyPr wrap="none" rtlCol="1">
            <a:spAutoFit/>
          </a:bodyPr>
          <a:lstStyle/>
          <a:p>
            <a:r>
              <a:rPr lang="en-US" b="1" dirty="0" smtClean="0">
                <a:solidFill>
                  <a:schemeClr val="accent3">
                    <a:lumMod val="40000"/>
                    <a:lumOff val="60000"/>
                  </a:schemeClr>
                </a:solidFill>
              </a:rPr>
              <a:t>By </a:t>
            </a:r>
            <a:r>
              <a:rPr lang="en-US" b="1" dirty="0" err="1" smtClean="0">
                <a:solidFill>
                  <a:schemeClr val="accent3">
                    <a:lumMod val="40000"/>
                    <a:lumOff val="60000"/>
                  </a:schemeClr>
                </a:solidFill>
              </a:rPr>
              <a:t>Eslam</a:t>
            </a:r>
            <a:r>
              <a:rPr lang="en-US" b="1" dirty="0" smtClean="0">
                <a:solidFill>
                  <a:schemeClr val="accent3">
                    <a:lumMod val="40000"/>
                    <a:lumOff val="60000"/>
                  </a:schemeClr>
                </a:solidFill>
              </a:rPr>
              <a:t> </a:t>
            </a:r>
            <a:r>
              <a:rPr lang="en-US" b="1" dirty="0" err="1" smtClean="0">
                <a:solidFill>
                  <a:schemeClr val="accent3">
                    <a:lumMod val="40000"/>
                    <a:lumOff val="60000"/>
                  </a:schemeClr>
                </a:solidFill>
              </a:rPr>
              <a:t>Khder</a:t>
            </a:r>
            <a:endParaRPr lang="ar-EG" b="1" dirty="0">
              <a:solidFill>
                <a:schemeClr val="accent3">
                  <a:lumMod val="40000"/>
                  <a:lumOff val="60000"/>
                </a:schemeClr>
              </a:solidFill>
            </a:endParaRPr>
          </a:p>
        </p:txBody>
      </p:sp>
      <p:pic>
        <p:nvPicPr>
          <p:cNvPr id="2" name="Picture 1"/>
          <p:cNvPicPr>
            <a:picLocks noChangeAspect="1"/>
          </p:cNvPicPr>
          <p:nvPr/>
        </p:nvPicPr>
        <p:blipFill>
          <a:blip r:embed="rId4"/>
          <a:stretch>
            <a:fillRect/>
          </a:stretch>
        </p:blipFill>
        <p:spPr>
          <a:xfrm>
            <a:off x="399478" y="2788729"/>
            <a:ext cx="11191875" cy="2066925"/>
          </a:xfrm>
          <a:prstGeom prst="rect">
            <a:avLst/>
          </a:prstGeom>
        </p:spPr>
      </p:pic>
      <p:graphicFrame>
        <p:nvGraphicFramePr>
          <p:cNvPr id="3" name="Object 2"/>
          <p:cNvGraphicFramePr>
            <a:graphicFrameLocks noChangeAspect="1"/>
          </p:cNvGraphicFramePr>
          <p:nvPr>
            <p:extLst>
              <p:ext uri="{D42A27DB-BD31-4B8C-83A1-F6EECF244321}">
                <p14:modId xmlns:p14="http://schemas.microsoft.com/office/powerpoint/2010/main" val="3550367318"/>
              </p:ext>
            </p:extLst>
          </p:nvPr>
        </p:nvGraphicFramePr>
        <p:xfrm>
          <a:off x="7965823" y="4002278"/>
          <a:ext cx="3200525" cy="734504"/>
        </p:xfrm>
        <a:graphic>
          <a:graphicData uri="http://schemas.openxmlformats.org/presentationml/2006/ole">
            <mc:AlternateContent xmlns:mc="http://schemas.openxmlformats.org/markup-compatibility/2006">
              <mc:Choice xmlns:v="urn:schemas-microsoft-com:vml" Requires="v">
                <p:oleObj spid="_x0000_s51285" name="Packager Shell Object" showAsIcon="1" r:id="rId5" imgW="1915560" imgH="439560" progId="Package">
                  <p:embed/>
                </p:oleObj>
              </mc:Choice>
              <mc:Fallback>
                <p:oleObj name="Packager Shell Object" showAsIcon="1" r:id="rId5" imgW="1915560" imgH="439560" progId="Package">
                  <p:embed/>
                  <p:pic>
                    <p:nvPicPr>
                      <p:cNvPr id="0" name=""/>
                      <p:cNvPicPr/>
                      <p:nvPr/>
                    </p:nvPicPr>
                    <p:blipFill>
                      <a:blip r:embed="rId6"/>
                      <a:stretch>
                        <a:fillRect/>
                      </a:stretch>
                    </p:blipFill>
                    <p:spPr>
                      <a:xfrm>
                        <a:off x="7965823" y="4002278"/>
                        <a:ext cx="3200525" cy="734504"/>
                      </a:xfrm>
                      <a:prstGeom prst="rect">
                        <a:avLst/>
                      </a:prstGeom>
                    </p:spPr>
                  </p:pic>
                </p:oleObj>
              </mc:Fallback>
            </mc:AlternateContent>
          </a:graphicData>
        </a:graphic>
      </p:graphicFrame>
      <p:sp>
        <p:nvSpPr>
          <p:cNvPr id="4" name="Rectangle 3"/>
          <p:cNvSpPr/>
          <p:nvPr/>
        </p:nvSpPr>
        <p:spPr>
          <a:xfrm>
            <a:off x="4496718" y="983980"/>
            <a:ext cx="1645001" cy="369332"/>
          </a:xfrm>
          <a:prstGeom prst="rect">
            <a:avLst/>
          </a:prstGeom>
        </p:spPr>
        <p:txBody>
          <a:bodyPr wrap="none">
            <a:spAutoFit/>
          </a:bodyPr>
          <a:lstStyle/>
          <a:p>
            <a:r>
              <a:rPr lang="ar-EG" dirty="0" smtClean="0"/>
              <a:t>MIN Function</a:t>
            </a:r>
            <a:endParaRPr lang="ar-EG" dirty="0"/>
          </a:p>
        </p:txBody>
      </p:sp>
    </p:spTree>
    <p:extLst>
      <p:ext uri="{BB962C8B-B14F-4D97-AF65-F5344CB8AC3E}">
        <p14:creationId xmlns:p14="http://schemas.microsoft.com/office/powerpoint/2010/main" val="115085778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33304" y="0"/>
            <a:ext cx="1758696" cy="1353312"/>
          </a:xfrm>
          <a:prstGeom prst="rect">
            <a:avLst/>
          </a:prstGeom>
        </p:spPr>
      </p:pic>
      <p:sp>
        <p:nvSpPr>
          <p:cNvPr id="6" name="TextBox 5"/>
          <p:cNvSpPr txBox="1"/>
          <p:nvPr/>
        </p:nvSpPr>
        <p:spPr>
          <a:xfrm>
            <a:off x="10309753" y="6488668"/>
            <a:ext cx="1882247" cy="369332"/>
          </a:xfrm>
          <a:prstGeom prst="rect">
            <a:avLst/>
          </a:prstGeom>
          <a:noFill/>
        </p:spPr>
        <p:txBody>
          <a:bodyPr wrap="none" rtlCol="1">
            <a:spAutoFit/>
          </a:bodyPr>
          <a:lstStyle/>
          <a:p>
            <a:r>
              <a:rPr lang="en-US" b="1" dirty="0" smtClean="0">
                <a:solidFill>
                  <a:schemeClr val="accent3">
                    <a:lumMod val="40000"/>
                    <a:lumOff val="60000"/>
                  </a:schemeClr>
                </a:solidFill>
              </a:rPr>
              <a:t>By </a:t>
            </a:r>
            <a:r>
              <a:rPr lang="en-US" b="1" dirty="0" err="1" smtClean="0">
                <a:solidFill>
                  <a:schemeClr val="accent3">
                    <a:lumMod val="40000"/>
                    <a:lumOff val="60000"/>
                  </a:schemeClr>
                </a:solidFill>
              </a:rPr>
              <a:t>Eslam</a:t>
            </a:r>
            <a:r>
              <a:rPr lang="en-US" b="1" dirty="0" smtClean="0">
                <a:solidFill>
                  <a:schemeClr val="accent3">
                    <a:lumMod val="40000"/>
                    <a:lumOff val="60000"/>
                  </a:schemeClr>
                </a:solidFill>
              </a:rPr>
              <a:t> </a:t>
            </a:r>
            <a:r>
              <a:rPr lang="en-US" b="1" dirty="0" err="1" smtClean="0">
                <a:solidFill>
                  <a:schemeClr val="accent3">
                    <a:lumMod val="40000"/>
                    <a:lumOff val="60000"/>
                  </a:schemeClr>
                </a:solidFill>
              </a:rPr>
              <a:t>Khder</a:t>
            </a:r>
            <a:endParaRPr lang="ar-EG" b="1" dirty="0">
              <a:solidFill>
                <a:schemeClr val="accent3">
                  <a:lumMod val="40000"/>
                  <a:lumOff val="60000"/>
                </a:schemeClr>
              </a:solidFill>
            </a:endParaRPr>
          </a:p>
        </p:txBody>
      </p:sp>
      <p:pic>
        <p:nvPicPr>
          <p:cNvPr id="2" name="Picture 1"/>
          <p:cNvPicPr>
            <a:picLocks noChangeAspect="1"/>
          </p:cNvPicPr>
          <p:nvPr/>
        </p:nvPicPr>
        <p:blipFill>
          <a:blip r:embed="rId4"/>
          <a:stretch>
            <a:fillRect/>
          </a:stretch>
        </p:blipFill>
        <p:spPr>
          <a:xfrm>
            <a:off x="219677" y="3136614"/>
            <a:ext cx="11613406" cy="2428875"/>
          </a:xfrm>
          <a:prstGeom prst="rect">
            <a:avLst/>
          </a:prstGeom>
        </p:spPr>
      </p:pic>
      <p:graphicFrame>
        <p:nvGraphicFramePr>
          <p:cNvPr id="3" name="Object 2"/>
          <p:cNvGraphicFramePr>
            <a:graphicFrameLocks noChangeAspect="1"/>
          </p:cNvGraphicFramePr>
          <p:nvPr>
            <p:extLst>
              <p:ext uri="{D42A27DB-BD31-4B8C-83A1-F6EECF244321}">
                <p14:modId xmlns:p14="http://schemas.microsoft.com/office/powerpoint/2010/main" val="2943185133"/>
              </p:ext>
            </p:extLst>
          </p:nvPr>
        </p:nvGraphicFramePr>
        <p:xfrm>
          <a:off x="8553955" y="4715139"/>
          <a:ext cx="2367920" cy="536316"/>
        </p:xfrm>
        <a:graphic>
          <a:graphicData uri="http://schemas.openxmlformats.org/presentationml/2006/ole">
            <mc:AlternateContent xmlns:mc="http://schemas.openxmlformats.org/markup-compatibility/2006">
              <mc:Choice xmlns:v="urn:schemas-microsoft-com:vml" Requires="v">
                <p:oleObj spid="_x0000_s52308" name="Packager Shell Object" showAsIcon="1" r:id="rId5" imgW="1941480" imgH="439560" progId="Package">
                  <p:embed/>
                </p:oleObj>
              </mc:Choice>
              <mc:Fallback>
                <p:oleObj name="Packager Shell Object" showAsIcon="1" r:id="rId5" imgW="1941480" imgH="439560" progId="Package">
                  <p:embed/>
                  <p:pic>
                    <p:nvPicPr>
                      <p:cNvPr id="0" name=""/>
                      <p:cNvPicPr/>
                      <p:nvPr/>
                    </p:nvPicPr>
                    <p:blipFill>
                      <a:blip r:embed="rId6"/>
                      <a:stretch>
                        <a:fillRect/>
                      </a:stretch>
                    </p:blipFill>
                    <p:spPr>
                      <a:xfrm>
                        <a:off x="8553955" y="4715139"/>
                        <a:ext cx="2367920" cy="536316"/>
                      </a:xfrm>
                      <a:prstGeom prst="rect">
                        <a:avLst/>
                      </a:prstGeom>
                    </p:spPr>
                  </p:pic>
                </p:oleObj>
              </mc:Fallback>
            </mc:AlternateContent>
          </a:graphicData>
        </a:graphic>
      </p:graphicFrame>
      <p:sp>
        <p:nvSpPr>
          <p:cNvPr id="4" name="Rectangle 3"/>
          <p:cNvSpPr/>
          <p:nvPr/>
        </p:nvSpPr>
        <p:spPr>
          <a:xfrm>
            <a:off x="5274480" y="1570982"/>
            <a:ext cx="1686679" cy="369332"/>
          </a:xfrm>
          <a:prstGeom prst="rect">
            <a:avLst/>
          </a:prstGeom>
        </p:spPr>
        <p:txBody>
          <a:bodyPr wrap="none">
            <a:spAutoFit/>
          </a:bodyPr>
          <a:lstStyle/>
          <a:p>
            <a:r>
              <a:rPr lang="ar-EG" dirty="0" smtClean="0"/>
              <a:t>SUM Function</a:t>
            </a:r>
            <a:endParaRPr lang="ar-EG" dirty="0"/>
          </a:p>
        </p:txBody>
      </p:sp>
    </p:spTree>
    <p:extLst>
      <p:ext uri="{BB962C8B-B14F-4D97-AF65-F5344CB8AC3E}">
        <p14:creationId xmlns:p14="http://schemas.microsoft.com/office/powerpoint/2010/main" val="203215037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33304" y="0"/>
            <a:ext cx="1758696" cy="1353312"/>
          </a:xfrm>
          <a:prstGeom prst="rect">
            <a:avLst/>
          </a:prstGeom>
        </p:spPr>
      </p:pic>
      <p:sp>
        <p:nvSpPr>
          <p:cNvPr id="6" name="TextBox 5"/>
          <p:cNvSpPr txBox="1"/>
          <p:nvPr/>
        </p:nvSpPr>
        <p:spPr>
          <a:xfrm>
            <a:off x="10309753" y="6488668"/>
            <a:ext cx="1882247" cy="369332"/>
          </a:xfrm>
          <a:prstGeom prst="rect">
            <a:avLst/>
          </a:prstGeom>
          <a:noFill/>
        </p:spPr>
        <p:txBody>
          <a:bodyPr wrap="none" rtlCol="1">
            <a:spAutoFit/>
          </a:bodyPr>
          <a:lstStyle/>
          <a:p>
            <a:r>
              <a:rPr lang="en-US" b="1" dirty="0" smtClean="0">
                <a:solidFill>
                  <a:schemeClr val="accent3">
                    <a:lumMod val="40000"/>
                    <a:lumOff val="60000"/>
                  </a:schemeClr>
                </a:solidFill>
              </a:rPr>
              <a:t>By </a:t>
            </a:r>
            <a:r>
              <a:rPr lang="en-US" b="1" dirty="0" err="1" smtClean="0">
                <a:solidFill>
                  <a:schemeClr val="accent3">
                    <a:lumMod val="40000"/>
                    <a:lumOff val="60000"/>
                  </a:schemeClr>
                </a:solidFill>
              </a:rPr>
              <a:t>Eslam</a:t>
            </a:r>
            <a:r>
              <a:rPr lang="en-US" b="1" dirty="0" smtClean="0">
                <a:solidFill>
                  <a:schemeClr val="accent3">
                    <a:lumMod val="40000"/>
                    <a:lumOff val="60000"/>
                  </a:schemeClr>
                </a:solidFill>
              </a:rPr>
              <a:t> </a:t>
            </a:r>
            <a:r>
              <a:rPr lang="en-US" b="1" dirty="0" err="1" smtClean="0">
                <a:solidFill>
                  <a:schemeClr val="accent3">
                    <a:lumMod val="40000"/>
                    <a:lumOff val="60000"/>
                  </a:schemeClr>
                </a:solidFill>
              </a:rPr>
              <a:t>Khder</a:t>
            </a:r>
            <a:endParaRPr lang="ar-EG" b="1" dirty="0">
              <a:solidFill>
                <a:schemeClr val="accent3">
                  <a:lumMod val="40000"/>
                  <a:lumOff val="60000"/>
                </a:schemeClr>
              </a:solidFill>
            </a:endParaRPr>
          </a:p>
        </p:txBody>
      </p:sp>
      <p:pic>
        <p:nvPicPr>
          <p:cNvPr id="2" name="Picture 1"/>
          <p:cNvPicPr>
            <a:picLocks noChangeAspect="1"/>
          </p:cNvPicPr>
          <p:nvPr/>
        </p:nvPicPr>
        <p:blipFill>
          <a:blip r:embed="rId4"/>
          <a:stretch>
            <a:fillRect/>
          </a:stretch>
        </p:blipFill>
        <p:spPr>
          <a:xfrm>
            <a:off x="743728" y="806168"/>
            <a:ext cx="7737799" cy="5969754"/>
          </a:xfrm>
          <a:prstGeom prst="rect">
            <a:avLst/>
          </a:prstGeom>
        </p:spPr>
      </p:pic>
      <p:graphicFrame>
        <p:nvGraphicFramePr>
          <p:cNvPr id="3" name="Object 2"/>
          <p:cNvGraphicFramePr>
            <a:graphicFrameLocks noChangeAspect="1"/>
          </p:cNvGraphicFramePr>
          <p:nvPr>
            <p:extLst>
              <p:ext uri="{D42A27DB-BD31-4B8C-83A1-F6EECF244321}">
                <p14:modId xmlns:p14="http://schemas.microsoft.com/office/powerpoint/2010/main" val="2557671236"/>
              </p:ext>
            </p:extLst>
          </p:nvPr>
        </p:nvGraphicFramePr>
        <p:xfrm>
          <a:off x="5352278" y="2626924"/>
          <a:ext cx="2695575" cy="439737"/>
        </p:xfrm>
        <a:graphic>
          <a:graphicData uri="http://schemas.openxmlformats.org/presentationml/2006/ole">
            <mc:AlternateContent xmlns:mc="http://schemas.openxmlformats.org/markup-compatibility/2006">
              <mc:Choice xmlns:v="urn:schemas-microsoft-com:vml" Requires="v">
                <p:oleObj spid="_x0000_s53330" name="Packager Shell Object" showAsIcon="1" r:id="rId5" imgW="2696040" imgH="439560" progId="Package">
                  <p:embed/>
                </p:oleObj>
              </mc:Choice>
              <mc:Fallback>
                <p:oleObj name="Packager Shell Object" showAsIcon="1" r:id="rId5" imgW="2696040" imgH="439560" progId="Package">
                  <p:embed/>
                  <p:pic>
                    <p:nvPicPr>
                      <p:cNvPr id="0" name=""/>
                      <p:cNvPicPr/>
                      <p:nvPr/>
                    </p:nvPicPr>
                    <p:blipFill>
                      <a:blip r:embed="rId6"/>
                      <a:stretch>
                        <a:fillRect/>
                      </a:stretch>
                    </p:blipFill>
                    <p:spPr>
                      <a:xfrm>
                        <a:off x="5352278" y="2626924"/>
                        <a:ext cx="2695575" cy="439737"/>
                      </a:xfrm>
                      <a:prstGeom prst="rect">
                        <a:avLst/>
                      </a:prstGeom>
                    </p:spPr>
                  </p:pic>
                </p:oleObj>
              </mc:Fallback>
            </mc:AlternateContent>
          </a:graphicData>
        </a:graphic>
      </p:graphicFrame>
      <p:sp>
        <p:nvSpPr>
          <p:cNvPr id="4" name="Rectangle 3"/>
          <p:cNvSpPr/>
          <p:nvPr/>
        </p:nvSpPr>
        <p:spPr>
          <a:xfrm>
            <a:off x="4612627" y="307324"/>
            <a:ext cx="2183611" cy="369332"/>
          </a:xfrm>
          <a:prstGeom prst="rect">
            <a:avLst/>
          </a:prstGeom>
        </p:spPr>
        <p:txBody>
          <a:bodyPr wrap="none">
            <a:spAutoFit/>
          </a:bodyPr>
          <a:lstStyle/>
          <a:p>
            <a:r>
              <a:rPr lang="ar-EG" dirty="0" smtClean="0"/>
              <a:t>GROUP BY Clause</a:t>
            </a:r>
            <a:endParaRPr lang="ar-EG" dirty="0"/>
          </a:p>
        </p:txBody>
      </p:sp>
    </p:spTree>
    <p:extLst>
      <p:ext uri="{BB962C8B-B14F-4D97-AF65-F5344CB8AC3E}">
        <p14:creationId xmlns:p14="http://schemas.microsoft.com/office/powerpoint/2010/main" val="371567725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33304" y="0"/>
            <a:ext cx="1758696" cy="1353312"/>
          </a:xfrm>
          <a:prstGeom prst="rect">
            <a:avLst/>
          </a:prstGeom>
        </p:spPr>
      </p:pic>
      <p:sp>
        <p:nvSpPr>
          <p:cNvPr id="6" name="TextBox 5"/>
          <p:cNvSpPr txBox="1"/>
          <p:nvPr/>
        </p:nvSpPr>
        <p:spPr>
          <a:xfrm>
            <a:off x="10309753" y="6488668"/>
            <a:ext cx="1882247" cy="369332"/>
          </a:xfrm>
          <a:prstGeom prst="rect">
            <a:avLst/>
          </a:prstGeom>
          <a:noFill/>
        </p:spPr>
        <p:txBody>
          <a:bodyPr wrap="none" rtlCol="1">
            <a:spAutoFit/>
          </a:bodyPr>
          <a:lstStyle/>
          <a:p>
            <a:r>
              <a:rPr lang="en-US" b="1" dirty="0" smtClean="0">
                <a:solidFill>
                  <a:schemeClr val="accent3">
                    <a:lumMod val="40000"/>
                    <a:lumOff val="60000"/>
                  </a:schemeClr>
                </a:solidFill>
              </a:rPr>
              <a:t>By </a:t>
            </a:r>
            <a:r>
              <a:rPr lang="en-US" b="1" dirty="0" err="1" smtClean="0">
                <a:solidFill>
                  <a:schemeClr val="accent3">
                    <a:lumMod val="40000"/>
                    <a:lumOff val="60000"/>
                  </a:schemeClr>
                </a:solidFill>
              </a:rPr>
              <a:t>Eslam</a:t>
            </a:r>
            <a:r>
              <a:rPr lang="en-US" b="1" dirty="0" smtClean="0">
                <a:solidFill>
                  <a:schemeClr val="accent3">
                    <a:lumMod val="40000"/>
                    <a:lumOff val="60000"/>
                  </a:schemeClr>
                </a:solidFill>
              </a:rPr>
              <a:t> </a:t>
            </a:r>
            <a:r>
              <a:rPr lang="en-US" b="1" dirty="0" err="1" smtClean="0">
                <a:solidFill>
                  <a:schemeClr val="accent3">
                    <a:lumMod val="40000"/>
                    <a:lumOff val="60000"/>
                  </a:schemeClr>
                </a:solidFill>
              </a:rPr>
              <a:t>Khder</a:t>
            </a:r>
            <a:endParaRPr lang="ar-EG" b="1" dirty="0">
              <a:solidFill>
                <a:schemeClr val="accent3">
                  <a:lumMod val="40000"/>
                  <a:lumOff val="60000"/>
                </a:schemeClr>
              </a:solidFill>
            </a:endParaRPr>
          </a:p>
        </p:txBody>
      </p:sp>
      <p:pic>
        <p:nvPicPr>
          <p:cNvPr id="2" name="Picture 1"/>
          <p:cNvPicPr>
            <a:picLocks noChangeAspect="1"/>
          </p:cNvPicPr>
          <p:nvPr/>
        </p:nvPicPr>
        <p:blipFill>
          <a:blip r:embed="rId4"/>
          <a:stretch>
            <a:fillRect/>
          </a:stretch>
        </p:blipFill>
        <p:spPr>
          <a:xfrm>
            <a:off x="785326" y="1353312"/>
            <a:ext cx="8983825" cy="5302916"/>
          </a:xfrm>
          <a:prstGeom prst="rect">
            <a:avLst/>
          </a:prstGeom>
        </p:spPr>
      </p:pic>
      <p:graphicFrame>
        <p:nvGraphicFramePr>
          <p:cNvPr id="3" name="Object 2"/>
          <p:cNvGraphicFramePr>
            <a:graphicFrameLocks noChangeAspect="1"/>
          </p:cNvGraphicFramePr>
          <p:nvPr>
            <p:extLst>
              <p:ext uri="{D42A27DB-BD31-4B8C-83A1-F6EECF244321}">
                <p14:modId xmlns:p14="http://schemas.microsoft.com/office/powerpoint/2010/main" val="2967007278"/>
              </p:ext>
            </p:extLst>
          </p:nvPr>
        </p:nvGraphicFramePr>
        <p:xfrm>
          <a:off x="6471589" y="3205421"/>
          <a:ext cx="2901464" cy="657451"/>
        </p:xfrm>
        <a:graphic>
          <a:graphicData uri="http://schemas.openxmlformats.org/presentationml/2006/ole">
            <mc:AlternateContent xmlns:mc="http://schemas.openxmlformats.org/markup-compatibility/2006">
              <mc:Choice xmlns:v="urn:schemas-microsoft-com:vml" Requires="v">
                <p:oleObj spid="_x0000_s54354" name="Packager Shell Object" showAsIcon="1" r:id="rId5" imgW="2696040" imgH="439560" progId="Package">
                  <p:embed/>
                </p:oleObj>
              </mc:Choice>
              <mc:Fallback>
                <p:oleObj name="Packager Shell Object" showAsIcon="1" r:id="rId5" imgW="2696040" imgH="439560" progId="Package">
                  <p:embed/>
                  <p:pic>
                    <p:nvPicPr>
                      <p:cNvPr id="0" name=""/>
                      <p:cNvPicPr/>
                      <p:nvPr/>
                    </p:nvPicPr>
                    <p:blipFill>
                      <a:blip r:embed="rId6"/>
                      <a:stretch>
                        <a:fillRect/>
                      </a:stretch>
                    </p:blipFill>
                    <p:spPr>
                      <a:xfrm>
                        <a:off x="6471589" y="3205421"/>
                        <a:ext cx="2901464" cy="657451"/>
                      </a:xfrm>
                      <a:prstGeom prst="rect">
                        <a:avLst/>
                      </a:prstGeom>
                    </p:spPr>
                  </p:pic>
                </p:oleObj>
              </mc:Fallback>
            </mc:AlternateContent>
          </a:graphicData>
        </a:graphic>
      </p:graphicFrame>
      <p:sp>
        <p:nvSpPr>
          <p:cNvPr id="4" name="Rectangle 3"/>
          <p:cNvSpPr/>
          <p:nvPr/>
        </p:nvSpPr>
        <p:spPr>
          <a:xfrm>
            <a:off x="4194064" y="491990"/>
            <a:ext cx="2247730" cy="369332"/>
          </a:xfrm>
          <a:prstGeom prst="rect">
            <a:avLst/>
          </a:prstGeom>
        </p:spPr>
        <p:txBody>
          <a:bodyPr wrap="none">
            <a:spAutoFit/>
          </a:bodyPr>
          <a:lstStyle/>
          <a:p>
            <a:r>
              <a:rPr lang="ar-EG" dirty="0"/>
              <a:t>GROUP BY Clause </a:t>
            </a:r>
          </a:p>
        </p:txBody>
      </p:sp>
    </p:spTree>
    <p:extLst>
      <p:ext uri="{BB962C8B-B14F-4D97-AF65-F5344CB8AC3E}">
        <p14:creationId xmlns:p14="http://schemas.microsoft.com/office/powerpoint/2010/main" val="51744902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33304" y="0"/>
            <a:ext cx="1758696" cy="1353312"/>
          </a:xfrm>
          <a:prstGeom prst="rect">
            <a:avLst/>
          </a:prstGeom>
        </p:spPr>
      </p:pic>
      <p:sp>
        <p:nvSpPr>
          <p:cNvPr id="6" name="TextBox 5"/>
          <p:cNvSpPr txBox="1"/>
          <p:nvPr/>
        </p:nvSpPr>
        <p:spPr>
          <a:xfrm>
            <a:off x="10309753" y="6488668"/>
            <a:ext cx="1882247" cy="369332"/>
          </a:xfrm>
          <a:prstGeom prst="rect">
            <a:avLst/>
          </a:prstGeom>
          <a:noFill/>
        </p:spPr>
        <p:txBody>
          <a:bodyPr wrap="none" rtlCol="1">
            <a:spAutoFit/>
          </a:bodyPr>
          <a:lstStyle/>
          <a:p>
            <a:r>
              <a:rPr lang="en-US" b="1" dirty="0" smtClean="0">
                <a:solidFill>
                  <a:schemeClr val="accent3">
                    <a:lumMod val="40000"/>
                    <a:lumOff val="60000"/>
                  </a:schemeClr>
                </a:solidFill>
              </a:rPr>
              <a:t>By </a:t>
            </a:r>
            <a:r>
              <a:rPr lang="en-US" b="1" dirty="0" err="1" smtClean="0">
                <a:solidFill>
                  <a:schemeClr val="accent3">
                    <a:lumMod val="40000"/>
                    <a:lumOff val="60000"/>
                  </a:schemeClr>
                </a:solidFill>
              </a:rPr>
              <a:t>Eslam</a:t>
            </a:r>
            <a:r>
              <a:rPr lang="en-US" b="1" dirty="0" smtClean="0">
                <a:solidFill>
                  <a:schemeClr val="accent3">
                    <a:lumMod val="40000"/>
                    <a:lumOff val="60000"/>
                  </a:schemeClr>
                </a:solidFill>
              </a:rPr>
              <a:t> </a:t>
            </a:r>
            <a:r>
              <a:rPr lang="en-US" b="1" dirty="0" err="1" smtClean="0">
                <a:solidFill>
                  <a:schemeClr val="accent3">
                    <a:lumMod val="40000"/>
                    <a:lumOff val="60000"/>
                  </a:schemeClr>
                </a:solidFill>
              </a:rPr>
              <a:t>Khder</a:t>
            </a:r>
            <a:endParaRPr lang="ar-EG" b="1" dirty="0">
              <a:solidFill>
                <a:schemeClr val="accent3">
                  <a:lumMod val="40000"/>
                  <a:lumOff val="60000"/>
                </a:schemeClr>
              </a:solidFill>
            </a:endParaRPr>
          </a:p>
        </p:txBody>
      </p:sp>
      <p:pic>
        <p:nvPicPr>
          <p:cNvPr id="2" name="Picture 1"/>
          <p:cNvPicPr>
            <a:picLocks noChangeAspect="1"/>
          </p:cNvPicPr>
          <p:nvPr/>
        </p:nvPicPr>
        <p:blipFill>
          <a:blip r:embed="rId4"/>
          <a:stretch>
            <a:fillRect/>
          </a:stretch>
        </p:blipFill>
        <p:spPr>
          <a:xfrm>
            <a:off x="384239" y="1372265"/>
            <a:ext cx="6537770" cy="5301069"/>
          </a:xfrm>
          <a:prstGeom prst="rect">
            <a:avLst/>
          </a:prstGeom>
        </p:spPr>
      </p:pic>
      <p:graphicFrame>
        <p:nvGraphicFramePr>
          <p:cNvPr id="3" name="Object 2"/>
          <p:cNvGraphicFramePr>
            <a:graphicFrameLocks noChangeAspect="1"/>
          </p:cNvGraphicFramePr>
          <p:nvPr>
            <p:extLst>
              <p:ext uri="{D42A27DB-BD31-4B8C-83A1-F6EECF244321}">
                <p14:modId xmlns:p14="http://schemas.microsoft.com/office/powerpoint/2010/main" val="1903004891"/>
              </p:ext>
            </p:extLst>
          </p:nvPr>
        </p:nvGraphicFramePr>
        <p:xfrm>
          <a:off x="3545331" y="5792073"/>
          <a:ext cx="3198801" cy="696595"/>
        </p:xfrm>
        <a:graphic>
          <a:graphicData uri="http://schemas.openxmlformats.org/presentationml/2006/ole">
            <mc:AlternateContent xmlns:mc="http://schemas.openxmlformats.org/markup-compatibility/2006">
              <mc:Choice xmlns:v="urn:schemas-microsoft-com:vml" Requires="v">
                <p:oleObj spid="_x0000_s55377" name="Packager Shell Object" showAsIcon="1" r:id="rId5" imgW="2018880" imgH="439560" progId="Package">
                  <p:embed/>
                </p:oleObj>
              </mc:Choice>
              <mc:Fallback>
                <p:oleObj name="Packager Shell Object" showAsIcon="1" r:id="rId5" imgW="2018880" imgH="439560" progId="Package">
                  <p:embed/>
                  <p:pic>
                    <p:nvPicPr>
                      <p:cNvPr id="0" name=""/>
                      <p:cNvPicPr/>
                      <p:nvPr/>
                    </p:nvPicPr>
                    <p:blipFill>
                      <a:blip r:embed="rId6"/>
                      <a:stretch>
                        <a:fillRect/>
                      </a:stretch>
                    </p:blipFill>
                    <p:spPr>
                      <a:xfrm>
                        <a:off x="3545331" y="5792073"/>
                        <a:ext cx="3198801" cy="696595"/>
                      </a:xfrm>
                      <a:prstGeom prst="rect">
                        <a:avLst/>
                      </a:prstGeom>
                    </p:spPr>
                  </p:pic>
                </p:oleObj>
              </mc:Fallback>
            </mc:AlternateContent>
          </a:graphicData>
        </a:graphic>
      </p:graphicFrame>
      <p:sp>
        <p:nvSpPr>
          <p:cNvPr id="4" name="Rectangle 3"/>
          <p:cNvSpPr/>
          <p:nvPr/>
        </p:nvSpPr>
        <p:spPr>
          <a:xfrm>
            <a:off x="5080010" y="601718"/>
            <a:ext cx="2013692" cy="369332"/>
          </a:xfrm>
          <a:prstGeom prst="rect">
            <a:avLst/>
          </a:prstGeom>
        </p:spPr>
        <p:txBody>
          <a:bodyPr wrap="none">
            <a:spAutoFit/>
          </a:bodyPr>
          <a:lstStyle/>
          <a:p>
            <a:r>
              <a:rPr lang="ar-EG" dirty="0" smtClean="0"/>
              <a:t>HAVING Clause</a:t>
            </a:r>
            <a:endParaRPr lang="ar-EG" dirty="0"/>
          </a:p>
        </p:txBody>
      </p:sp>
    </p:spTree>
    <p:extLst>
      <p:ext uri="{BB962C8B-B14F-4D97-AF65-F5344CB8AC3E}">
        <p14:creationId xmlns:p14="http://schemas.microsoft.com/office/powerpoint/2010/main" val="72257424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3304" y="0"/>
            <a:ext cx="1758696" cy="1353312"/>
          </a:xfrm>
          <a:prstGeom prst="rect">
            <a:avLst/>
          </a:prstGeom>
        </p:spPr>
      </p:pic>
      <p:sp>
        <p:nvSpPr>
          <p:cNvPr id="6" name="TextBox 5"/>
          <p:cNvSpPr txBox="1"/>
          <p:nvPr/>
        </p:nvSpPr>
        <p:spPr>
          <a:xfrm>
            <a:off x="10309753" y="6488668"/>
            <a:ext cx="1882247" cy="369332"/>
          </a:xfrm>
          <a:prstGeom prst="rect">
            <a:avLst/>
          </a:prstGeom>
          <a:noFill/>
        </p:spPr>
        <p:txBody>
          <a:bodyPr wrap="none" rtlCol="1">
            <a:spAutoFit/>
          </a:bodyPr>
          <a:lstStyle/>
          <a:p>
            <a:r>
              <a:rPr lang="en-US" b="1" dirty="0" smtClean="0">
                <a:solidFill>
                  <a:schemeClr val="accent3">
                    <a:lumMod val="40000"/>
                    <a:lumOff val="60000"/>
                  </a:schemeClr>
                </a:solidFill>
              </a:rPr>
              <a:t>By </a:t>
            </a:r>
            <a:r>
              <a:rPr lang="en-US" b="1" dirty="0" err="1" smtClean="0">
                <a:solidFill>
                  <a:schemeClr val="accent3">
                    <a:lumMod val="40000"/>
                    <a:lumOff val="60000"/>
                  </a:schemeClr>
                </a:solidFill>
              </a:rPr>
              <a:t>Eslam</a:t>
            </a:r>
            <a:r>
              <a:rPr lang="en-US" b="1" dirty="0" smtClean="0">
                <a:solidFill>
                  <a:schemeClr val="accent3">
                    <a:lumMod val="40000"/>
                    <a:lumOff val="60000"/>
                  </a:schemeClr>
                </a:solidFill>
              </a:rPr>
              <a:t> </a:t>
            </a:r>
            <a:r>
              <a:rPr lang="en-US" b="1" dirty="0" err="1" smtClean="0">
                <a:solidFill>
                  <a:schemeClr val="accent3">
                    <a:lumMod val="40000"/>
                    <a:lumOff val="60000"/>
                  </a:schemeClr>
                </a:solidFill>
              </a:rPr>
              <a:t>Khder</a:t>
            </a:r>
            <a:endParaRPr lang="ar-EG" b="1" dirty="0">
              <a:solidFill>
                <a:schemeClr val="accent3">
                  <a:lumMod val="40000"/>
                  <a:lumOff val="60000"/>
                </a:schemeClr>
              </a:solidFill>
            </a:endParaRPr>
          </a:p>
        </p:txBody>
      </p:sp>
      <p:sp>
        <p:nvSpPr>
          <p:cNvPr id="4" name="Rectangle 3"/>
          <p:cNvSpPr/>
          <p:nvPr/>
        </p:nvSpPr>
        <p:spPr>
          <a:xfrm>
            <a:off x="620421" y="3435798"/>
            <a:ext cx="4441585" cy="369332"/>
          </a:xfrm>
          <a:prstGeom prst="rect">
            <a:avLst/>
          </a:prstGeom>
        </p:spPr>
        <p:txBody>
          <a:bodyPr wrap="square">
            <a:spAutoFit/>
          </a:bodyPr>
          <a:lstStyle/>
          <a:p>
            <a:pPr lvl="1" algn="l"/>
            <a:r>
              <a:rPr lang="en-US" b="1" dirty="0">
                <a:latin typeface="Courier New" panose="02070309020205020404" pitchFamily="49" charset="0"/>
              </a:rPr>
              <a:t>Join with the USING Clause</a:t>
            </a:r>
            <a:endParaRPr lang="ar-EG" b="1" dirty="0"/>
          </a:p>
        </p:txBody>
      </p:sp>
      <p:sp>
        <p:nvSpPr>
          <p:cNvPr id="7" name="Rectangle 6"/>
          <p:cNvSpPr/>
          <p:nvPr/>
        </p:nvSpPr>
        <p:spPr>
          <a:xfrm>
            <a:off x="713972" y="2484807"/>
            <a:ext cx="1838965" cy="369332"/>
          </a:xfrm>
          <a:prstGeom prst="rect">
            <a:avLst/>
          </a:prstGeom>
        </p:spPr>
        <p:txBody>
          <a:bodyPr wrap="none">
            <a:spAutoFit/>
          </a:bodyPr>
          <a:lstStyle/>
          <a:p>
            <a:r>
              <a:rPr lang="en-US" b="1" dirty="0" smtClean="0">
                <a:latin typeface="Courier New" panose="02070309020205020404" pitchFamily="49" charset="0"/>
              </a:rPr>
              <a:t>Natural </a:t>
            </a:r>
            <a:r>
              <a:rPr lang="en-US" b="1" dirty="0">
                <a:latin typeface="Courier New" panose="02070309020205020404" pitchFamily="49" charset="0"/>
              </a:rPr>
              <a:t>Join</a:t>
            </a:r>
            <a:endParaRPr lang="ar-EG" b="1" dirty="0"/>
          </a:p>
        </p:txBody>
      </p:sp>
      <p:sp>
        <p:nvSpPr>
          <p:cNvPr id="8" name="Rectangle 7"/>
          <p:cNvSpPr/>
          <p:nvPr/>
        </p:nvSpPr>
        <p:spPr>
          <a:xfrm>
            <a:off x="1450127" y="839462"/>
            <a:ext cx="8186857" cy="707886"/>
          </a:xfrm>
          <a:prstGeom prst="rect">
            <a:avLst/>
          </a:prstGeom>
        </p:spPr>
        <p:txBody>
          <a:bodyPr wrap="none">
            <a:spAutoFit/>
          </a:bodyPr>
          <a:lstStyle/>
          <a:p>
            <a:r>
              <a:rPr lang="en-US" sz="4000" b="1" dirty="0" smtClean="0">
                <a:latin typeface="Courier New" panose="02070309020205020404" pitchFamily="49" charset="0"/>
              </a:rPr>
              <a:t>Join with the USING Clause</a:t>
            </a:r>
            <a:endParaRPr lang="ar-EG" sz="4000" b="1" dirty="0"/>
          </a:p>
        </p:txBody>
      </p:sp>
      <p:sp>
        <p:nvSpPr>
          <p:cNvPr id="3" name="Rectangle 2"/>
          <p:cNvSpPr/>
          <p:nvPr/>
        </p:nvSpPr>
        <p:spPr>
          <a:xfrm>
            <a:off x="528981" y="4264657"/>
            <a:ext cx="1326004" cy="369332"/>
          </a:xfrm>
          <a:prstGeom prst="rect">
            <a:avLst/>
          </a:prstGeom>
        </p:spPr>
        <p:txBody>
          <a:bodyPr wrap="none">
            <a:spAutoFit/>
          </a:bodyPr>
          <a:lstStyle/>
          <a:p>
            <a:r>
              <a:rPr lang="en-US" b="1" dirty="0"/>
              <a:t>I</a:t>
            </a:r>
            <a:r>
              <a:rPr lang="ar-EG" b="1" dirty="0"/>
              <a:t>nner Join </a:t>
            </a:r>
          </a:p>
        </p:txBody>
      </p:sp>
      <p:sp>
        <p:nvSpPr>
          <p:cNvPr id="12" name="Rectangle 11"/>
          <p:cNvSpPr/>
          <p:nvPr/>
        </p:nvSpPr>
        <p:spPr>
          <a:xfrm>
            <a:off x="7698428" y="2560093"/>
            <a:ext cx="3558987" cy="369332"/>
          </a:xfrm>
          <a:prstGeom prst="rect">
            <a:avLst/>
          </a:prstGeom>
        </p:spPr>
        <p:txBody>
          <a:bodyPr wrap="none">
            <a:spAutoFit/>
          </a:bodyPr>
          <a:lstStyle/>
          <a:p>
            <a:r>
              <a:rPr lang="en-US" b="1" dirty="0"/>
              <a:t>LEFT JOIN (or LEFT OUTER JOIN)</a:t>
            </a:r>
            <a:endParaRPr lang="ar-EG" b="1" dirty="0"/>
          </a:p>
        </p:txBody>
      </p:sp>
      <p:sp>
        <p:nvSpPr>
          <p:cNvPr id="13" name="Rectangle 12"/>
          <p:cNvSpPr/>
          <p:nvPr/>
        </p:nvSpPr>
        <p:spPr>
          <a:xfrm>
            <a:off x="7698428" y="3435798"/>
            <a:ext cx="3975767" cy="369332"/>
          </a:xfrm>
          <a:prstGeom prst="rect">
            <a:avLst/>
          </a:prstGeom>
        </p:spPr>
        <p:txBody>
          <a:bodyPr wrap="none">
            <a:spAutoFit/>
          </a:bodyPr>
          <a:lstStyle/>
          <a:p>
            <a:r>
              <a:rPr lang="en-US" b="1" dirty="0"/>
              <a:t>RIGHT JOIN (or RIGHT OUTER JOIN)</a:t>
            </a:r>
            <a:endParaRPr lang="ar-EG" b="1" dirty="0"/>
          </a:p>
        </p:txBody>
      </p:sp>
      <p:sp>
        <p:nvSpPr>
          <p:cNvPr id="14" name="Rectangle 13"/>
          <p:cNvSpPr/>
          <p:nvPr/>
        </p:nvSpPr>
        <p:spPr>
          <a:xfrm>
            <a:off x="7698428" y="4154929"/>
            <a:ext cx="3632725" cy="369332"/>
          </a:xfrm>
          <a:prstGeom prst="rect">
            <a:avLst/>
          </a:prstGeom>
        </p:spPr>
        <p:txBody>
          <a:bodyPr wrap="none">
            <a:spAutoFit/>
          </a:bodyPr>
          <a:lstStyle/>
          <a:p>
            <a:r>
              <a:rPr lang="en-US" b="1" dirty="0"/>
              <a:t>FULL JOIN (or FULL OUTER JOIN)</a:t>
            </a:r>
            <a:endParaRPr lang="ar-EG" b="1" dirty="0"/>
          </a:p>
        </p:txBody>
      </p:sp>
    </p:spTree>
    <p:extLst>
      <p:ext uri="{BB962C8B-B14F-4D97-AF65-F5344CB8AC3E}">
        <p14:creationId xmlns:p14="http://schemas.microsoft.com/office/powerpoint/2010/main" val="285988337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33304" y="0"/>
            <a:ext cx="1758696" cy="1353312"/>
          </a:xfrm>
          <a:prstGeom prst="rect">
            <a:avLst/>
          </a:prstGeom>
        </p:spPr>
      </p:pic>
      <p:sp>
        <p:nvSpPr>
          <p:cNvPr id="6" name="TextBox 5"/>
          <p:cNvSpPr txBox="1"/>
          <p:nvPr/>
        </p:nvSpPr>
        <p:spPr>
          <a:xfrm>
            <a:off x="10309753" y="6488668"/>
            <a:ext cx="1882247" cy="369332"/>
          </a:xfrm>
          <a:prstGeom prst="rect">
            <a:avLst/>
          </a:prstGeom>
          <a:noFill/>
        </p:spPr>
        <p:txBody>
          <a:bodyPr wrap="none" rtlCol="1">
            <a:spAutoFit/>
          </a:bodyPr>
          <a:lstStyle/>
          <a:p>
            <a:r>
              <a:rPr lang="en-US" b="1" dirty="0" smtClean="0">
                <a:solidFill>
                  <a:schemeClr val="accent3">
                    <a:lumMod val="40000"/>
                    <a:lumOff val="60000"/>
                  </a:schemeClr>
                </a:solidFill>
              </a:rPr>
              <a:t>By </a:t>
            </a:r>
            <a:r>
              <a:rPr lang="en-US" b="1" dirty="0" err="1" smtClean="0">
                <a:solidFill>
                  <a:schemeClr val="accent3">
                    <a:lumMod val="40000"/>
                    <a:lumOff val="60000"/>
                  </a:schemeClr>
                </a:solidFill>
              </a:rPr>
              <a:t>Eslam</a:t>
            </a:r>
            <a:r>
              <a:rPr lang="en-US" b="1" dirty="0" smtClean="0">
                <a:solidFill>
                  <a:schemeClr val="accent3">
                    <a:lumMod val="40000"/>
                    <a:lumOff val="60000"/>
                  </a:schemeClr>
                </a:solidFill>
              </a:rPr>
              <a:t> </a:t>
            </a:r>
            <a:r>
              <a:rPr lang="en-US" b="1" dirty="0" err="1" smtClean="0">
                <a:solidFill>
                  <a:schemeClr val="accent3">
                    <a:lumMod val="40000"/>
                    <a:lumOff val="60000"/>
                  </a:schemeClr>
                </a:solidFill>
              </a:rPr>
              <a:t>Khder</a:t>
            </a:r>
            <a:endParaRPr lang="ar-EG" b="1" dirty="0">
              <a:solidFill>
                <a:schemeClr val="accent3">
                  <a:lumMod val="40000"/>
                  <a:lumOff val="60000"/>
                </a:schemeClr>
              </a:solidFill>
            </a:endParaRPr>
          </a:p>
        </p:txBody>
      </p:sp>
      <p:pic>
        <p:nvPicPr>
          <p:cNvPr id="2" name="Picture 1"/>
          <p:cNvPicPr>
            <a:picLocks noChangeAspect="1"/>
          </p:cNvPicPr>
          <p:nvPr/>
        </p:nvPicPr>
        <p:blipFill>
          <a:blip r:embed="rId4"/>
          <a:stretch>
            <a:fillRect/>
          </a:stretch>
        </p:blipFill>
        <p:spPr>
          <a:xfrm>
            <a:off x="181547" y="4410694"/>
            <a:ext cx="11602022" cy="2077974"/>
          </a:xfrm>
          <a:prstGeom prst="rect">
            <a:avLst/>
          </a:prstGeom>
        </p:spPr>
      </p:pic>
      <p:sp>
        <p:nvSpPr>
          <p:cNvPr id="3" name="Rectangle 2"/>
          <p:cNvSpPr/>
          <p:nvPr/>
        </p:nvSpPr>
        <p:spPr>
          <a:xfrm>
            <a:off x="3537006" y="748022"/>
            <a:ext cx="3877986" cy="707886"/>
          </a:xfrm>
          <a:prstGeom prst="rect">
            <a:avLst/>
          </a:prstGeom>
        </p:spPr>
        <p:txBody>
          <a:bodyPr wrap="none">
            <a:spAutoFit/>
          </a:bodyPr>
          <a:lstStyle/>
          <a:p>
            <a:r>
              <a:rPr lang="en-US" sz="4000" b="1" dirty="0" smtClean="0">
                <a:latin typeface="Courier New" panose="02070309020205020404" pitchFamily="49" charset="0"/>
              </a:rPr>
              <a:t>Natural </a:t>
            </a:r>
            <a:r>
              <a:rPr lang="en-US" sz="4000" b="1" dirty="0">
                <a:latin typeface="Courier New" panose="02070309020205020404" pitchFamily="49" charset="0"/>
              </a:rPr>
              <a:t>Join</a:t>
            </a:r>
            <a:endParaRPr lang="ar-EG" sz="4000" b="1" dirty="0"/>
          </a:p>
        </p:txBody>
      </p:sp>
      <p:graphicFrame>
        <p:nvGraphicFramePr>
          <p:cNvPr id="4" name="Object 3"/>
          <p:cNvGraphicFramePr>
            <a:graphicFrameLocks noChangeAspect="1"/>
          </p:cNvGraphicFramePr>
          <p:nvPr>
            <p:extLst>
              <p:ext uri="{D42A27DB-BD31-4B8C-83A1-F6EECF244321}">
                <p14:modId xmlns:p14="http://schemas.microsoft.com/office/powerpoint/2010/main" val="821829458"/>
              </p:ext>
            </p:extLst>
          </p:nvPr>
        </p:nvGraphicFramePr>
        <p:xfrm>
          <a:off x="8272463" y="5091637"/>
          <a:ext cx="3003958" cy="716089"/>
        </p:xfrm>
        <a:graphic>
          <a:graphicData uri="http://schemas.openxmlformats.org/presentationml/2006/ole">
            <mc:AlternateContent xmlns:mc="http://schemas.openxmlformats.org/markup-compatibility/2006">
              <mc:Choice xmlns:v="urn:schemas-microsoft-com:vml" Requires="v">
                <p:oleObj spid="_x0000_s56399" name="Packager Shell Object" showAsIcon="1" r:id="rId5" imgW="1844640" imgH="439560" progId="Package">
                  <p:embed/>
                </p:oleObj>
              </mc:Choice>
              <mc:Fallback>
                <p:oleObj name="Packager Shell Object" showAsIcon="1" r:id="rId5" imgW="1844640" imgH="439560" progId="Package">
                  <p:embed/>
                  <p:pic>
                    <p:nvPicPr>
                      <p:cNvPr id="0" name=""/>
                      <p:cNvPicPr/>
                      <p:nvPr/>
                    </p:nvPicPr>
                    <p:blipFill>
                      <a:blip r:embed="rId6"/>
                      <a:stretch>
                        <a:fillRect/>
                      </a:stretch>
                    </p:blipFill>
                    <p:spPr>
                      <a:xfrm>
                        <a:off x="8272463" y="5091637"/>
                        <a:ext cx="3003958" cy="716089"/>
                      </a:xfrm>
                      <a:prstGeom prst="rect">
                        <a:avLst/>
                      </a:prstGeom>
                    </p:spPr>
                  </p:pic>
                </p:oleObj>
              </mc:Fallback>
            </mc:AlternateContent>
          </a:graphicData>
        </a:graphic>
      </p:graphicFrame>
      <p:sp>
        <p:nvSpPr>
          <p:cNvPr id="8" name="Rectangle 7"/>
          <p:cNvSpPr/>
          <p:nvPr/>
        </p:nvSpPr>
        <p:spPr>
          <a:xfrm>
            <a:off x="560338" y="2420338"/>
            <a:ext cx="9214104" cy="923330"/>
          </a:xfrm>
          <a:prstGeom prst="rect">
            <a:avLst/>
          </a:prstGeom>
        </p:spPr>
        <p:txBody>
          <a:bodyPr wrap="square">
            <a:spAutoFit/>
          </a:bodyPr>
          <a:lstStyle/>
          <a:p>
            <a:pPr algn="l"/>
            <a:r>
              <a:rPr lang="ar-EG" dirty="0"/>
              <a:t>A NATURAL JOIN in Oracle Database is a type of join that automatically joins tables based on columns with the same name and compatible data types in both tables.</a:t>
            </a:r>
          </a:p>
        </p:txBody>
      </p:sp>
    </p:spTree>
    <p:extLst>
      <p:ext uri="{BB962C8B-B14F-4D97-AF65-F5344CB8AC3E}">
        <p14:creationId xmlns:p14="http://schemas.microsoft.com/office/powerpoint/2010/main" val="232420298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33304" y="0"/>
            <a:ext cx="1758696" cy="1353312"/>
          </a:xfrm>
          <a:prstGeom prst="rect">
            <a:avLst/>
          </a:prstGeom>
        </p:spPr>
      </p:pic>
      <p:sp>
        <p:nvSpPr>
          <p:cNvPr id="6" name="TextBox 5"/>
          <p:cNvSpPr txBox="1"/>
          <p:nvPr/>
        </p:nvSpPr>
        <p:spPr>
          <a:xfrm>
            <a:off x="10309753" y="6488668"/>
            <a:ext cx="1882247" cy="369332"/>
          </a:xfrm>
          <a:prstGeom prst="rect">
            <a:avLst/>
          </a:prstGeom>
          <a:noFill/>
        </p:spPr>
        <p:txBody>
          <a:bodyPr wrap="none" rtlCol="1">
            <a:spAutoFit/>
          </a:bodyPr>
          <a:lstStyle/>
          <a:p>
            <a:r>
              <a:rPr lang="en-US" b="1" dirty="0" smtClean="0">
                <a:solidFill>
                  <a:schemeClr val="accent3">
                    <a:lumMod val="40000"/>
                    <a:lumOff val="60000"/>
                  </a:schemeClr>
                </a:solidFill>
              </a:rPr>
              <a:t>By </a:t>
            </a:r>
            <a:r>
              <a:rPr lang="en-US" b="1" dirty="0" err="1" smtClean="0">
                <a:solidFill>
                  <a:schemeClr val="accent3">
                    <a:lumMod val="40000"/>
                    <a:lumOff val="60000"/>
                  </a:schemeClr>
                </a:solidFill>
              </a:rPr>
              <a:t>Eslam</a:t>
            </a:r>
            <a:r>
              <a:rPr lang="en-US" b="1" dirty="0" smtClean="0">
                <a:solidFill>
                  <a:schemeClr val="accent3">
                    <a:lumMod val="40000"/>
                    <a:lumOff val="60000"/>
                  </a:schemeClr>
                </a:solidFill>
              </a:rPr>
              <a:t> </a:t>
            </a:r>
            <a:r>
              <a:rPr lang="en-US" b="1" dirty="0" err="1" smtClean="0">
                <a:solidFill>
                  <a:schemeClr val="accent3">
                    <a:lumMod val="40000"/>
                    <a:lumOff val="60000"/>
                  </a:schemeClr>
                </a:solidFill>
              </a:rPr>
              <a:t>Khder</a:t>
            </a:r>
            <a:endParaRPr lang="ar-EG" b="1" dirty="0">
              <a:solidFill>
                <a:schemeClr val="accent3">
                  <a:lumMod val="40000"/>
                  <a:lumOff val="60000"/>
                </a:schemeClr>
              </a:solidFill>
            </a:endParaRPr>
          </a:p>
        </p:txBody>
      </p:sp>
      <p:sp>
        <p:nvSpPr>
          <p:cNvPr id="4" name="Rectangle 3"/>
          <p:cNvSpPr/>
          <p:nvPr/>
        </p:nvSpPr>
        <p:spPr>
          <a:xfrm>
            <a:off x="1450127" y="839462"/>
            <a:ext cx="8186857" cy="707886"/>
          </a:xfrm>
          <a:prstGeom prst="rect">
            <a:avLst/>
          </a:prstGeom>
        </p:spPr>
        <p:txBody>
          <a:bodyPr wrap="none">
            <a:spAutoFit/>
          </a:bodyPr>
          <a:lstStyle/>
          <a:p>
            <a:r>
              <a:rPr lang="en-US" sz="4000" b="1" dirty="0" smtClean="0">
                <a:latin typeface="Courier New" panose="02070309020205020404" pitchFamily="49" charset="0"/>
              </a:rPr>
              <a:t>Join with the USING Clause</a:t>
            </a:r>
            <a:endParaRPr lang="ar-EG" sz="4000" b="1" dirty="0"/>
          </a:p>
        </p:txBody>
      </p:sp>
      <p:pic>
        <p:nvPicPr>
          <p:cNvPr id="2" name="Picture 1"/>
          <p:cNvPicPr>
            <a:picLocks noChangeAspect="1"/>
          </p:cNvPicPr>
          <p:nvPr/>
        </p:nvPicPr>
        <p:blipFill>
          <a:blip r:embed="rId4"/>
          <a:stretch>
            <a:fillRect/>
          </a:stretch>
        </p:blipFill>
        <p:spPr>
          <a:xfrm>
            <a:off x="611505" y="3718941"/>
            <a:ext cx="10984611" cy="2419350"/>
          </a:xfrm>
          <a:prstGeom prst="rect">
            <a:avLst/>
          </a:prstGeom>
        </p:spPr>
      </p:pic>
      <p:graphicFrame>
        <p:nvGraphicFramePr>
          <p:cNvPr id="3" name="Object 2"/>
          <p:cNvGraphicFramePr>
            <a:graphicFrameLocks noChangeAspect="1"/>
          </p:cNvGraphicFramePr>
          <p:nvPr>
            <p:extLst>
              <p:ext uri="{D42A27DB-BD31-4B8C-83A1-F6EECF244321}">
                <p14:modId xmlns:p14="http://schemas.microsoft.com/office/powerpoint/2010/main" val="86308699"/>
              </p:ext>
            </p:extLst>
          </p:nvPr>
        </p:nvGraphicFramePr>
        <p:xfrm>
          <a:off x="8471163" y="5762561"/>
          <a:ext cx="2779713" cy="439738"/>
        </p:xfrm>
        <a:graphic>
          <a:graphicData uri="http://schemas.openxmlformats.org/presentationml/2006/ole">
            <mc:AlternateContent xmlns:mc="http://schemas.openxmlformats.org/markup-compatibility/2006">
              <mc:Choice xmlns:v="urn:schemas-microsoft-com:vml" Requires="v">
                <p:oleObj spid="_x0000_s57422" name="Packager Shell Object" showAsIcon="1" r:id="rId5" imgW="2779920" imgH="439560" progId="Package">
                  <p:embed/>
                </p:oleObj>
              </mc:Choice>
              <mc:Fallback>
                <p:oleObj name="Packager Shell Object" showAsIcon="1" r:id="rId5" imgW="2779920" imgH="439560" progId="Package">
                  <p:embed/>
                  <p:pic>
                    <p:nvPicPr>
                      <p:cNvPr id="0" name=""/>
                      <p:cNvPicPr/>
                      <p:nvPr/>
                    </p:nvPicPr>
                    <p:blipFill>
                      <a:blip r:embed="rId6"/>
                      <a:stretch>
                        <a:fillRect/>
                      </a:stretch>
                    </p:blipFill>
                    <p:spPr>
                      <a:xfrm>
                        <a:off x="8471163" y="5762561"/>
                        <a:ext cx="2779713" cy="439738"/>
                      </a:xfrm>
                      <a:prstGeom prst="rect">
                        <a:avLst/>
                      </a:prstGeom>
                    </p:spPr>
                  </p:pic>
                </p:oleObj>
              </mc:Fallback>
            </mc:AlternateContent>
          </a:graphicData>
        </a:graphic>
      </p:graphicFrame>
    </p:spTree>
    <p:extLst>
      <p:ext uri="{BB962C8B-B14F-4D97-AF65-F5344CB8AC3E}">
        <p14:creationId xmlns:p14="http://schemas.microsoft.com/office/powerpoint/2010/main" val="409801427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33304" y="0"/>
            <a:ext cx="1758696" cy="1353312"/>
          </a:xfrm>
          <a:prstGeom prst="rect">
            <a:avLst/>
          </a:prstGeom>
        </p:spPr>
      </p:pic>
      <p:sp>
        <p:nvSpPr>
          <p:cNvPr id="6" name="TextBox 5"/>
          <p:cNvSpPr txBox="1"/>
          <p:nvPr/>
        </p:nvSpPr>
        <p:spPr>
          <a:xfrm>
            <a:off x="10309753" y="6488668"/>
            <a:ext cx="1882247" cy="369332"/>
          </a:xfrm>
          <a:prstGeom prst="rect">
            <a:avLst/>
          </a:prstGeom>
          <a:noFill/>
        </p:spPr>
        <p:txBody>
          <a:bodyPr wrap="none" rtlCol="1">
            <a:spAutoFit/>
          </a:bodyPr>
          <a:lstStyle/>
          <a:p>
            <a:r>
              <a:rPr lang="en-US" b="1" dirty="0" smtClean="0">
                <a:solidFill>
                  <a:schemeClr val="accent3">
                    <a:lumMod val="40000"/>
                    <a:lumOff val="60000"/>
                  </a:schemeClr>
                </a:solidFill>
              </a:rPr>
              <a:t>By </a:t>
            </a:r>
            <a:r>
              <a:rPr lang="en-US" b="1" dirty="0" err="1" smtClean="0">
                <a:solidFill>
                  <a:schemeClr val="accent3">
                    <a:lumMod val="40000"/>
                    <a:lumOff val="60000"/>
                  </a:schemeClr>
                </a:solidFill>
              </a:rPr>
              <a:t>Eslam</a:t>
            </a:r>
            <a:r>
              <a:rPr lang="en-US" b="1" dirty="0" smtClean="0">
                <a:solidFill>
                  <a:schemeClr val="accent3">
                    <a:lumMod val="40000"/>
                    <a:lumOff val="60000"/>
                  </a:schemeClr>
                </a:solidFill>
              </a:rPr>
              <a:t> </a:t>
            </a:r>
            <a:r>
              <a:rPr lang="en-US" b="1" dirty="0" err="1" smtClean="0">
                <a:solidFill>
                  <a:schemeClr val="accent3">
                    <a:lumMod val="40000"/>
                    <a:lumOff val="60000"/>
                  </a:schemeClr>
                </a:solidFill>
              </a:rPr>
              <a:t>Khder</a:t>
            </a:r>
            <a:endParaRPr lang="ar-EG" b="1" dirty="0">
              <a:solidFill>
                <a:schemeClr val="accent3">
                  <a:lumMod val="40000"/>
                  <a:lumOff val="60000"/>
                </a:schemeClr>
              </a:solidFill>
            </a:endParaRPr>
          </a:p>
        </p:txBody>
      </p:sp>
      <p:pic>
        <p:nvPicPr>
          <p:cNvPr id="2" name="Picture 1"/>
          <p:cNvPicPr>
            <a:picLocks noChangeAspect="1"/>
          </p:cNvPicPr>
          <p:nvPr/>
        </p:nvPicPr>
        <p:blipFill>
          <a:blip r:embed="rId4"/>
          <a:stretch>
            <a:fillRect/>
          </a:stretch>
        </p:blipFill>
        <p:spPr>
          <a:xfrm>
            <a:off x="418612" y="1580895"/>
            <a:ext cx="10165461" cy="5092439"/>
          </a:xfrm>
          <a:prstGeom prst="rect">
            <a:avLst/>
          </a:prstGeom>
        </p:spPr>
      </p:pic>
      <p:sp>
        <p:nvSpPr>
          <p:cNvPr id="7" name="Rectangle 6"/>
          <p:cNvSpPr/>
          <p:nvPr/>
        </p:nvSpPr>
        <p:spPr>
          <a:xfrm>
            <a:off x="262222" y="483637"/>
            <a:ext cx="9725740" cy="707886"/>
          </a:xfrm>
          <a:prstGeom prst="rect">
            <a:avLst/>
          </a:prstGeom>
        </p:spPr>
        <p:txBody>
          <a:bodyPr wrap="none">
            <a:spAutoFit/>
          </a:bodyPr>
          <a:lstStyle/>
          <a:p>
            <a:r>
              <a:rPr lang="en-US" sz="4000" b="1" dirty="0" smtClean="0">
                <a:latin typeface="Courier New" panose="02070309020205020404" pitchFamily="49" charset="0"/>
              </a:rPr>
              <a:t>Handling Ambiguous Column Names</a:t>
            </a:r>
            <a:endParaRPr lang="ar-EG" sz="4000" b="1" dirty="0"/>
          </a:p>
        </p:txBody>
      </p:sp>
      <p:graphicFrame>
        <p:nvGraphicFramePr>
          <p:cNvPr id="3" name="Object 2"/>
          <p:cNvGraphicFramePr>
            <a:graphicFrameLocks noChangeAspect="1"/>
          </p:cNvGraphicFramePr>
          <p:nvPr>
            <p:extLst>
              <p:ext uri="{D42A27DB-BD31-4B8C-83A1-F6EECF244321}">
                <p14:modId xmlns:p14="http://schemas.microsoft.com/office/powerpoint/2010/main" val="2593848772"/>
              </p:ext>
            </p:extLst>
          </p:nvPr>
        </p:nvGraphicFramePr>
        <p:xfrm>
          <a:off x="7354102" y="5935139"/>
          <a:ext cx="3289300" cy="439737"/>
        </p:xfrm>
        <a:graphic>
          <a:graphicData uri="http://schemas.openxmlformats.org/presentationml/2006/ole">
            <mc:AlternateContent xmlns:mc="http://schemas.openxmlformats.org/markup-compatibility/2006">
              <mc:Choice xmlns:v="urn:schemas-microsoft-com:vml" Requires="v">
                <p:oleObj spid="_x0000_s58443" name="Packager Shell Object" showAsIcon="1" r:id="rId5" imgW="3289680" imgH="439560" progId="Package">
                  <p:embed/>
                </p:oleObj>
              </mc:Choice>
              <mc:Fallback>
                <p:oleObj name="Packager Shell Object" showAsIcon="1" r:id="rId5" imgW="3289680" imgH="439560" progId="Package">
                  <p:embed/>
                  <p:pic>
                    <p:nvPicPr>
                      <p:cNvPr id="0" name=""/>
                      <p:cNvPicPr/>
                      <p:nvPr/>
                    </p:nvPicPr>
                    <p:blipFill>
                      <a:blip r:embed="rId6"/>
                      <a:stretch>
                        <a:fillRect/>
                      </a:stretch>
                    </p:blipFill>
                    <p:spPr>
                      <a:xfrm>
                        <a:off x="7354102" y="5935139"/>
                        <a:ext cx="3289300" cy="439737"/>
                      </a:xfrm>
                      <a:prstGeom prst="rect">
                        <a:avLst/>
                      </a:prstGeom>
                    </p:spPr>
                  </p:pic>
                </p:oleObj>
              </mc:Fallback>
            </mc:AlternateContent>
          </a:graphicData>
        </a:graphic>
      </p:graphicFrame>
    </p:spTree>
    <p:extLst>
      <p:ext uri="{BB962C8B-B14F-4D97-AF65-F5344CB8AC3E}">
        <p14:creationId xmlns:p14="http://schemas.microsoft.com/office/powerpoint/2010/main" val="5183238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33304" y="0"/>
            <a:ext cx="1758696" cy="1353312"/>
          </a:xfrm>
          <a:prstGeom prst="rect">
            <a:avLst/>
          </a:prstGeom>
        </p:spPr>
      </p:pic>
      <p:sp>
        <p:nvSpPr>
          <p:cNvPr id="6" name="TextBox 5"/>
          <p:cNvSpPr txBox="1"/>
          <p:nvPr/>
        </p:nvSpPr>
        <p:spPr>
          <a:xfrm>
            <a:off x="10309753" y="6488668"/>
            <a:ext cx="1882247" cy="369332"/>
          </a:xfrm>
          <a:prstGeom prst="rect">
            <a:avLst/>
          </a:prstGeom>
          <a:noFill/>
        </p:spPr>
        <p:txBody>
          <a:bodyPr wrap="none" rtlCol="1">
            <a:spAutoFit/>
          </a:bodyPr>
          <a:lstStyle/>
          <a:p>
            <a:r>
              <a:rPr lang="en-US" b="1" dirty="0" smtClean="0">
                <a:solidFill>
                  <a:schemeClr val="accent3">
                    <a:lumMod val="40000"/>
                    <a:lumOff val="60000"/>
                  </a:schemeClr>
                </a:solidFill>
              </a:rPr>
              <a:t>By </a:t>
            </a:r>
            <a:r>
              <a:rPr lang="en-US" b="1" dirty="0" err="1" smtClean="0">
                <a:solidFill>
                  <a:schemeClr val="accent3">
                    <a:lumMod val="40000"/>
                    <a:lumOff val="60000"/>
                  </a:schemeClr>
                </a:solidFill>
              </a:rPr>
              <a:t>Eslam</a:t>
            </a:r>
            <a:r>
              <a:rPr lang="en-US" b="1" dirty="0" smtClean="0">
                <a:solidFill>
                  <a:schemeClr val="accent3">
                    <a:lumMod val="40000"/>
                    <a:lumOff val="60000"/>
                  </a:schemeClr>
                </a:solidFill>
              </a:rPr>
              <a:t> </a:t>
            </a:r>
            <a:r>
              <a:rPr lang="en-US" b="1" dirty="0" err="1" smtClean="0">
                <a:solidFill>
                  <a:schemeClr val="accent3">
                    <a:lumMod val="40000"/>
                    <a:lumOff val="60000"/>
                  </a:schemeClr>
                </a:solidFill>
              </a:rPr>
              <a:t>Khder</a:t>
            </a:r>
            <a:endParaRPr lang="ar-EG" b="1" dirty="0">
              <a:solidFill>
                <a:schemeClr val="accent3">
                  <a:lumMod val="40000"/>
                  <a:lumOff val="60000"/>
                </a:schemeClr>
              </a:solidFill>
            </a:endParaRPr>
          </a:p>
        </p:txBody>
      </p:sp>
      <p:pic>
        <p:nvPicPr>
          <p:cNvPr id="2" name="Picture 1"/>
          <p:cNvPicPr>
            <a:picLocks noChangeAspect="1"/>
          </p:cNvPicPr>
          <p:nvPr/>
        </p:nvPicPr>
        <p:blipFill>
          <a:blip r:embed="rId4"/>
          <a:stretch>
            <a:fillRect/>
          </a:stretch>
        </p:blipFill>
        <p:spPr>
          <a:xfrm>
            <a:off x="668274" y="3661219"/>
            <a:ext cx="10459974" cy="2419541"/>
          </a:xfrm>
          <a:prstGeom prst="rect">
            <a:avLst/>
          </a:prstGeom>
        </p:spPr>
      </p:pic>
      <p:graphicFrame>
        <p:nvGraphicFramePr>
          <p:cNvPr id="3" name="Object 2"/>
          <p:cNvGraphicFramePr>
            <a:graphicFrameLocks noChangeAspect="1"/>
          </p:cNvGraphicFramePr>
          <p:nvPr>
            <p:extLst>
              <p:ext uri="{D42A27DB-BD31-4B8C-83A1-F6EECF244321}">
                <p14:modId xmlns:p14="http://schemas.microsoft.com/office/powerpoint/2010/main" val="3758797381"/>
              </p:ext>
            </p:extLst>
          </p:nvPr>
        </p:nvGraphicFramePr>
        <p:xfrm>
          <a:off x="7702423" y="5054600"/>
          <a:ext cx="3425825" cy="439738"/>
        </p:xfrm>
        <a:graphic>
          <a:graphicData uri="http://schemas.openxmlformats.org/presentationml/2006/ole">
            <mc:AlternateContent xmlns:mc="http://schemas.openxmlformats.org/markup-compatibility/2006">
              <mc:Choice xmlns:v="urn:schemas-microsoft-com:vml" Requires="v">
                <p:oleObj spid="_x0000_s59468" name="Packager Shell Object" showAsIcon="1" r:id="rId5" imgW="3425040" imgH="439560" progId="Package">
                  <p:embed/>
                </p:oleObj>
              </mc:Choice>
              <mc:Fallback>
                <p:oleObj name="Packager Shell Object" showAsIcon="1" r:id="rId5" imgW="3425040" imgH="439560" progId="Package">
                  <p:embed/>
                  <p:pic>
                    <p:nvPicPr>
                      <p:cNvPr id="0" name=""/>
                      <p:cNvPicPr/>
                      <p:nvPr/>
                    </p:nvPicPr>
                    <p:blipFill>
                      <a:blip r:embed="rId6"/>
                      <a:stretch>
                        <a:fillRect/>
                      </a:stretch>
                    </p:blipFill>
                    <p:spPr>
                      <a:xfrm>
                        <a:off x="7702423" y="5054600"/>
                        <a:ext cx="3425825" cy="439738"/>
                      </a:xfrm>
                      <a:prstGeom prst="rect">
                        <a:avLst/>
                      </a:prstGeom>
                    </p:spPr>
                  </p:pic>
                </p:oleObj>
              </mc:Fallback>
            </mc:AlternateContent>
          </a:graphicData>
        </a:graphic>
      </p:graphicFrame>
      <p:sp>
        <p:nvSpPr>
          <p:cNvPr id="4" name="Rectangle 3"/>
          <p:cNvSpPr/>
          <p:nvPr/>
        </p:nvSpPr>
        <p:spPr>
          <a:xfrm>
            <a:off x="3009551" y="1122479"/>
            <a:ext cx="5447324" cy="461665"/>
          </a:xfrm>
          <a:prstGeom prst="rect">
            <a:avLst/>
          </a:prstGeom>
        </p:spPr>
        <p:txBody>
          <a:bodyPr wrap="none">
            <a:spAutoFit/>
          </a:bodyPr>
          <a:lstStyle/>
          <a:p>
            <a:r>
              <a:rPr lang="en-US" sz="2400" b="1" dirty="0" smtClean="0"/>
              <a:t>I</a:t>
            </a:r>
            <a:r>
              <a:rPr lang="ar-EG" sz="2400" b="1" dirty="0" smtClean="0"/>
              <a:t>nner Join Join with the ON Clause</a:t>
            </a:r>
            <a:endParaRPr lang="ar-EG" sz="2400" b="1" dirty="0"/>
          </a:p>
        </p:txBody>
      </p:sp>
      <p:sp>
        <p:nvSpPr>
          <p:cNvPr id="8" name="Rectangle 7"/>
          <p:cNvSpPr/>
          <p:nvPr/>
        </p:nvSpPr>
        <p:spPr>
          <a:xfrm>
            <a:off x="668274" y="2184100"/>
            <a:ext cx="6792817" cy="646331"/>
          </a:xfrm>
          <a:prstGeom prst="rect">
            <a:avLst/>
          </a:prstGeom>
        </p:spPr>
        <p:txBody>
          <a:bodyPr wrap="square">
            <a:spAutoFit/>
          </a:bodyPr>
          <a:lstStyle/>
          <a:p>
            <a:pPr algn="l"/>
            <a:r>
              <a:rPr lang="ar-EG" dirty="0"/>
              <a:t>An INNER JOIN returns rows when there is a match in both tables. It is the most common type of join.</a:t>
            </a:r>
          </a:p>
        </p:txBody>
      </p:sp>
    </p:spTree>
    <p:extLst>
      <p:ext uri="{BB962C8B-B14F-4D97-AF65-F5344CB8AC3E}">
        <p14:creationId xmlns:p14="http://schemas.microsoft.com/office/powerpoint/2010/main" val="111168148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33304" y="0"/>
            <a:ext cx="1758696" cy="1353312"/>
          </a:xfrm>
          <a:prstGeom prst="rect">
            <a:avLst/>
          </a:prstGeom>
        </p:spPr>
      </p:pic>
      <p:sp>
        <p:nvSpPr>
          <p:cNvPr id="6" name="TextBox 5"/>
          <p:cNvSpPr txBox="1"/>
          <p:nvPr/>
        </p:nvSpPr>
        <p:spPr>
          <a:xfrm>
            <a:off x="10309753" y="6488668"/>
            <a:ext cx="1882247" cy="369332"/>
          </a:xfrm>
          <a:prstGeom prst="rect">
            <a:avLst/>
          </a:prstGeom>
          <a:noFill/>
        </p:spPr>
        <p:txBody>
          <a:bodyPr wrap="none" rtlCol="1">
            <a:spAutoFit/>
          </a:bodyPr>
          <a:lstStyle/>
          <a:p>
            <a:r>
              <a:rPr lang="en-US" b="1" dirty="0" smtClean="0">
                <a:solidFill>
                  <a:schemeClr val="accent3">
                    <a:lumMod val="40000"/>
                    <a:lumOff val="60000"/>
                  </a:schemeClr>
                </a:solidFill>
              </a:rPr>
              <a:t>By </a:t>
            </a:r>
            <a:r>
              <a:rPr lang="en-US" b="1" dirty="0" err="1" smtClean="0">
                <a:solidFill>
                  <a:schemeClr val="accent3">
                    <a:lumMod val="40000"/>
                    <a:lumOff val="60000"/>
                  </a:schemeClr>
                </a:solidFill>
              </a:rPr>
              <a:t>Eslam</a:t>
            </a:r>
            <a:r>
              <a:rPr lang="en-US" b="1" dirty="0" smtClean="0">
                <a:solidFill>
                  <a:schemeClr val="accent3">
                    <a:lumMod val="40000"/>
                    <a:lumOff val="60000"/>
                  </a:schemeClr>
                </a:solidFill>
              </a:rPr>
              <a:t> </a:t>
            </a:r>
            <a:r>
              <a:rPr lang="en-US" b="1" dirty="0" err="1" smtClean="0">
                <a:solidFill>
                  <a:schemeClr val="accent3">
                    <a:lumMod val="40000"/>
                    <a:lumOff val="60000"/>
                  </a:schemeClr>
                </a:solidFill>
              </a:rPr>
              <a:t>Khder</a:t>
            </a:r>
            <a:endParaRPr lang="ar-EG" b="1" dirty="0">
              <a:solidFill>
                <a:schemeClr val="accent3">
                  <a:lumMod val="40000"/>
                  <a:lumOff val="60000"/>
                </a:schemeClr>
              </a:solidFill>
            </a:endParaRPr>
          </a:p>
        </p:txBody>
      </p:sp>
      <p:pic>
        <p:nvPicPr>
          <p:cNvPr id="2" name="Picture 1"/>
          <p:cNvPicPr>
            <a:picLocks noChangeAspect="1"/>
          </p:cNvPicPr>
          <p:nvPr/>
        </p:nvPicPr>
        <p:blipFill>
          <a:blip r:embed="rId4"/>
          <a:stretch>
            <a:fillRect/>
          </a:stretch>
        </p:blipFill>
        <p:spPr>
          <a:xfrm>
            <a:off x="311848" y="3375278"/>
            <a:ext cx="11109008" cy="3113389"/>
          </a:xfrm>
          <a:prstGeom prst="rect">
            <a:avLst/>
          </a:prstGeom>
        </p:spPr>
      </p:pic>
      <p:graphicFrame>
        <p:nvGraphicFramePr>
          <p:cNvPr id="3" name="Object 2"/>
          <p:cNvGraphicFramePr>
            <a:graphicFrameLocks noChangeAspect="1"/>
          </p:cNvGraphicFramePr>
          <p:nvPr>
            <p:extLst>
              <p:ext uri="{D42A27DB-BD31-4B8C-83A1-F6EECF244321}">
                <p14:modId xmlns:p14="http://schemas.microsoft.com/office/powerpoint/2010/main" val="4174955746"/>
              </p:ext>
            </p:extLst>
          </p:nvPr>
        </p:nvGraphicFramePr>
        <p:xfrm>
          <a:off x="7824470" y="5829062"/>
          <a:ext cx="3212338" cy="659605"/>
        </p:xfrm>
        <a:graphic>
          <a:graphicData uri="http://schemas.openxmlformats.org/presentationml/2006/ole">
            <mc:AlternateContent xmlns:mc="http://schemas.openxmlformats.org/markup-compatibility/2006">
              <mc:Choice xmlns:v="urn:schemas-microsoft-com:vml" Requires="v">
                <p:oleObj spid="_x0000_s60491" name="Packager Shell Object" showAsIcon="1" r:id="rId5" imgW="2063880" imgH="439560" progId="Package">
                  <p:embed/>
                </p:oleObj>
              </mc:Choice>
              <mc:Fallback>
                <p:oleObj name="Packager Shell Object" showAsIcon="1" r:id="rId5" imgW="2063880" imgH="439560" progId="Package">
                  <p:embed/>
                  <p:pic>
                    <p:nvPicPr>
                      <p:cNvPr id="0" name=""/>
                      <p:cNvPicPr/>
                      <p:nvPr/>
                    </p:nvPicPr>
                    <p:blipFill>
                      <a:blip r:embed="rId6"/>
                      <a:stretch>
                        <a:fillRect/>
                      </a:stretch>
                    </p:blipFill>
                    <p:spPr>
                      <a:xfrm>
                        <a:off x="7824470" y="5829062"/>
                        <a:ext cx="3212338" cy="659605"/>
                      </a:xfrm>
                      <a:prstGeom prst="rect">
                        <a:avLst/>
                      </a:prstGeom>
                    </p:spPr>
                  </p:pic>
                </p:oleObj>
              </mc:Fallback>
            </mc:AlternateContent>
          </a:graphicData>
        </a:graphic>
      </p:graphicFrame>
      <p:sp>
        <p:nvSpPr>
          <p:cNvPr id="4" name="Rectangle 3"/>
          <p:cNvSpPr/>
          <p:nvPr/>
        </p:nvSpPr>
        <p:spPr>
          <a:xfrm>
            <a:off x="3967648" y="983980"/>
            <a:ext cx="2007280" cy="369332"/>
          </a:xfrm>
          <a:prstGeom prst="rect">
            <a:avLst/>
          </a:prstGeom>
        </p:spPr>
        <p:txBody>
          <a:bodyPr wrap="none">
            <a:spAutoFit/>
          </a:bodyPr>
          <a:lstStyle/>
          <a:p>
            <a:r>
              <a:rPr lang="ar-EG" b="1" dirty="0" smtClean="0"/>
              <a:t>Restricting Joins</a:t>
            </a:r>
            <a:endParaRPr lang="ar-EG" b="1" dirty="0"/>
          </a:p>
        </p:txBody>
      </p:sp>
    </p:spTree>
    <p:extLst>
      <p:ext uri="{BB962C8B-B14F-4D97-AF65-F5344CB8AC3E}">
        <p14:creationId xmlns:p14="http://schemas.microsoft.com/office/powerpoint/2010/main" val="203153888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33304" y="0"/>
            <a:ext cx="1758696" cy="1353312"/>
          </a:xfrm>
          <a:prstGeom prst="rect">
            <a:avLst/>
          </a:prstGeom>
        </p:spPr>
      </p:pic>
      <p:sp>
        <p:nvSpPr>
          <p:cNvPr id="6" name="TextBox 5"/>
          <p:cNvSpPr txBox="1"/>
          <p:nvPr/>
        </p:nvSpPr>
        <p:spPr>
          <a:xfrm>
            <a:off x="10309753" y="6488668"/>
            <a:ext cx="1882247" cy="369332"/>
          </a:xfrm>
          <a:prstGeom prst="rect">
            <a:avLst/>
          </a:prstGeom>
          <a:noFill/>
        </p:spPr>
        <p:txBody>
          <a:bodyPr wrap="none" rtlCol="1">
            <a:spAutoFit/>
          </a:bodyPr>
          <a:lstStyle/>
          <a:p>
            <a:r>
              <a:rPr lang="en-US" b="1" dirty="0" smtClean="0">
                <a:solidFill>
                  <a:schemeClr val="accent3">
                    <a:lumMod val="40000"/>
                    <a:lumOff val="60000"/>
                  </a:schemeClr>
                </a:solidFill>
              </a:rPr>
              <a:t>By </a:t>
            </a:r>
            <a:r>
              <a:rPr lang="en-US" b="1" dirty="0" err="1" smtClean="0">
                <a:solidFill>
                  <a:schemeClr val="accent3">
                    <a:lumMod val="40000"/>
                    <a:lumOff val="60000"/>
                  </a:schemeClr>
                </a:solidFill>
              </a:rPr>
              <a:t>Eslam</a:t>
            </a:r>
            <a:r>
              <a:rPr lang="en-US" b="1" dirty="0" smtClean="0">
                <a:solidFill>
                  <a:schemeClr val="accent3">
                    <a:lumMod val="40000"/>
                    <a:lumOff val="60000"/>
                  </a:schemeClr>
                </a:solidFill>
              </a:rPr>
              <a:t> </a:t>
            </a:r>
            <a:r>
              <a:rPr lang="en-US" b="1" dirty="0" err="1" smtClean="0">
                <a:solidFill>
                  <a:schemeClr val="accent3">
                    <a:lumMod val="40000"/>
                    <a:lumOff val="60000"/>
                  </a:schemeClr>
                </a:solidFill>
              </a:rPr>
              <a:t>Khder</a:t>
            </a:r>
            <a:endParaRPr lang="ar-EG" b="1" dirty="0">
              <a:solidFill>
                <a:schemeClr val="accent3">
                  <a:lumMod val="40000"/>
                  <a:lumOff val="60000"/>
                </a:schemeClr>
              </a:solidFill>
            </a:endParaRPr>
          </a:p>
        </p:txBody>
      </p:sp>
      <p:sp>
        <p:nvSpPr>
          <p:cNvPr id="4" name="Rectangle 3"/>
          <p:cNvSpPr/>
          <p:nvPr/>
        </p:nvSpPr>
        <p:spPr>
          <a:xfrm>
            <a:off x="3968496" y="792547"/>
            <a:ext cx="2915611" cy="475199"/>
          </a:xfrm>
          <a:prstGeom prst="rect">
            <a:avLst/>
          </a:prstGeom>
        </p:spPr>
        <p:txBody>
          <a:bodyPr wrap="square">
            <a:spAutoFit/>
          </a:bodyPr>
          <a:lstStyle/>
          <a:p>
            <a:pPr algn="ctr"/>
            <a:r>
              <a:rPr lang="en-US" sz="2400" b="1" dirty="0" smtClean="0"/>
              <a:t>Outer Join</a:t>
            </a:r>
            <a:endParaRPr lang="ar-EG" sz="2400" b="1" dirty="0"/>
          </a:p>
        </p:txBody>
      </p:sp>
      <p:pic>
        <p:nvPicPr>
          <p:cNvPr id="7" name="Picture 6"/>
          <p:cNvPicPr>
            <a:picLocks noChangeAspect="1"/>
          </p:cNvPicPr>
          <p:nvPr/>
        </p:nvPicPr>
        <p:blipFill>
          <a:blip r:embed="rId4"/>
          <a:stretch>
            <a:fillRect/>
          </a:stretch>
        </p:blipFill>
        <p:spPr>
          <a:xfrm>
            <a:off x="492956" y="2536348"/>
            <a:ext cx="11185779" cy="3876675"/>
          </a:xfrm>
          <a:prstGeom prst="rect">
            <a:avLst/>
          </a:prstGeom>
        </p:spPr>
      </p:pic>
      <p:graphicFrame>
        <p:nvGraphicFramePr>
          <p:cNvPr id="9" name="Object 8"/>
          <p:cNvGraphicFramePr>
            <a:graphicFrameLocks noChangeAspect="1"/>
          </p:cNvGraphicFramePr>
          <p:nvPr>
            <p:extLst>
              <p:ext uri="{D42A27DB-BD31-4B8C-83A1-F6EECF244321}">
                <p14:modId xmlns:p14="http://schemas.microsoft.com/office/powerpoint/2010/main" val="3138758410"/>
              </p:ext>
            </p:extLst>
          </p:nvPr>
        </p:nvGraphicFramePr>
        <p:xfrm>
          <a:off x="8290915" y="5486401"/>
          <a:ext cx="2983637" cy="822960"/>
        </p:xfrm>
        <a:graphic>
          <a:graphicData uri="http://schemas.openxmlformats.org/presentationml/2006/ole">
            <mc:AlternateContent xmlns:mc="http://schemas.openxmlformats.org/markup-compatibility/2006">
              <mc:Choice xmlns:v="urn:schemas-microsoft-com:vml" Requires="v">
                <p:oleObj spid="_x0000_s65566" name="Packager Shell Object" showAsIcon="1" r:id="rId5" imgW="1922040" imgH="439560" progId="Package">
                  <p:embed/>
                </p:oleObj>
              </mc:Choice>
              <mc:Fallback>
                <p:oleObj name="Packager Shell Object" showAsIcon="1" r:id="rId5" imgW="1922040" imgH="439560" progId="Package">
                  <p:embed/>
                  <p:pic>
                    <p:nvPicPr>
                      <p:cNvPr id="0" name=""/>
                      <p:cNvPicPr/>
                      <p:nvPr/>
                    </p:nvPicPr>
                    <p:blipFill>
                      <a:blip r:embed="rId6"/>
                      <a:stretch>
                        <a:fillRect/>
                      </a:stretch>
                    </p:blipFill>
                    <p:spPr>
                      <a:xfrm>
                        <a:off x="8290915" y="5486401"/>
                        <a:ext cx="2983637" cy="822960"/>
                      </a:xfrm>
                      <a:prstGeom prst="rect">
                        <a:avLst/>
                      </a:prstGeom>
                    </p:spPr>
                  </p:pic>
                </p:oleObj>
              </mc:Fallback>
            </mc:AlternateContent>
          </a:graphicData>
        </a:graphic>
      </p:graphicFrame>
      <p:sp>
        <p:nvSpPr>
          <p:cNvPr id="10" name="Rectangle 9"/>
          <p:cNvSpPr/>
          <p:nvPr/>
        </p:nvSpPr>
        <p:spPr>
          <a:xfrm>
            <a:off x="492956" y="1757830"/>
            <a:ext cx="3558987" cy="369332"/>
          </a:xfrm>
          <a:prstGeom prst="rect">
            <a:avLst/>
          </a:prstGeom>
        </p:spPr>
        <p:txBody>
          <a:bodyPr wrap="none">
            <a:spAutoFit/>
          </a:bodyPr>
          <a:lstStyle/>
          <a:p>
            <a:r>
              <a:rPr lang="en-US" b="1" dirty="0"/>
              <a:t>LEFT JOIN (or LEFT OUTER JOIN)</a:t>
            </a:r>
            <a:endParaRPr lang="ar-EG" b="1" dirty="0"/>
          </a:p>
        </p:txBody>
      </p:sp>
      <p:sp>
        <p:nvSpPr>
          <p:cNvPr id="11" name="Rectangle 10"/>
          <p:cNvSpPr/>
          <p:nvPr/>
        </p:nvSpPr>
        <p:spPr>
          <a:xfrm>
            <a:off x="4315148" y="1757830"/>
            <a:ext cx="3975767" cy="369332"/>
          </a:xfrm>
          <a:prstGeom prst="rect">
            <a:avLst/>
          </a:prstGeom>
        </p:spPr>
        <p:txBody>
          <a:bodyPr wrap="none">
            <a:spAutoFit/>
          </a:bodyPr>
          <a:lstStyle/>
          <a:p>
            <a:r>
              <a:rPr lang="en-US" b="1" dirty="0"/>
              <a:t>RIGHT JOIN (or RIGHT OUTER JOIN)</a:t>
            </a:r>
            <a:endParaRPr lang="ar-EG" b="1" dirty="0"/>
          </a:p>
        </p:txBody>
      </p:sp>
      <p:sp>
        <p:nvSpPr>
          <p:cNvPr id="12" name="Rectangle 11"/>
          <p:cNvSpPr/>
          <p:nvPr/>
        </p:nvSpPr>
        <p:spPr>
          <a:xfrm>
            <a:off x="8393372" y="1762498"/>
            <a:ext cx="3632725" cy="369332"/>
          </a:xfrm>
          <a:prstGeom prst="rect">
            <a:avLst/>
          </a:prstGeom>
        </p:spPr>
        <p:txBody>
          <a:bodyPr wrap="none">
            <a:spAutoFit/>
          </a:bodyPr>
          <a:lstStyle/>
          <a:p>
            <a:r>
              <a:rPr lang="en-US" b="1" dirty="0"/>
              <a:t>FULL JOIN (or FULL OUTER JOIN)</a:t>
            </a:r>
            <a:endParaRPr lang="ar-EG" b="1" dirty="0"/>
          </a:p>
        </p:txBody>
      </p:sp>
    </p:spTree>
    <p:extLst>
      <p:ext uri="{BB962C8B-B14F-4D97-AF65-F5344CB8AC3E}">
        <p14:creationId xmlns:p14="http://schemas.microsoft.com/office/powerpoint/2010/main" val="304631628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33304" y="0"/>
            <a:ext cx="1758696" cy="1353312"/>
          </a:xfrm>
          <a:prstGeom prst="rect">
            <a:avLst/>
          </a:prstGeom>
        </p:spPr>
      </p:pic>
      <p:sp>
        <p:nvSpPr>
          <p:cNvPr id="6" name="TextBox 5"/>
          <p:cNvSpPr txBox="1"/>
          <p:nvPr/>
        </p:nvSpPr>
        <p:spPr>
          <a:xfrm>
            <a:off x="10309753" y="6488668"/>
            <a:ext cx="1882247" cy="369332"/>
          </a:xfrm>
          <a:prstGeom prst="rect">
            <a:avLst/>
          </a:prstGeom>
          <a:noFill/>
        </p:spPr>
        <p:txBody>
          <a:bodyPr wrap="none" rtlCol="1">
            <a:spAutoFit/>
          </a:bodyPr>
          <a:lstStyle/>
          <a:p>
            <a:r>
              <a:rPr lang="en-US" b="1" dirty="0" smtClean="0">
                <a:solidFill>
                  <a:schemeClr val="accent3">
                    <a:lumMod val="40000"/>
                    <a:lumOff val="60000"/>
                  </a:schemeClr>
                </a:solidFill>
              </a:rPr>
              <a:t>By </a:t>
            </a:r>
            <a:r>
              <a:rPr lang="en-US" b="1" dirty="0" err="1" smtClean="0">
                <a:solidFill>
                  <a:schemeClr val="accent3">
                    <a:lumMod val="40000"/>
                    <a:lumOff val="60000"/>
                  </a:schemeClr>
                </a:solidFill>
              </a:rPr>
              <a:t>Eslam</a:t>
            </a:r>
            <a:r>
              <a:rPr lang="en-US" b="1" dirty="0" smtClean="0">
                <a:solidFill>
                  <a:schemeClr val="accent3">
                    <a:lumMod val="40000"/>
                    <a:lumOff val="60000"/>
                  </a:schemeClr>
                </a:solidFill>
              </a:rPr>
              <a:t> </a:t>
            </a:r>
            <a:r>
              <a:rPr lang="en-US" b="1" dirty="0" err="1" smtClean="0">
                <a:solidFill>
                  <a:schemeClr val="accent3">
                    <a:lumMod val="40000"/>
                    <a:lumOff val="60000"/>
                  </a:schemeClr>
                </a:solidFill>
              </a:rPr>
              <a:t>Khder</a:t>
            </a:r>
            <a:endParaRPr lang="ar-EG" b="1" dirty="0">
              <a:solidFill>
                <a:schemeClr val="accent3">
                  <a:lumMod val="40000"/>
                  <a:lumOff val="60000"/>
                </a:schemeClr>
              </a:solidFill>
            </a:endParaRPr>
          </a:p>
        </p:txBody>
      </p:sp>
      <p:sp>
        <p:nvSpPr>
          <p:cNvPr id="4" name="Rectangle 3"/>
          <p:cNvSpPr/>
          <p:nvPr/>
        </p:nvSpPr>
        <p:spPr>
          <a:xfrm>
            <a:off x="3473900" y="761134"/>
            <a:ext cx="3558987" cy="369332"/>
          </a:xfrm>
          <a:prstGeom prst="rect">
            <a:avLst/>
          </a:prstGeom>
        </p:spPr>
        <p:txBody>
          <a:bodyPr wrap="none">
            <a:spAutoFit/>
          </a:bodyPr>
          <a:lstStyle/>
          <a:p>
            <a:r>
              <a:rPr lang="en-US" b="1" dirty="0"/>
              <a:t>LEFT JOIN (or LEFT OUTER JOIN)</a:t>
            </a:r>
            <a:endParaRPr lang="ar-EG" b="1" dirty="0"/>
          </a:p>
        </p:txBody>
      </p:sp>
      <p:pic>
        <p:nvPicPr>
          <p:cNvPr id="2" name="Picture 1"/>
          <p:cNvPicPr>
            <a:picLocks noChangeAspect="1"/>
          </p:cNvPicPr>
          <p:nvPr/>
        </p:nvPicPr>
        <p:blipFill>
          <a:blip r:embed="rId4"/>
          <a:stretch>
            <a:fillRect/>
          </a:stretch>
        </p:blipFill>
        <p:spPr>
          <a:xfrm>
            <a:off x="230695" y="1857875"/>
            <a:ext cx="10641521" cy="4815459"/>
          </a:xfrm>
          <a:prstGeom prst="rect">
            <a:avLst/>
          </a:prstGeom>
        </p:spPr>
      </p:pic>
      <p:graphicFrame>
        <p:nvGraphicFramePr>
          <p:cNvPr id="3" name="Object 2"/>
          <p:cNvGraphicFramePr>
            <a:graphicFrameLocks noChangeAspect="1"/>
          </p:cNvGraphicFramePr>
          <p:nvPr>
            <p:extLst>
              <p:ext uri="{D42A27DB-BD31-4B8C-83A1-F6EECF244321}">
                <p14:modId xmlns:p14="http://schemas.microsoft.com/office/powerpoint/2010/main" val="3880114806"/>
              </p:ext>
            </p:extLst>
          </p:nvPr>
        </p:nvGraphicFramePr>
        <p:xfrm>
          <a:off x="7693362" y="6233596"/>
          <a:ext cx="2914650" cy="439738"/>
        </p:xfrm>
        <a:graphic>
          <a:graphicData uri="http://schemas.openxmlformats.org/presentationml/2006/ole">
            <mc:AlternateContent xmlns:mc="http://schemas.openxmlformats.org/markup-compatibility/2006">
              <mc:Choice xmlns:v="urn:schemas-microsoft-com:vml" Requires="v">
                <p:oleObj spid="_x0000_s66587" name="Packager Shell Object" showAsIcon="1" r:id="rId5" imgW="2915280" imgH="439560" progId="Package">
                  <p:embed/>
                </p:oleObj>
              </mc:Choice>
              <mc:Fallback>
                <p:oleObj name="Packager Shell Object" showAsIcon="1" r:id="rId5" imgW="2915280" imgH="439560" progId="Package">
                  <p:embed/>
                  <p:pic>
                    <p:nvPicPr>
                      <p:cNvPr id="0" name=""/>
                      <p:cNvPicPr/>
                      <p:nvPr/>
                    </p:nvPicPr>
                    <p:blipFill>
                      <a:blip r:embed="rId6"/>
                      <a:stretch>
                        <a:fillRect/>
                      </a:stretch>
                    </p:blipFill>
                    <p:spPr>
                      <a:xfrm>
                        <a:off x="7693362" y="6233596"/>
                        <a:ext cx="2914650" cy="439738"/>
                      </a:xfrm>
                      <a:prstGeom prst="rect">
                        <a:avLst/>
                      </a:prstGeom>
                    </p:spPr>
                  </p:pic>
                </p:oleObj>
              </mc:Fallback>
            </mc:AlternateContent>
          </a:graphicData>
        </a:graphic>
      </p:graphicFrame>
    </p:spTree>
    <p:extLst>
      <p:ext uri="{BB962C8B-B14F-4D97-AF65-F5344CB8AC3E}">
        <p14:creationId xmlns:p14="http://schemas.microsoft.com/office/powerpoint/2010/main" val="416049418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33304" y="0"/>
            <a:ext cx="1758696" cy="1353312"/>
          </a:xfrm>
          <a:prstGeom prst="rect">
            <a:avLst/>
          </a:prstGeom>
        </p:spPr>
      </p:pic>
      <p:sp>
        <p:nvSpPr>
          <p:cNvPr id="6" name="TextBox 5"/>
          <p:cNvSpPr txBox="1"/>
          <p:nvPr/>
        </p:nvSpPr>
        <p:spPr>
          <a:xfrm>
            <a:off x="10309753" y="6488668"/>
            <a:ext cx="1882247" cy="369332"/>
          </a:xfrm>
          <a:prstGeom prst="rect">
            <a:avLst/>
          </a:prstGeom>
          <a:noFill/>
        </p:spPr>
        <p:txBody>
          <a:bodyPr wrap="none" rtlCol="1">
            <a:spAutoFit/>
          </a:bodyPr>
          <a:lstStyle/>
          <a:p>
            <a:r>
              <a:rPr lang="en-US" b="1" dirty="0" smtClean="0">
                <a:solidFill>
                  <a:schemeClr val="accent3">
                    <a:lumMod val="40000"/>
                    <a:lumOff val="60000"/>
                  </a:schemeClr>
                </a:solidFill>
              </a:rPr>
              <a:t>By </a:t>
            </a:r>
            <a:r>
              <a:rPr lang="en-US" b="1" dirty="0" err="1" smtClean="0">
                <a:solidFill>
                  <a:schemeClr val="accent3">
                    <a:lumMod val="40000"/>
                    <a:lumOff val="60000"/>
                  </a:schemeClr>
                </a:solidFill>
              </a:rPr>
              <a:t>Eslam</a:t>
            </a:r>
            <a:r>
              <a:rPr lang="en-US" b="1" dirty="0" smtClean="0">
                <a:solidFill>
                  <a:schemeClr val="accent3">
                    <a:lumMod val="40000"/>
                    <a:lumOff val="60000"/>
                  </a:schemeClr>
                </a:solidFill>
              </a:rPr>
              <a:t> </a:t>
            </a:r>
            <a:r>
              <a:rPr lang="en-US" b="1" dirty="0" err="1" smtClean="0">
                <a:solidFill>
                  <a:schemeClr val="accent3">
                    <a:lumMod val="40000"/>
                    <a:lumOff val="60000"/>
                  </a:schemeClr>
                </a:solidFill>
              </a:rPr>
              <a:t>Khder</a:t>
            </a:r>
            <a:endParaRPr lang="ar-EG" b="1" dirty="0">
              <a:solidFill>
                <a:schemeClr val="accent3">
                  <a:lumMod val="40000"/>
                  <a:lumOff val="60000"/>
                </a:schemeClr>
              </a:solidFill>
            </a:endParaRPr>
          </a:p>
        </p:txBody>
      </p:sp>
      <p:pic>
        <p:nvPicPr>
          <p:cNvPr id="2" name="Picture 1"/>
          <p:cNvPicPr>
            <a:picLocks noChangeAspect="1"/>
          </p:cNvPicPr>
          <p:nvPr/>
        </p:nvPicPr>
        <p:blipFill>
          <a:blip r:embed="rId4"/>
          <a:stretch>
            <a:fillRect/>
          </a:stretch>
        </p:blipFill>
        <p:spPr>
          <a:xfrm>
            <a:off x="644786" y="1621609"/>
            <a:ext cx="10523958" cy="4598761"/>
          </a:xfrm>
          <a:prstGeom prst="rect">
            <a:avLst/>
          </a:prstGeom>
        </p:spPr>
      </p:pic>
      <p:sp>
        <p:nvSpPr>
          <p:cNvPr id="7" name="Rectangle 6"/>
          <p:cNvSpPr/>
          <p:nvPr/>
        </p:nvSpPr>
        <p:spPr>
          <a:xfrm>
            <a:off x="3501332" y="875027"/>
            <a:ext cx="3975767" cy="369332"/>
          </a:xfrm>
          <a:prstGeom prst="rect">
            <a:avLst/>
          </a:prstGeom>
        </p:spPr>
        <p:txBody>
          <a:bodyPr wrap="none">
            <a:spAutoFit/>
          </a:bodyPr>
          <a:lstStyle/>
          <a:p>
            <a:r>
              <a:rPr lang="en-US" b="1" dirty="0"/>
              <a:t>RIGHT JOIN (or RIGHT OUTER JOIN)</a:t>
            </a:r>
            <a:endParaRPr lang="ar-EG" b="1" dirty="0"/>
          </a:p>
        </p:txBody>
      </p:sp>
      <p:graphicFrame>
        <p:nvGraphicFramePr>
          <p:cNvPr id="3" name="Object 2"/>
          <p:cNvGraphicFramePr>
            <a:graphicFrameLocks noChangeAspect="1"/>
          </p:cNvGraphicFramePr>
          <p:nvPr>
            <p:extLst>
              <p:ext uri="{D42A27DB-BD31-4B8C-83A1-F6EECF244321}">
                <p14:modId xmlns:p14="http://schemas.microsoft.com/office/powerpoint/2010/main" val="470778092"/>
              </p:ext>
            </p:extLst>
          </p:nvPr>
        </p:nvGraphicFramePr>
        <p:xfrm>
          <a:off x="7818121" y="1730562"/>
          <a:ext cx="3350624" cy="610302"/>
        </p:xfrm>
        <a:graphic>
          <a:graphicData uri="http://schemas.openxmlformats.org/presentationml/2006/ole">
            <mc:AlternateContent xmlns:mc="http://schemas.openxmlformats.org/markup-compatibility/2006">
              <mc:Choice xmlns:v="urn:schemas-microsoft-com:vml" Requires="v">
                <p:oleObj spid="_x0000_s67609" name="Packager Shell Object" showAsIcon="1" r:id="rId5" imgW="3108960" imgH="439560" progId="Package">
                  <p:embed/>
                </p:oleObj>
              </mc:Choice>
              <mc:Fallback>
                <p:oleObj name="Packager Shell Object" showAsIcon="1" r:id="rId5" imgW="3108960" imgH="439560" progId="Package">
                  <p:embed/>
                  <p:pic>
                    <p:nvPicPr>
                      <p:cNvPr id="0" name=""/>
                      <p:cNvPicPr/>
                      <p:nvPr/>
                    </p:nvPicPr>
                    <p:blipFill>
                      <a:blip r:embed="rId6"/>
                      <a:stretch>
                        <a:fillRect/>
                      </a:stretch>
                    </p:blipFill>
                    <p:spPr>
                      <a:xfrm>
                        <a:off x="7818121" y="1730562"/>
                        <a:ext cx="3350624" cy="610302"/>
                      </a:xfrm>
                      <a:prstGeom prst="rect">
                        <a:avLst/>
                      </a:prstGeom>
                    </p:spPr>
                  </p:pic>
                </p:oleObj>
              </mc:Fallback>
            </mc:AlternateContent>
          </a:graphicData>
        </a:graphic>
      </p:graphicFrame>
    </p:spTree>
    <p:extLst>
      <p:ext uri="{BB962C8B-B14F-4D97-AF65-F5344CB8AC3E}">
        <p14:creationId xmlns:p14="http://schemas.microsoft.com/office/powerpoint/2010/main" val="39709916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33304" y="0"/>
            <a:ext cx="1758696" cy="1353312"/>
          </a:xfrm>
          <a:prstGeom prst="rect">
            <a:avLst/>
          </a:prstGeom>
        </p:spPr>
      </p:pic>
      <p:sp>
        <p:nvSpPr>
          <p:cNvPr id="6" name="TextBox 5"/>
          <p:cNvSpPr txBox="1"/>
          <p:nvPr/>
        </p:nvSpPr>
        <p:spPr>
          <a:xfrm>
            <a:off x="10309753" y="6488668"/>
            <a:ext cx="1882247" cy="369332"/>
          </a:xfrm>
          <a:prstGeom prst="rect">
            <a:avLst/>
          </a:prstGeom>
          <a:noFill/>
        </p:spPr>
        <p:txBody>
          <a:bodyPr wrap="none" rtlCol="1">
            <a:spAutoFit/>
          </a:bodyPr>
          <a:lstStyle/>
          <a:p>
            <a:r>
              <a:rPr lang="en-US" b="1" dirty="0" smtClean="0">
                <a:solidFill>
                  <a:schemeClr val="accent3">
                    <a:lumMod val="40000"/>
                    <a:lumOff val="60000"/>
                  </a:schemeClr>
                </a:solidFill>
              </a:rPr>
              <a:t>By </a:t>
            </a:r>
            <a:r>
              <a:rPr lang="en-US" b="1" dirty="0" err="1" smtClean="0">
                <a:solidFill>
                  <a:schemeClr val="accent3">
                    <a:lumMod val="40000"/>
                    <a:lumOff val="60000"/>
                  </a:schemeClr>
                </a:solidFill>
              </a:rPr>
              <a:t>Eslam</a:t>
            </a:r>
            <a:r>
              <a:rPr lang="en-US" b="1" dirty="0" smtClean="0">
                <a:solidFill>
                  <a:schemeClr val="accent3">
                    <a:lumMod val="40000"/>
                    <a:lumOff val="60000"/>
                  </a:schemeClr>
                </a:solidFill>
              </a:rPr>
              <a:t> </a:t>
            </a:r>
            <a:r>
              <a:rPr lang="en-US" b="1" dirty="0" err="1" smtClean="0">
                <a:solidFill>
                  <a:schemeClr val="accent3">
                    <a:lumMod val="40000"/>
                    <a:lumOff val="60000"/>
                  </a:schemeClr>
                </a:solidFill>
              </a:rPr>
              <a:t>Khder</a:t>
            </a:r>
            <a:endParaRPr lang="ar-EG" b="1" dirty="0">
              <a:solidFill>
                <a:schemeClr val="accent3">
                  <a:lumMod val="40000"/>
                  <a:lumOff val="60000"/>
                </a:schemeClr>
              </a:solidFill>
            </a:endParaRPr>
          </a:p>
        </p:txBody>
      </p:sp>
      <p:pic>
        <p:nvPicPr>
          <p:cNvPr id="2" name="Picture 1"/>
          <p:cNvPicPr>
            <a:picLocks noChangeAspect="1"/>
          </p:cNvPicPr>
          <p:nvPr/>
        </p:nvPicPr>
        <p:blipFill>
          <a:blip r:embed="rId4"/>
          <a:stretch>
            <a:fillRect/>
          </a:stretch>
        </p:blipFill>
        <p:spPr>
          <a:xfrm>
            <a:off x="469284" y="2865881"/>
            <a:ext cx="10796123" cy="3196591"/>
          </a:xfrm>
          <a:prstGeom prst="rect">
            <a:avLst/>
          </a:prstGeom>
        </p:spPr>
      </p:pic>
      <p:graphicFrame>
        <p:nvGraphicFramePr>
          <p:cNvPr id="3" name="Object 2"/>
          <p:cNvGraphicFramePr>
            <a:graphicFrameLocks noChangeAspect="1"/>
          </p:cNvGraphicFramePr>
          <p:nvPr>
            <p:extLst>
              <p:ext uri="{D42A27DB-BD31-4B8C-83A1-F6EECF244321}">
                <p14:modId xmlns:p14="http://schemas.microsoft.com/office/powerpoint/2010/main" val="3979679420"/>
              </p:ext>
            </p:extLst>
          </p:nvPr>
        </p:nvGraphicFramePr>
        <p:xfrm>
          <a:off x="8679572" y="5380982"/>
          <a:ext cx="2571304" cy="596392"/>
        </p:xfrm>
        <a:graphic>
          <a:graphicData uri="http://schemas.openxmlformats.org/presentationml/2006/ole">
            <mc:AlternateContent xmlns:mc="http://schemas.openxmlformats.org/markup-compatibility/2006">
              <mc:Choice xmlns:v="urn:schemas-microsoft-com:vml" Requires="v">
                <p:oleObj spid="_x0000_s68633" name="Packager Shell Object" showAsIcon="1" r:id="rId5" imgW="2193120" imgH="439560" progId="Package">
                  <p:embed/>
                </p:oleObj>
              </mc:Choice>
              <mc:Fallback>
                <p:oleObj name="Packager Shell Object" showAsIcon="1" r:id="rId5" imgW="2193120" imgH="439560" progId="Package">
                  <p:embed/>
                  <p:pic>
                    <p:nvPicPr>
                      <p:cNvPr id="0" name=""/>
                      <p:cNvPicPr/>
                      <p:nvPr/>
                    </p:nvPicPr>
                    <p:blipFill>
                      <a:blip r:embed="rId6"/>
                      <a:stretch>
                        <a:fillRect/>
                      </a:stretch>
                    </p:blipFill>
                    <p:spPr>
                      <a:xfrm>
                        <a:off x="8679572" y="5380982"/>
                        <a:ext cx="2571304" cy="596392"/>
                      </a:xfrm>
                      <a:prstGeom prst="rect">
                        <a:avLst/>
                      </a:prstGeom>
                    </p:spPr>
                  </p:pic>
                </p:oleObj>
              </mc:Fallback>
            </mc:AlternateContent>
          </a:graphicData>
        </a:graphic>
      </p:graphicFrame>
      <p:sp>
        <p:nvSpPr>
          <p:cNvPr id="7" name="Rectangle 6"/>
          <p:cNvSpPr/>
          <p:nvPr/>
        </p:nvSpPr>
        <p:spPr>
          <a:xfrm>
            <a:off x="3592772" y="983980"/>
            <a:ext cx="3632725" cy="369332"/>
          </a:xfrm>
          <a:prstGeom prst="rect">
            <a:avLst/>
          </a:prstGeom>
        </p:spPr>
        <p:txBody>
          <a:bodyPr wrap="none">
            <a:spAutoFit/>
          </a:bodyPr>
          <a:lstStyle/>
          <a:p>
            <a:r>
              <a:rPr lang="en-US" b="1" dirty="0"/>
              <a:t>FULL JOIN (or FULL OUTER JOIN)</a:t>
            </a:r>
            <a:endParaRPr lang="ar-EG" b="1" dirty="0"/>
          </a:p>
        </p:txBody>
      </p:sp>
    </p:spTree>
    <p:extLst>
      <p:ext uri="{BB962C8B-B14F-4D97-AF65-F5344CB8AC3E}">
        <p14:creationId xmlns:p14="http://schemas.microsoft.com/office/powerpoint/2010/main" val="348907935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33304" y="0"/>
            <a:ext cx="1758696" cy="1353312"/>
          </a:xfrm>
          <a:prstGeom prst="rect">
            <a:avLst/>
          </a:prstGeom>
        </p:spPr>
      </p:pic>
      <p:sp>
        <p:nvSpPr>
          <p:cNvPr id="6" name="TextBox 5"/>
          <p:cNvSpPr txBox="1"/>
          <p:nvPr/>
        </p:nvSpPr>
        <p:spPr>
          <a:xfrm>
            <a:off x="10309753" y="6488668"/>
            <a:ext cx="1882247" cy="369332"/>
          </a:xfrm>
          <a:prstGeom prst="rect">
            <a:avLst/>
          </a:prstGeom>
          <a:noFill/>
        </p:spPr>
        <p:txBody>
          <a:bodyPr wrap="none" rtlCol="1">
            <a:spAutoFit/>
          </a:bodyPr>
          <a:lstStyle/>
          <a:p>
            <a:r>
              <a:rPr lang="en-US" b="1" dirty="0" smtClean="0">
                <a:solidFill>
                  <a:schemeClr val="accent3">
                    <a:lumMod val="40000"/>
                    <a:lumOff val="60000"/>
                  </a:schemeClr>
                </a:solidFill>
              </a:rPr>
              <a:t>By </a:t>
            </a:r>
            <a:r>
              <a:rPr lang="en-US" b="1" dirty="0" err="1" smtClean="0">
                <a:solidFill>
                  <a:schemeClr val="accent3">
                    <a:lumMod val="40000"/>
                    <a:lumOff val="60000"/>
                  </a:schemeClr>
                </a:solidFill>
              </a:rPr>
              <a:t>Eslam</a:t>
            </a:r>
            <a:r>
              <a:rPr lang="en-US" b="1" dirty="0" smtClean="0">
                <a:solidFill>
                  <a:schemeClr val="accent3">
                    <a:lumMod val="40000"/>
                    <a:lumOff val="60000"/>
                  </a:schemeClr>
                </a:solidFill>
              </a:rPr>
              <a:t> </a:t>
            </a:r>
            <a:r>
              <a:rPr lang="en-US" b="1" dirty="0" err="1" smtClean="0">
                <a:solidFill>
                  <a:schemeClr val="accent3">
                    <a:lumMod val="40000"/>
                    <a:lumOff val="60000"/>
                  </a:schemeClr>
                </a:solidFill>
              </a:rPr>
              <a:t>Khder</a:t>
            </a:r>
            <a:endParaRPr lang="ar-EG" b="1" dirty="0">
              <a:solidFill>
                <a:schemeClr val="accent3">
                  <a:lumMod val="40000"/>
                  <a:lumOff val="60000"/>
                </a:schemeClr>
              </a:solidFill>
            </a:endParaRPr>
          </a:p>
        </p:txBody>
      </p:sp>
      <p:pic>
        <p:nvPicPr>
          <p:cNvPr id="2" name="Picture 1"/>
          <p:cNvPicPr>
            <a:picLocks noChangeAspect="1"/>
          </p:cNvPicPr>
          <p:nvPr/>
        </p:nvPicPr>
        <p:blipFill>
          <a:blip r:embed="rId4"/>
          <a:stretch>
            <a:fillRect/>
          </a:stretch>
        </p:blipFill>
        <p:spPr>
          <a:xfrm>
            <a:off x="524065" y="1702498"/>
            <a:ext cx="9415463" cy="4786170"/>
          </a:xfrm>
          <a:prstGeom prst="rect">
            <a:avLst/>
          </a:prstGeom>
        </p:spPr>
      </p:pic>
      <p:graphicFrame>
        <p:nvGraphicFramePr>
          <p:cNvPr id="3" name="Object 2"/>
          <p:cNvGraphicFramePr>
            <a:graphicFrameLocks noChangeAspect="1"/>
          </p:cNvGraphicFramePr>
          <p:nvPr>
            <p:extLst>
              <p:ext uri="{D42A27DB-BD31-4B8C-83A1-F6EECF244321}">
                <p14:modId xmlns:p14="http://schemas.microsoft.com/office/powerpoint/2010/main" val="2292185909"/>
              </p:ext>
            </p:extLst>
          </p:nvPr>
        </p:nvGraphicFramePr>
        <p:xfrm>
          <a:off x="7587996" y="6048930"/>
          <a:ext cx="2128838" cy="439738"/>
        </p:xfrm>
        <a:graphic>
          <a:graphicData uri="http://schemas.openxmlformats.org/presentationml/2006/ole">
            <mc:AlternateContent xmlns:mc="http://schemas.openxmlformats.org/markup-compatibility/2006">
              <mc:Choice xmlns:v="urn:schemas-microsoft-com:vml" Requires="v">
                <p:oleObj spid="_x0000_s69655" name="Packager Shell Object" showAsIcon="1" r:id="rId5" imgW="2128680" imgH="439560" progId="Package">
                  <p:embed/>
                </p:oleObj>
              </mc:Choice>
              <mc:Fallback>
                <p:oleObj name="Packager Shell Object" showAsIcon="1" r:id="rId5" imgW="2128680" imgH="439560" progId="Package">
                  <p:embed/>
                  <p:pic>
                    <p:nvPicPr>
                      <p:cNvPr id="0" name=""/>
                      <p:cNvPicPr/>
                      <p:nvPr/>
                    </p:nvPicPr>
                    <p:blipFill>
                      <a:blip r:embed="rId6"/>
                      <a:stretch>
                        <a:fillRect/>
                      </a:stretch>
                    </p:blipFill>
                    <p:spPr>
                      <a:xfrm>
                        <a:off x="7587996" y="6048930"/>
                        <a:ext cx="2128838" cy="439738"/>
                      </a:xfrm>
                      <a:prstGeom prst="rect">
                        <a:avLst/>
                      </a:prstGeom>
                    </p:spPr>
                  </p:pic>
                </p:oleObj>
              </mc:Fallback>
            </mc:AlternateContent>
          </a:graphicData>
        </a:graphic>
      </p:graphicFrame>
      <p:sp>
        <p:nvSpPr>
          <p:cNvPr id="4" name="Rectangle 3"/>
          <p:cNvSpPr/>
          <p:nvPr/>
        </p:nvSpPr>
        <p:spPr>
          <a:xfrm>
            <a:off x="1725166" y="676656"/>
            <a:ext cx="4511041" cy="369332"/>
          </a:xfrm>
          <a:prstGeom prst="rect">
            <a:avLst/>
          </a:prstGeom>
        </p:spPr>
        <p:txBody>
          <a:bodyPr wrap="square">
            <a:spAutoFit/>
          </a:bodyPr>
          <a:lstStyle/>
          <a:p>
            <a:r>
              <a:rPr lang="ar-EG" b="1" dirty="0" smtClean="0"/>
              <a:t>Using Subqueries</a:t>
            </a:r>
            <a:endParaRPr lang="ar-EG" b="1" dirty="0"/>
          </a:p>
        </p:txBody>
      </p:sp>
    </p:spTree>
    <p:extLst>
      <p:ext uri="{BB962C8B-B14F-4D97-AF65-F5344CB8AC3E}">
        <p14:creationId xmlns:p14="http://schemas.microsoft.com/office/powerpoint/2010/main" val="164057688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33304" y="0"/>
            <a:ext cx="1758696" cy="1353312"/>
          </a:xfrm>
          <a:prstGeom prst="rect">
            <a:avLst/>
          </a:prstGeom>
        </p:spPr>
      </p:pic>
      <p:sp>
        <p:nvSpPr>
          <p:cNvPr id="6" name="TextBox 5"/>
          <p:cNvSpPr txBox="1"/>
          <p:nvPr/>
        </p:nvSpPr>
        <p:spPr>
          <a:xfrm>
            <a:off x="10309753" y="6488668"/>
            <a:ext cx="1882247" cy="369332"/>
          </a:xfrm>
          <a:prstGeom prst="rect">
            <a:avLst/>
          </a:prstGeom>
          <a:noFill/>
        </p:spPr>
        <p:txBody>
          <a:bodyPr wrap="none" rtlCol="1">
            <a:spAutoFit/>
          </a:bodyPr>
          <a:lstStyle/>
          <a:p>
            <a:r>
              <a:rPr lang="en-US" b="1" dirty="0" smtClean="0">
                <a:solidFill>
                  <a:schemeClr val="accent3">
                    <a:lumMod val="40000"/>
                    <a:lumOff val="60000"/>
                  </a:schemeClr>
                </a:solidFill>
              </a:rPr>
              <a:t>By </a:t>
            </a:r>
            <a:r>
              <a:rPr lang="en-US" b="1" dirty="0" err="1" smtClean="0">
                <a:solidFill>
                  <a:schemeClr val="accent3">
                    <a:lumMod val="40000"/>
                    <a:lumOff val="60000"/>
                  </a:schemeClr>
                </a:solidFill>
              </a:rPr>
              <a:t>Eslam</a:t>
            </a:r>
            <a:r>
              <a:rPr lang="en-US" b="1" dirty="0" smtClean="0">
                <a:solidFill>
                  <a:schemeClr val="accent3">
                    <a:lumMod val="40000"/>
                    <a:lumOff val="60000"/>
                  </a:schemeClr>
                </a:solidFill>
              </a:rPr>
              <a:t> </a:t>
            </a:r>
            <a:r>
              <a:rPr lang="en-US" b="1" dirty="0" err="1" smtClean="0">
                <a:solidFill>
                  <a:schemeClr val="accent3">
                    <a:lumMod val="40000"/>
                    <a:lumOff val="60000"/>
                  </a:schemeClr>
                </a:solidFill>
              </a:rPr>
              <a:t>Khder</a:t>
            </a:r>
            <a:endParaRPr lang="ar-EG" b="1" dirty="0">
              <a:solidFill>
                <a:schemeClr val="accent3">
                  <a:lumMod val="40000"/>
                  <a:lumOff val="60000"/>
                </a:schemeClr>
              </a:solidFill>
            </a:endParaRPr>
          </a:p>
        </p:txBody>
      </p:sp>
      <p:pic>
        <p:nvPicPr>
          <p:cNvPr id="2" name="Picture 1"/>
          <p:cNvPicPr>
            <a:picLocks noChangeAspect="1"/>
          </p:cNvPicPr>
          <p:nvPr/>
        </p:nvPicPr>
        <p:blipFill>
          <a:blip r:embed="rId4"/>
          <a:stretch>
            <a:fillRect/>
          </a:stretch>
        </p:blipFill>
        <p:spPr>
          <a:xfrm>
            <a:off x="438614" y="1736336"/>
            <a:ext cx="10099739" cy="4936998"/>
          </a:xfrm>
          <a:prstGeom prst="rect">
            <a:avLst/>
          </a:prstGeom>
        </p:spPr>
      </p:pic>
      <p:graphicFrame>
        <p:nvGraphicFramePr>
          <p:cNvPr id="3" name="Object 2"/>
          <p:cNvGraphicFramePr>
            <a:graphicFrameLocks noChangeAspect="1"/>
          </p:cNvGraphicFramePr>
          <p:nvPr>
            <p:extLst>
              <p:ext uri="{D42A27DB-BD31-4B8C-83A1-F6EECF244321}">
                <p14:modId xmlns:p14="http://schemas.microsoft.com/office/powerpoint/2010/main" val="401222391"/>
              </p:ext>
            </p:extLst>
          </p:nvPr>
        </p:nvGraphicFramePr>
        <p:xfrm>
          <a:off x="7788656" y="6048931"/>
          <a:ext cx="2392363" cy="439737"/>
        </p:xfrm>
        <a:graphic>
          <a:graphicData uri="http://schemas.openxmlformats.org/presentationml/2006/ole">
            <mc:AlternateContent xmlns:mc="http://schemas.openxmlformats.org/markup-compatibility/2006">
              <mc:Choice xmlns:v="urn:schemas-microsoft-com:vml" Requires="v">
                <p:oleObj spid="_x0000_s70678" name="Packager Shell Object" showAsIcon="1" r:id="rId5" imgW="2392920" imgH="439560" progId="Package">
                  <p:embed/>
                </p:oleObj>
              </mc:Choice>
              <mc:Fallback>
                <p:oleObj name="Packager Shell Object" showAsIcon="1" r:id="rId5" imgW="2392920" imgH="439560" progId="Package">
                  <p:embed/>
                  <p:pic>
                    <p:nvPicPr>
                      <p:cNvPr id="0" name=""/>
                      <p:cNvPicPr/>
                      <p:nvPr/>
                    </p:nvPicPr>
                    <p:blipFill>
                      <a:blip r:embed="rId6"/>
                      <a:stretch>
                        <a:fillRect/>
                      </a:stretch>
                    </p:blipFill>
                    <p:spPr>
                      <a:xfrm>
                        <a:off x="7788656" y="6048931"/>
                        <a:ext cx="2392363" cy="439737"/>
                      </a:xfrm>
                      <a:prstGeom prst="rect">
                        <a:avLst/>
                      </a:prstGeom>
                    </p:spPr>
                  </p:pic>
                </p:oleObj>
              </mc:Fallback>
            </mc:AlternateContent>
          </a:graphicData>
        </a:graphic>
      </p:graphicFrame>
      <p:sp>
        <p:nvSpPr>
          <p:cNvPr id="7" name="Rectangle 6"/>
          <p:cNvSpPr/>
          <p:nvPr/>
        </p:nvSpPr>
        <p:spPr>
          <a:xfrm>
            <a:off x="3693682" y="832104"/>
            <a:ext cx="3301478" cy="369332"/>
          </a:xfrm>
          <a:prstGeom prst="rect">
            <a:avLst/>
          </a:prstGeom>
        </p:spPr>
        <p:txBody>
          <a:bodyPr wrap="square">
            <a:spAutoFit/>
          </a:bodyPr>
          <a:lstStyle/>
          <a:p>
            <a:r>
              <a:rPr lang="ar-EG" dirty="0" smtClean="0"/>
              <a:t>Single Row Subqueries</a:t>
            </a:r>
            <a:endParaRPr lang="ar-EG" dirty="0"/>
          </a:p>
        </p:txBody>
      </p:sp>
    </p:spTree>
    <p:extLst>
      <p:ext uri="{BB962C8B-B14F-4D97-AF65-F5344CB8AC3E}">
        <p14:creationId xmlns:p14="http://schemas.microsoft.com/office/powerpoint/2010/main" val="91660986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433304" y="0"/>
            <a:ext cx="1758696" cy="1353312"/>
          </a:xfrm>
          <a:prstGeom prst="rect">
            <a:avLst/>
          </a:prstGeom>
        </p:spPr>
      </p:pic>
      <p:sp>
        <p:nvSpPr>
          <p:cNvPr id="6" name="TextBox 5"/>
          <p:cNvSpPr txBox="1"/>
          <p:nvPr/>
        </p:nvSpPr>
        <p:spPr>
          <a:xfrm>
            <a:off x="10309753" y="6488668"/>
            <a:ext cx="1882247" cy="369332"/>
          </a:xfrm>
          <a:prstGeom prst="rect">
            <a:avLst/>
          </a:prstGeom>
          <a:noFill/>
        </p:spPr>
        <p:txBody>
          <a:bodyPr wrap="none" rtlCol="1">
            <a:spAutoFit/>
          </a:bodyPr>
          <a:lstStyle/>
          <a:p>
            <a:r>
              <a:rPr lang="en-US" b="1" dirty="0" smtClean="0">
                <a:solidFill>
                  <a:schemeClr val="accent3">
                    <a:lumMod val="40000"/>
                    <a:lumOff val="60000"/>
                  </a:schemeClr>
                </a:solidFill>
              </a:rPr>
              <a:t>By </a:t>
            </a:r>
            <a:r>
              <a:rPr lang="en-US" b="1" dirty="0" err="1" smtClean="0">
                <a:solidFill>
                  <a:schemeClr val="accent3">
                    <a:lumMod val="40000"/>
                    <a:lumOff val="60000"/>
                  </a:schemeClr>
                </a:solidFill>
              </a:rPr>
              <a:t>Eslam</a:t>
            </a:r>
            <a:r>
              <a:rPr lang="en-US" b="1" dirty="0" smtClean="0">
                <a:solidFill>
                  <a:schemeClr val="accent3">
                    <a:lumMod val="40000"/>
                    <a:lumOff val="60000"/>
                  </a:schemeClr>
                </a:solidFill>
              </a:rPr>
              <a:t> </a:t>
            </a:r>
            <a:r>
              <a:rPr lang="en-US" b="1" dirty="0" err="1" smtClean="0">
                <a:solidFill>
                  <a:schemeClr val="accent3">
                    <a:lumMod val="40000"/>
                    <a:lumOff val="60000"/>
                  </a:schemeClr>
                </a:solidFill>
              </a:rPr>
              <a:t>Khder</a:t>
            </a:r>
            <a:endParaRPr lang="ar-EG" b="1" dirty="0">
              <a:solidFill>
                <a:schemeClr val="accent3">
                  <a:lumMod val="40000"/>
                  <a:lumOff val="60000"/>
                </a:schemeClr>
              </a:solidFill>
            </a:endParaRPr>
          </a:p>
        </p:txBody>
      </p:sp>
      <p:pic>
        <p:nvPicPr>
          <p:cNvPr id="2" name="Picture 1"/>
          <p:cNvPicPr>
            <a:picLocks noChangeAspect="1"/>
          </p:cNvPicPr>
          <p:nvPr/>
        </p:nvPicPr>
        <p:blipFill>
          <a:blip r:embed="rId4"/>
          <a:stretch>
            <a:fillRect/>
          </a:stretch>
        </p:blipFill>
        <p:spPr>
          <a:xfrm>
            <a:off x="174498" y="1472184"/>
            <a:ext cx="10423398" cy="5016484"/>
          </a:xfrm>
          <a:prstGeom prst="rect">
            <a:avLst/>
          </a:prstGeom>
        </p:spPr>
      </p:pic>
      <p:graphicFrame>
        <p:nvGraphicFramePr>
          <p:cNvPr id="3" name="Object 2"/>
          <p:cNvGraphicFramePr>
            <a:graphicFrameLocks noChangeAspect="1"/>
          </p:cNvGraphicFramePr>
          <p:nvPr>
            <p:extLst>
              <p:ext uri="{D42A27DB-BD31-4B8C-83A1-F6EECF244321}">
                <p14:modId xmlns:p14="http://schemas.microsoft.com/office/powerpoint/2010/main" val="543676207"/>
              </p:ext>
            </p:extLst>
          </p:nvPr>
        </p:nvGraphicFramePr>
        <p:xfrm>
          <a:off x="7929816" y="5899467"/>
          <a:ext cx="2503488" cy="439737"/>
        </p:xfrm>
        <a:graphic>
          <a:graphicData uri="http://schemas.openxmlformats.org/presentationml/2006/ole">
            <mc:AlternateContent xmlns:mc="http://schemas.openxmlformats.org/markup-compatibility/2006">
              <mc:Choice xmlns:v="urn:schemas-microsoft-com:vml" Requires="v">
                <p:oleObj spid="_x0000_s71700" name="Packager Shell Object" showAsIcon="1" r:id="rId5" imgW="2502720" imgH="439560" progId="Package">
                  <p:embed/>
                </p:oleObj>
              </mc:Choice>
              <mc:Fallback>
                <p:oleObj name="Packager Shell Object" showAsIcon="1" r:id="rId5" imgW="2502720" imgH="439560" progId="Package">
                  <p:embed/>
                  <p:pic>
                    <p:nvPicPr>
                      <p:cNvPr id="0" name=""/>
                      <p:cNvPicPr/>
                      <p:nvPr/>
                    </p:nvPicPr>
                    <p:blipFill>
                      <a:blip r:embed="rId6"/>
                      <a:stretch>
                        <a:fillRect/>
                      </a:stretch>
                    </p:blipFill>
                    <p:spPr>
                      <a:xfrm>
                        <a:off x="7929816" y="5899467"/>
                        <a:ext cx="2503488" cy="439737"/>
                      </a:xfrm>
                      <a:prstGeom prst="rect">
                        <a:avLst/>
                      </a:prstGeom>
                    </p:spPr>
                  </p:pic>
                </p:oleObj>
              </mc:Fallback>
            </mc:AlternateContent>
          </a:graphicData>
        </a:graphic>
      </p:graphicFrame>
      <p:sp>
        <p:nvSpPr>
          <p:cNvPr id="4" name="Rectangle 3"/>
          <p:cNvSpPr/>
          <p:nvPr/>
        </p:nvSpPr>
        <p:spPr>
          <a:xfrm>
            <a:off x="4012040" y="733520"/>
            <a:ext cx="2892138" cy="369332"/>
          </a:xfrm>
          <a:prstGeom prst="rect">
            <a:avLst/>
          </a:prstGeom>
        </p:spPr>
        <p:txBody>
          <a:bodyPr wrap="none">
            <a:spAutoFit/>
          </a:bodyPr>
          <a:lstStyle/>
          <a:p>
            <a:r>
              <a:rPr lang="ar-EG" dirty="0" smtClean="0"/>
              <a:t>Multiple Row Subqueries</a:t>
            </a:r>
            <a:endParaRPr lang="ar-EG" dirty="0"/>
          </a:p>
        </p:txBody>
      </p:sp>
    </p:spTree>
    <p:extLst>
      <p:ext uri="{BB962C8B-B14F-4D97-AF65-F5344CB8AC3E}">
        <p14:creationId xmlns:p14="http://schemas.microsoft.com/office/powerpoint/2010/main" val="67492135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3304" y="0"/>
            <a:ext cx="1758696" cy="1353312"/>
          </a:xfrm>
          <a:prstGeom prst="rect">
            <a:avLst/>
          </a:prstGeom>
        </p:spPr>
      </p:pic>
      <p:sp>
        <p:nvSpPr>
          <p:cNvPr id="6" name="TextBox 5"/>
          <p:cNvSpPr txBox="1"/>
          <p:nvPr/>
        </p:nvSpPr>
        <p:spPr>
          <a:xfrm>
            <a:off x="10309753" y="6488668"/>
            <a:ext cx="1882247" cy="369332"/>
          </a:xfrm>
          <a:prstGeom prst="rect">
            <a:avLst/>
          </a:prstGeom>
          <a:noFill/>
        </p:spPr>
        <p:txBody>
          <a:bodyPr wrap="none" rtlCol="1">
            <a:spAutoFit/>
          </a:bodyPr>
          <a:lstStyle/>
          <a:p>
            <a:r>
              <a:rPr lang="en-US" b="1" dirty="0" smtClean="0">
                <a:solidFill>
                  <a:schemeClr val="accent3">
                    <a:lumMod val="40000"/>
                    <a:lumOff val="60000"/>
                  </a:schemeClr>
                </a:solidFill>
              </a:rPr>
              <a:t>By </a:t>
            </a:r>
            <a:r>
              <a:rPr lang="en-US" b="1" dirty="0" err="1" smtClean="0">
                <a:solidFill>
                  <a:schemeClr val="accent3">
                    <a:lumMod val="40000"/>
                    <a:lumOff val="60000"/>
                  </a:schemeClr>
                </a:solidFill>
              </a:rPr>
              <a:t>Eslam</a:t>
            </a:r>
            <a:r>
              <a:rPr lang="en-US" b="1" dirty="0" smtClean="0">
                <a:solidFill>
                  <a:schemeClr val="accent3">
                    <a:lumMod val="40000"/>
                    <a:lumOff val="60000"/>
                  </a:schemeClr>
                </a:solidFill>
              </a:rPr>
              <a:t> </a:t>
            </a:r>
            <a:r>
              <a:rPr lang="en-US" b="1" dirty="0" err="1" smtClean="0">
                <a:solidFill>
                  <a:schemeClr val="accent3">
                    <a:lumMod val="40000"/>
                    <a:lumOff val="60000"/>
                  </a:schemeClr>
                </a:solidFill>
              </a:rPr>
              <a:t>Khder</a:t>
            </a:r>
            <a:endParaRPr lang="ar-EG" b="1" dirty="0">
              <a:solidFill>
                <a:schemeClr val="accent3">
                  <a:lumMod val="40000"/>
                  <a:lumOff val="60000"/>
                </a:schemeClr>
              </a:solidFill>
            </a:endParaRPr>
          </a:p>
        </p:txBody>
      </p:sp>
    </p:spTree>
    <p:extLst>
      <p:ext uri="{BB962C8B-B14F-4D97-AF65-F5344CB8AC3E}">
        <p14:creationId xmlns:p14="http://schemas.microsoft.com/office/powerpoint/2010/main" val="227708004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9407</TotalTime>
  <Words>1988</Words>
  <Application>Microsoft Office PowerPoint</Application>
  <PresentationFormat>Widescreen</PresentationFormat>
  <Paragraphs>336</Paragraphs>
  <Slides>81</Slides>
  <Notes>3</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81</vt:i4>
      </vt:variant>
    </vt:vector>
  </HeadingPairs>
  <TitlesOfParts>
    <vt:vector size="88" baseType="lpstr">
      <vt:lpstr>Arial</vt:lpstr>
      <vt:lpstr>Calibri</vt:lpstr>
      <vt:lpstr>Century Gothic</vt:lpstr>
      <vt:lpstr>Courier New</vt:lpstr>
      <vt:lpstr>Wingdings 3</vt:lpstr>
      <vt:lpstr>Ion</vt:lpstr>
      <vt:lpstr>Packager Shell Object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Eslam.khder</dc:creator>
  <cp:lastModifiedBy>Eslam.khder</cp:lastModifiedBy>
  <cp:revision>170</cp:revision>
  <dcterms:created xsi:type="dcterms:W3CDTF">2024-07-26T08:21:10Z</dcterms:created>
  <dcterms:modified xsi:type="dcterms:W3CDTF">2024-11-08T16:23:33Z</dcterms:modified>
</cp:coreProperties>
</file>